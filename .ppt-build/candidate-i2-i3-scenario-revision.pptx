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80" r:id="rId25"/>
    <p:sldId id="381" r:id="rId26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Slide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Slide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Slide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yamnet/yamnet_realworld_eval.ipynb 저장 실행 결과 셀 16, 24, 47. 기존 macro F1 0.510, 자체평가 0.699, 음원 단위 교차검증 0.610. Precision 및 Recall은 셀 24의 교차검증 값. 음원 하나를 통째로 제외하고 나머지로 설정을 선택한 뒤 제외한 음원을 평가. 자체평가 점수는 선택 데이터 재사용으로 낙관적이므로 주지표에 사용하지 않음. 비명·고함은 예측 양성 0건으로 노트북의 zero-division 처리에 따라 Precision 0 표시. 동일 날·장소·마이크의 개발 표본이며 장시간 배경 소음과 운영 성능은 검증 안 됨. 규칙 및 임계값의 운영 반영을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Tapo C225 V2 공식 사양: https://www.tapo.com/us/product/tapo-c225-security-camera/v2/1-pack/specs/ . eufy E220 공식 제품 페이지: https://www.eufy.com/products/t8410121 . 자연어로 과거 이벤트를 질의하는 기능과 하루 자연어 브리핑은 두 공식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src/mcp/tools/camera.tools.js. HOME-TALK은 개발 프로토타입이며 상용 제품과 감지 성능을 직접 비교한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사고 확정이나 고정 알림 지연시간을 보장하지 않음. 첫 번째 시나리오는 거실 모드에서 낙상 감지 또는 낙상 의심 이벤트가 생성되고 알림을 받은 뒤 이벤트 영상과 현재 화면을 확인하는 흐름. 두 번째 시나리오는 아이 울음소리 이벤트 알림 뒤 저장된 이벤트와 현재 화면을 확인하는 흐름. AI 대화 화면 영역은 발표자가 실제 앱 캡처로 교체. 시연 전 로그인, 네트워크, 장치 하트비트, 브라우저 알림 허용, 카메라 연결과 모드 반영을 확인.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I5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7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4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YAMNet 실환경 정확성 평가</a:t>
            </a:r>
          </a:p>
        </p:txBody>
      </p:sp>
      <p:sp>
        <p:nvSpPr>
          <p:cNvPr id="6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9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0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20CF0-7E6E-4BC3-8DCC-6FF3834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Pi 마이크 24클립 · 6개 소리 분류 · ESC-50 2,000클립으로 오경보 점검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C172F-3299-4434-9C38-F0894F3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D7C74"/>
                </a:solidFill>
              </a:defRPr>
            </a:defPPr>
            <a:lvl1pPr>
              <a:defRPr sz="4200" b="1">
                <a:solidFill>
                  <a:srgbClr val="1D7C74"/>
                </a:solidFill>
              </a:defRPr>
            </a:lvl1pPr>
            <a:lvl2pPr>
              <a:defRPr sz="4200" b="1">
                <a:solidFill>
                  <a:srgbClr val="1D7C74"/>
                </a:solidFill>
              </a:defRPr>
            </a:lvl2pPr>
            <a:lvl3pPr>
              <a:defRPr sz="4200" b="1">
                <a:solidFill>
                  <a:srgbClr val="1D7C74"/>
                </a:solidFill>
              </a:defRPr>
            </a:lvl3pPr>
            <a:lvl4pPr>
              <a:defRPr sz="4200" b="1">
                <a:solidFill>
                  <a:srgbClr val="1D7C74"/>
                </a:solidFill>
              </a:defRPr>
            </a:lvl4pPr>
            <a:lvl5pPr>
              <a:defRPr sz="4200" b="1">
                <a:solidFill>
                  <a:srgbClr val="1D7C74"/>
                </a:solidFill>
              </a:defRPr>
            </a:lvl5pPr>
            <a:lvl6pPr>
              <a:defRPr sz="4200" b="1">
                <a:solidFill>
                  <a:srgbClr val="1D7C74"/>
                </a:solidFill>
              </a:defRPr>
            </a:lvl6pPr>
            <a:lvl7pPr>
              <a:defRPr sz="4200" b="1">
                <a:solidFill>
                  <a:srgbClr val="1D7C74"/>
                </a:solidFill>
              </a:defRPr>
            </a:lvl7pPr>
            <a:lvl8pPr>
              <a:defRPr sz="4200" b="1">
                <a:solidFill>
                  <a:srgbClr val="1D7C74"/>
                </a:solidFill>
              </a:defRPr>
            </a:lvl8pPr>
            <a:lvl9pPr>
              <a:defRPr sz="42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7C74"/>
                </a:solidFill>
              </a:defRPr>
            </a:pPr>
            <a:r>
              <a:rPr sz="4200" b="1">
                <a:solidFill>
                  <a:srgbClr val="1D7C74"/>
                </a:solidFill>
              </a:rPr>
              <a:t>평균 F1   0.510  →  0.610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7A133-CBF3-4D31-BD38-FB0E5C8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33A"/>
                </a:solidFill>
              </a:defRPr>
            </a:defPPr>
            <a:lvl1pPr>
              <a:defRPr sz="2100" b="0">
                <a:solidFill>
                  <a:srgbClr val="13233A"/>
                </a:solidFill>
              </a:defRPr>
            </a:lvl1pPr>
            <a:lvl2pPr>
              <a:defRPr sz="2100" b="0">
                <a:solidFill>
                  <a:srgbClr val="13233A"/>
                </a:solidFill>
              </a:defRPr>
            </a:lvl2pPr>
            <a:lvl3pPr>
              <a:defRPr sz="2100" b="0">
                <a:solidFill>
                  <a:srgbClr val="13233A"/>
                </a:solidFill>
              </a:defRPr>
            </a:lvl3pPr>
            <a:lvl4pPr>
              <a:defRPr sz="2100" b="0">
                <a:solidFill>
                  <a:srgbClr val="13233A"/>
                </a:solidFill>
              </a:defRPr>
            </a:lvl4pPr>
            <a:lvl5pPr>
              <a:defRPr sz="2100" b="0">
                <a:solidFill>
                  <a:srgbClr val="13233A"/>
                </a:solidFill>
              </a:defRPr>
            </a:lvl5pPr>
            <a:lvl6pPr>
              <a:defRPr sz="2100" b="0">
                <a:solidFill>
                  <a:srgbClr val="13233A"/>
                </a:solidFill>
              </a:defRPr>
            </a:lvl6pPr>
            <a:lvl7pPr>
              <a:defRPr sz="2100" b="0">
                <a:solidFill>
                  <a:srgbClr val="13233A"/>
                </a:solidFill>
              </a:defRPr>
            </a:lvl7pPr>
            <a:lvl8pPr>
              <a:defRPr sz="2100" b="0">
                <a:solidFill>
                  <a:srgbClr val="13233A"/>
                </a:solidFill>
              </a:defRPr>
            </a:lvl8pPr>
            <a:lvl9pPr>
              <a:defRPr sz="21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33A"/>
                </a:solidFill>
              </a:defRPr>
            </a:pPr>
            <a:r>
              <a:rPr sz="2100" b="0">
                <a:solidFill>
                  <a:srgbClr val="13233A"/>
                </a:solidFill>
              </a:rPr>
              <a:t>기존 설정과 음원 단위 교차검증 비교 · Precision·Recall은 교차검증 기준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09497-2F2C-428F-8D04-02D58D4650CA}"/>
              </a:ext>
            </a:extLst>
          </p:cNvPr>
          <p:cNvGraphicFramePr/>
          <p:nvPr/>
        </p:nvGraphicFramePr>
        <p:xfrm>
          <a:off xmlns:a="http://schemas.openxmlformats.org/drawingml/2006/main" x="3790950" y="5000625"/>
          <a:ext xmlns:a="http://schemas.openxmlformats.org/drawingml/2006/main" cx="1390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190750"/>
                <a:gridCol w="2476500"/>
                <a:gridCol w="2667000"/>
              </a:tblGrid>
              <a:tr h="530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소리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경보음·사이렌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유리 파손·충격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아기 울음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비명·고함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초인종·노크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반려동물 소리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0.909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64B19-EEEE-4B63-914D-0318B05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89154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Precision(정밀도): 감지한 것 중 정답 비율   Recall(재현율): 실제 소리 중 감지한 비율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640D9-6C78-4CAA-A35F-6A72645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107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F1: 정밀도·재현율의 조화평균(0~1)   한계: 동일 세션 24클립, 새 음원·날짜로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-header">
            <a:extLst xmlns:a="http://schemas.openxmlformats.org/drawingml/2006/main">
              <a:ext uri="{FF2B5EF4-FFF2-40B4-BE49-F238E27FC236}">
                <a16:creationId xmlns:a16="http://schemas.microsoft.com/office/drawing/2014/main" id="{00BE6B47-DA8B-4400-9C2F-7A0CF8B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A21CE-F5C6-4156-84BC-F4C0D03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87D7CE"/>
                </a:solidFill>
              </a:defRPr>
            </a:defPPr>
            <a:lvl1pPr algn="l">
              <a:defRPr sz="1650" b="1">
                <a:solidFill>
                  <a:srgbClr val="87D7CE"/>
                </a:solidFill>
              </a:defRPr>
            </a:lvl1pPr>
            <a:lvl2pPr algn="l">
              <a:defRPr sz="1650" b="1">
                <a:solidFill>
                  <a:srgbClr val="87D7CE"/>
                </a:solidFill>
              </a:defRPr>
            </a:lvl2pPr>
            <a:lvl3pPr algn="l">
              <a:defRPr sz="1650" b="1">
                <a:solidFill>
                  <a:srgbClr val="87D7CE"/>
                </a:solidFill>
              </a:defRPr>
            </a:lvl3pPr>
            <a:lvl4pPr algn="l">
              <a:defRPr sz="1650" b="1">
                <a:solidFill>
                  <a:srgbClr val="87D7CE"/>
                </a:solidFill>
              </a:defRPr>
            </a:lvl4pPr>
            <a:lvl5pPr algn="l">
              <a:defRPr sz="1650" b="1">
                <a:solidFill>
                  <a:srgbClr val="87D7CE"/>
                </a:solidFill>
              </a:defRPr>
            </a:lvl5pPr>
            <a:lvl6pPr algn="l">
              <a:defRPr sz="1650" b="1">
                <a:solidFill>
                  <a:srgbClr val="87D7CE"/>
                </a:solidFill>
              </a:defRPr>
            </a:lvl6pPr>
            <a:lvl7pPr algn="l">
              <a:defRPr sz="1650" b="1">
                <a:solidFill>
                  <a:srgbClr val="87D7CE"/>
                </a:solidFill>
              </a:defRPr>
            </a:lvl7pPr>
            <a:lvl8pPr algn="l">
              <a:defRPr sz="1650" b="1">
                <a:solidFill>
                  <a:srgbClr val="87D7CE"/>
                </a:solidFill>
              </a:defRPr>
            </a:lvl8pPr>
            <a:lvl9pPr algn="l">
              <a:defRPr sz="1650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7D7CE"/>
                </a:solidFill>
              </a:defRPr>
            </a:pPr>
            <a:r>
              <a:rPr sz="1650" b="1">
                <a:solidFill>
                  <a:srgbClr val="87D7CE"/>
                </a:solidFill>
              </a:rPr>
              <a:t>I2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DB54A5D-F98E-4778-AF15-81147E2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01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353BD-66F5-4F80-92F2-F7BAB1B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647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시중 홈캠과 HOME-TALK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A4132-780D-42A3-8DAC-3A06D6B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1647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5DDF1"/>
                </a:solidFill>
              </a:defRPr>
            </a:defPPr>
            <a:lvl1pPr algn="l">
              <a:defRPr sz="1875" b="0">
                <a:solidFill>
                  <a:srgbClr val="D5DDF1"/>
                </a:solidFill>
              </a:defRPr>
            </a:lvl1pPr>
            <a:lvl2pPr algn="l">
              <a:defRPr sz="1875" b="0">
                <a:solidFill>
                  <a:srgbClr val="D5DDF1"/>
                </a:solidFill>
              </a:defRPr>
            </a:lvl2pPr>
            <a:lvl3pPr algn="l">
              <a:defRPr sz="1875" b="0">
                <a:solidFill>
                  <a:srgbClr val="D5DDF1"/>
                </a:solidFill>
              </a:defRPr>
            </a:lvl3pPr>
            <a:lvl4pPr algn="l">
              <a:defRPr sz="1875" b="0">
                <a:solidFill>
                  <a:srgbClr val="D5DDF1"/>
                </a:solidFill>
              </a:defRPr>
            </a:lvl4pPr>
            <a:lvl5pPr algn="l">
              <a:defRPr sz="1875" b="0">
                <a:solidFill>
                  <a:srgbClr val="D5DDF1"/>
                </a:solidFill>
              </a:defRPr>
            </a:lvl5pPr>
            <a:lvl6pPr algn="l">
              <a:defRPr sz="1875" b="0">
                <a:solidFill>
                  <a:srgbClr val="D5DDF1"/>
                </a:solidFill>
              </a:defRPr>
            </a:lvl6pPr>
            <a:lvl7pPr algn="l">
              <a:defRPr sz="1875" b="0">
                <a:solidFill>
                  <a:srgbClr val="D5DDF1"/>
                </a:solidFill>
              </a:defRPr>
            </a:lvl7pPr>
            <a:lvl8pPr algn="l">
              <a:defRPr sz="1875" b="0">
                <a:solidFill>
                  <a:srgbClr val="D5DDF1"/>
                </a:solidFill>
              </a:defRPr>
            </a:lvl8pPr>
            <a:lvl9pPr algn="l">
              <a:defRPr sz="1875" b="0">
                <a:solidFill>
                  <a:srgbClr val="D5DDF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5DDF1"/>
                </a:solidFill>
              </a:defRPr>
            </a:pPr>
            <a:r>
              <a:rPr sz="1875" b="0">
                <a:solidFill>
                  <a:srgbClr val="D5DDF1"/>
                </a:solidFill>
              </a:rPr>
              <a:t>감지 이후의 기록 조회와 설명까지 보호자 경험으로 연결</a:t>
            </a:r>
          </a:p>
        </p:txBody>
      </p:sp>
      <p:sp>
        <p:nvSpPr>
          <p:cNvPr id="7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D4B0763-C186-4B28-A854-181A8339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8356E-7E73-410E-A79D-77D66E6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F375-0FCD-40EE-B66E-4041EF1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09F64-D3ED-4766-BEAB-F36F2FD4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4A0CE-A3D0-4A47-A5A6-C1F6632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8C37E-C88F-48DE-98FB-4BC8A10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8610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3DDAB-A191-476E-B664-4C88A5E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Tapo C225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A8D16-9525-4D73-8981-215607A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9480B-D138-4A34-9DD5-831C8ED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57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eufy E220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FBA6-1CFC-4E41-B51F-9FE97F0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0861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0C8F8-C66B-47CA-8DA2-FEF74C3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257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HOME-TALK 개발 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D6438-5BE6-4B6E-96C8-BB49F918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8CC42-F816-48F1-B3A8-3749FF4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감지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ADEDB-1C78-4B32-95C6-FF38592E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526B9-40B8-400D-BF1C-BA1BB8BB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사람·차량·반려동물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울음·짖음·유리 파손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FAB4D-809F-4B78-BB44-5569985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71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3C418-510D-433A-AD5A-4D88B145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소리·울음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BE19C-FD92-4BE8-8CB4-9944B7D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771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0FE3D-1049-45DC-8D72-DFB9811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81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방문·택배·낙상/의심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생활·위험 소리 6종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738E0-F6B3-4437-B26B-0A4213F1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17867-5562-4519-BB0C-98CEBBF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24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기록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80A02-4E5D-4B58-89FC-B493E322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40A1F-FD68-4B0D-80FB-B2B450BF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24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D87E8-163D-4A29-860D-8A8046FA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14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7BD17-A1AE-4759-A296-86E96B0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24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316AF-38AA-41A8-A92F-B9D7644A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914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8D3C88-BE16-4A47-A9A8-997F60CC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124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위험 등급별 알림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이벤트와 첨부 기록 조회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0242A0-6FB3-4FB5-9041-562AC3B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13B1C-A8A7-4480-B3C3-B9B39169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67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자연어 질문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849BC9-A1B3-4D6C-B147-B9798AE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57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0DDCD-92F7-4931-A2C1-6B9372F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267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594D7-ABFD-4E6A-B971-7D8B67D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57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5B2610-36DC-44C4-9CC5-ACA8543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67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5982FE-59DD-48BA-8965-C453EEB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057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261DAD-A717-4372-B31B-57CB9611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267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“오늘 방문 기록 알려줘”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질문에 맞는 기록 검색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C8D7E1-95D8-4B7E-BE70-6BA1CA4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00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30CCF0-528C-446E-81BF-58F73FB7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410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하루 브리핑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6EC7BB-EA22-4258-BACB-69AF6E37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00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CDCFEC-DA08-4A6E-92CE-206D894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410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36FDCF-2B88-49FA-8A5A-014B056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00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472956-705C-4D8D-A6AF-6353236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410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714BB1-F729-4C87-97FE-1AD459F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200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BEE10C-9621-4F1D-BA91-944614AD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410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하루 이벤트를 자연어로 요약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앱에서 바로 확인</a:t>
            </a:r>
          </a:p>
        </p:txBody>
      </p:sp>
      <p:sp>
        <p:nvSpPr>
          <p:cNvPr id="50" name="key-difference">
            <a:extLst xmlns:a="http://schemas.openxmlformats.org/drawingml/2006/main">
              <a:ext uri="{FF2B5EF4-FFF2-40B4-BE49-F238E27FC236}">
                <a16:creationId xmlns:a16="http://schemas.microsoft.com/office/drawing/2014/main" id="{4714D029-FE20-4043-BE66-37ADC72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63000"/>
            <a:ext cx="1809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C30463-88CF-4C9F-90D5-C45AA13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3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87D7CE"/>
                </a:solidFill>
              </a:defRPr>
            </a:defPPr>
            <a:lvl1pPr algn="l">
              <a:defRPr sz="1875" b="1">
                <a:solidFill>
                  <a:srgbClr val="87D7CE"/>
                </a:solidFill>
              </a:defRPr>
            </a:lvl1pPr>
            <a:lvl2pPr algn="l">
              <a:defRPr sz="1875" b="1">
                <a:solidFill>
                  <a:srgbClr val="87D7CE"/>
                </a:solidFill>
              </a:defRPr>
            </a:lvl2pPr>
            <a:lvl3pPr algn="l">
              <a:defRPr sz="1875" b="1">
                <a:solidFill>
                  <a:srgbClr val="87D7CE"/>
                </a:solidFill>
              </a:defRPr>
            </a:lvl3pPr>
            <a:lvl4pPr algn="l">
              <a:defRPr sz="1875" b="1">
                <a:solidFill>
                  <a:srgbClr val="87D7CE"/>
                </a:solidFill>
              </a:defRPr>
            </a:lvl4pPr>
            <a:lvl5pPr algn="l">
              <a:defRPr sz="1875" b="1">
                <a:solidFill>
                  <a:srgbClr val="87D7CE"/>
                </a:solidFill>
              </a:defRPr>
            </a:lvl5pPr>
            <a:lvl6pPr algn="l">
              <a:defRPr sz="1875" b="1">
                <a:solidFill>
                  <a:srgbClr val="87D7CE"/>
                </a:solidFill>
              </a:defRPr>
            </a:lvl6pPr>
            <a:lvl7pPr algn="l">
              <a:defRPr sz="1875" b="1">
                <a:solidFill>
                  <a:srgbClr val="87D7CE"/>
                </a:solidFill>
              </a:defRPr>
            </a:lvl7pPr>
            <a:lvl8pPr algn="l">
              <a:defRPr sz="1875" b="1">
                <a:solidFill>
                  <a:srgbClr val="87D7CE"/>
                </a:solidFill>
              </a:defRPr>
            </a:lvl8pPr>
            <a:lvl9pPr algn="l">
              <a:defRPr sz="187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7D7CE"/>
                </a:solidFill>
              </a:defRPr>
            </a:pPr>
            <a:r>
              <a:rPr sz="1875" b="1">
                <a:solidFill>
                  <a:srgbClr val="87D7CE"/>
                </a:solidFill>
              </a:rPr>
              <a:t>HOME-TALK의 차별점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A0204F-E3BF-4D22-8AB4-F30EA41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77300"/>
            <a:ext cx="1409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감지 결과를 나열하는 데서 끝나지 않고, 보호자의 질문을 기록 조회와 하루 브리핑으로 연결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C0A8C8-41E9-4621-B491-1194105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858375"/>
            <a:ext cx="152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  <a:lvl1pPr algn="l">
              <a:defRPr sz="1350" b="0">
                <a:solidFill>
                  <a:srgbClr val="667085"/>
                </a:solidFill>
              </a:defRPr>
            </a:lvl1pPr>
            <a:lvl2pPr algn="l">
              <a:defRPr sz="1350" b="0">
                <a:solidFill>
                  <a:srgbClr val="667085"/>
                </a:solidFill>
              </a:defRPr>
            </a:lvl2pPr>
            <a:lvl3pPr algn="l">
              <a:defRPr sz="1350" b="0">
                <a:solidFill>
                  <a:srgbClr val="667085"/>
                </a:solidFill>
              </a:defRPr>
            </a:lvl3pPr>
            <a:lvl4pPr algn="l">
              <a:defRPr sz="1350" b="0">
                <a:solidFill>
                  <a:srgbClr val="667085"/>
                </a:solidFill>
              </a:defRPr>
            </a:lvl4pPr>
            <a:lvl5pPr algn="l">
              <a:defRPr sz="1350" b="0">
                <a:solidFill>
                  <a:srgbClr val="667085"/>
                </a:solidFill>
              </a:defRPr>
            </a:lvl5pPr>
            <a:lvl6pPr algn="l">
              <a:defRPr sz="1350" b="0">
                <a:solidFill>
                  <a:srgbClr val="667085"/>
                </a:solidFill>
              </a:defRPr>
            </a:lvl6pPr>
            <a:lvl7pPr algn="l">
              <a:defRPr sz="1350" b="0">
                <a:solidFill>
                  <a:srgbClr val="667085"/>
                </a:solidFill>
              </a:defRPr>
            </a:lvl7pPr>
            <a:lvl8pPr algn="l">
              <a:defRPr sz="1350" b="0">
                <a:solidFill>
                  <a:srgbClr val="667085"/>
                </a:solidFill>
              </a:defRPr>
            </a:lvl8pPr>
            <a:lvl9pPr algn="l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공식 제품 자료 기준(2026.10.26) · 미기재는 미지원 단정이 아님 ·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-header">
            <a:extLst xmlns:a="http://schemas.openxmlformats.org/drawingml/2006/main">
              <a:ext uri="{FF2B5EF4-FFF2-40B4-BE49-F238E27FC236}">
                <a16:creationId xmlns:a16="http://schemas.microsoft.com/office/drawing/2014/main" id="{025CE902-D57B-4395-A4AF-1D7972D0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64582-4952-44DF-A3CF-606C2BE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87D7CE"/>
                </a:solidFill>
              </a:defRPr>
            </a:defPPr>
            <a:lvl1pPr algn="l">
              <a:defRPr sz="1650" b="1">
                <a:solidFill>
                  <a:srgbClr val="87D7CE"/>
                </a:solidFill>
              </a:defRPr>
            </a:lvl1pPr>
            <a:lvl2pPr algn="l">
              <a:defRPr sz="1650" b="1">
                <a:solidFill>
                  <a:srgbClr val="87D7CE"/>
                </a:solidFill>
              </a:defRPr>
            </a:lvl2pPr>
            <a:lvl3pPr algn="l">
              <a:defRPr sz="1650" b="1">
                <a:solidFill>
                  <a:srgbClr val="87D7CE"/>
                </a:solidFill>
              </a:defRPr>
            </a:lvl3pPr>
            <a:lvl4pPr algn="l">
              <a:defRPr sz="1650" b="1">
                <a:solidFill>
                  <a:srgbClr val="87D7CE"/>
                </a:solidFill>
              </a:defRPr>
            </a:lvl4pPr>
            <a:lvl5pPr algn="l">
              <a:defRPr sz="1650" b="1">
                <a:solidFill>
                  <a:srgbClr val="87D7CE"/>
                </a:solidFill>
              </a:defRPr>
            </a:lvl5pPr>
            <a:lvl6pPr algn="l">
              <a:defRPr sz="1650" b="1">
                <a:solidFill>
                  <a:srgbClr val="87D7CE"/>
                </a:solidFill>
              </a:defRPr>
            </a:lvl6pPr>
            <a:lvl7pPr algn="l">
              <a:defRPr sz="1650" b="1">
                <a:solidFill>
                  <a:srgbClr val="87D7CE"/>
                </a:solidFill>
              </a:defRPr>
            </a:lvl7pPr>
            <a:lvl8pPr algn="l">
              <a:defRPr sz="1650" b="1">
                <a:solidFill>
                  <a:srgbClr val="87D7CE"/>
                </a:solidFill>
              </a:defRPr>
            </a:lvl8pPr>
            <a:lvl9pPr algn="l">
              <a:defRPr sz="1650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7D7CE"/>
                </a:solidFill>
              </a:defRPr>
            </a:pPr>
            <a:r>
              <a:rPr sz="1650" b="1">
                <a:solidFill>
                  <a:srgbClr val="87D7CE"/>
                </a:solidFill>
              </a:rPr>
              <a:t>I3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9848765-8005-418B-94B0-3A3386F8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01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53DB8-0EA7-42CE-B70C-6188854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647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생활 속 시연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86A71-EB98-41FF-8D22-4C5068F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1647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5DDF1"/>
                </a:solidFill>
              </a:defRPr>
            </a:defPPr>
            <a:lvl1pPr algn="l">
              <a:defRPr sz="1875" b="0">
                <a:solidFill>
                  <a:srgbClr val="D5DDF1"/>
                </a:solidFill>
              </a:defRPr>
            </a:lvl1pPr>
            <a:lvl2pPr algn="l">
              <a:defRPr sz="1875" b="0">
                <a:solidFill>
                  <a:srgbClr val="D5DDF1"/>
                </a:solidFill>
              </a:defRPr>
            </a:lvl2pPr>
            <a:lvl3pPr algn="l">
              <a:defRPr sz="1875" b="0">
                <a:solidFill>
                  <a:srgbClr val="D5DDF1"/>
                </a:solidFill>
              </a:defRPr>
            </a:lvl3pPr>
            <a:lvl4pPr algn="l">
              <a:defRPr sz="1875" b="0">
                <a:solidFill>
                  <a:srgbClr val="D5DDF1"/>
                </a:solidFill>
              </a:defRPr>
            </a:lvl4pPr>
            <a:lvl5pPr algn="l">
              <a:defRPr sz="1875" b="0">
                <a:solidFill>
                  <a:srgbClr val="D5DDF1"/>
                </a:solidFill>
              </a:defRPr>
            </a:lvl5pPr>
            <a:lvl6pPr algn="l">
              <a:defRPr sz="1875" b="0">
                <a:solidFill>
                  <a:srgbClr val="D5DDF1"/>
                </a:solidFill>
              </a:defRPr>
            </a:lvl6pPr>
            <a:lvl7pPr algn="l">
              <a:defRPr sz="1875" b="0">
                <a:solidFill>
                  <a:srgbClr val="D5DDF1"/>
                </a:solidFill>
              </a:defRPr>
            </a:lvl7pPr>
            <a:lvl8pPr algn="l">
              <a:defRPr sz="1875" b="0">
                <a:solidFill>
                  <a:srgbClr val="D5DDF1"/>
                </a:solidFill>
              </a:defRPr>
            </a:lvl8pPr>
            <a:lvl9pPr algn="l">
              <a:defRPr sz="1875" b="0">
                <a:solidFill>
                  <a:srgbClr val="D5DDF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5DDF1"/>
                </a:solidFill>
              </a:defRPr>
            </a:pPr>
            <a:r>
              <a:rPr sz="1875" b="0">
                <a:solidFill>
                  <a:srgbClr val="D5DDF1"/>
                </a:solidFill>
              </a:rPr>
              <a:t>이상 상황을 알림으로 받고, 영상과 AI 대화로 집 안의 상태를 확인</a:t>
            </a:r>
          </a:p>
        </p:txBody>
      </p:sp>
      <p:sp>
        <p:nvSpPr>
          <p:cNvPr id="7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B2A7213-9293-41DD-81F9-172FAE2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7FDDC-38D3-48E0-8980-29ABC5F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21016-CF43-410B-B0BC-8E04C9F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10" name="scenario-01-accent">
            <a:extLst xmlns:a="http://schemas.openxmlformats.org/drawingml/2006/main">
              <a:ext uri="{FF2B5EF4-FFF2-40B4-BE49-F238E27FC236}">
                <a16:creationId xmlns:a16="http://schemas.microsoft.com/office/drawing/2014/main" id="{0BAC8451-77A3-4BE9-AB89-B619E27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01">
            <a:extLst xmlns:a="http://schemas.openxmlformats.org/drawingml/2006/main">
              <a:ext uri="{FF2B5EF4-FFF2-40B4-BE49-F238E27FC236}">
                <a16:creationId xmlns:a16="http://schemas.microsoft.com/office/drawing/2014/main" id="{605BFD19-FB62-47BF-A9BF-A8B61C9E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1001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A6931-128D-42D4-BE90-C4631F85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099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C94B35"/>
                </a:solidFill>
              </a:defRPr>
            </a:defPPr>
            <a:lvl1pPr algn="l">
              <a:defRPr sz="1650" b="1">
                <a:solidFill>
                  <a:srgbClr val="C94B35"/>
                </a:solidFill>
              </a:defRPr>
            </a:lvl1pPr>
            <a:lvl2pPr algn="l">
              <a:defRPr sz="1650" b="1">
                <a:solidFill>
                  <a:srgbClr val="C94B35"/>
                </a:solidFill>
              </a:defRPr>
            </a:lvl2pPr>
            <a:lvl3pPr algn="l">
              <a:defRPr sz="1650" b="1">
                <a:solidFill>
                  <a:srgbClr val="C94B35"/>
                </a:solidFill>
              </a:defRPr>
            </a:lvl3pPr>
            <a:lvl4pPr algn="l">
              <a:defRPr sz="1650" b="1">
                <a:solidFill>
                  <a:srgbClr val="C94B35"/>
                </a:solidFill>
              </a:defRPr>
            </a:lvl4pPr>
            <a:lvl5pPr algn="l">
              <a:defRPr sz="1650" b="1">
                <a:solidFill>
                  <a:srgbClr val="C94B35"/>
                </a:solidFill>
              </a:defRPr>
            </a:lvl5pPr>
            <a:lvl6pPr algn="l">
              <a:defRPr sz="1650" b="1">
                <a:solidFill>
                  <a:srgbClr val="C94B35"/>
                </a:solidFill>
              </a:defRPr>
            </a:lvl6pPr>
            <a:lvl7pPr algn="l">
              <a:defRPr sz="1650" b="1">
                <a:solidFill>
                  <a:srgbClr val="C94B35"/>
                </a:solidFill>
              </a:defRPr>
            </a:lvl7pPr>
            <a:lvl8pPr algn="l">
              <a:defRPr sz="1650" b="1">
                <a:solidFill>
                  <a:srgbClr val="C94B35"/>
                </a:solidFill>
              </a:defRPr>
            </a:lvl8pPr>
            <a:lvl9pPr algn="l">
              <a:defRPr sz="1650" b="1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94B35"/>
                </a:solidFill>
              </a:defRPr>
            </a:pPr>
            <a:r>
              <a:rPr sz="1650" b="1">
                <a:solidFill>
                  <a:srgbClr val="C94B3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169EE-B7C1-4EC0-AE18-60DE4B4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337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72653"/>
                </a:solidFill>
              </a:defRPr>
            </a:defPPr>
            <a:lvl1pPr algn="l">
              <a:defRPr sz="2325" b="1">
                <a:solidFill>
                  <a:srgbClr val="172653"/>
                </a:solidFill>
              </a:defRPr>
            </a:lvl1pPr>
            <a:lvl2pPr algn="l">
              <a:defRPr sz="2325" b="1">
                <a:solidFill>
                  <a:srgbClr val="172653"/>
                </a:solidFill>
              </a:defRPr>
            </a:lvl2pPr>
            <a:lvl3pPr algn="l">
              <a:defRPr sz="2325" b="1">
                <a:solidFill>
                  <a:srgbClr val="172653"/>
                </a:solidFill>
              </a:defRPr>
            </a:lvl3pPr>
            <a:lvl4pPr algn="l">
              <a:defRPr sz="2325" b="1">
                <a:solidFill>
                  <a:srgbClr val="172653"/>
                </a:solidFill>
              </a:defRPr>
            </a:lvl4pPr>
            <a:lvl5pPr algn="l">
              <a:defRPr sz="2325" b="1">
                <a:solidFill>
                  <a:srgbClr val="172653"/>
                </a:solidFill>
              </a:defRPr>
            </a:lvl5pPr>
            <a:lvl6pPr algn="l">
              <a:defRPr sz="2325" b="1">
                <a:solidFill>
                  <a:srgbClr val="172653"/>
                </a:solidFill>
              </a:defRPr>
            </a:lvl6pPr>
            <a:lvl7pPr algn="l">
              <a:defRPr sz="2325" b="1">
                <a:solidFill>
                  <a:srgbClr val="172653"/>
                </a:solidFill>
              </a:defRPr>
            </a:lvl7pPr>
            <a:lvl8pPr algn="l">
              <a:defRPr sz="2325" b="1">
                <a:solidFill>
                  <a:srgbClr val="172653"/>
                </a:solidFill>
              </a:defRPr>
            </a:lvl8pPr>
            <a:lvl9pPr algn="l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노부모 혼자 있는 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7BB20-F22C-4B25-94EE-D30F5DF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81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667085"/>
                </a:solidFill>
              </a:defRPr>
            </a:defPPr>
            <a:lvl1pPr algn="l">
              <a:defRPr sz="1500" b="1">
                <a:solidFill>
                  <a:srgbClr val="667085"/>
                </a:solidFill>
              </a:defRPr>
            </a:lvl1pPr>
            <a:lvl2pPr algn="l">
              <a:defRPr sz="1500" b="1">
                <a:solidFill>
                  <a:srgbClr val="667085"/>
                </a:solidFill>
              </a:defRPr>
            </a:lvl2pPr>
            <a:lvl3pPr algn="l">
              <a:defRPr sz="1500" b="1">
                <a:solidFill>
                  <a:srgbClr val="667085"/>
                </a:solidFill>
              </a:defRPr>
            </a:lvl3pPr>
            <a:lvl4pPr algn="l">
              <a:defRPr sz="1500" b="1">
                <a:solidFill>
                  <a:srgbClr val="667085"/>
                </a:solidFill>
              </a:defRPr>
            </a:lvl4pPr>
            <a:lvl5pPr algn="l">
              <a:defRPr sz="1500" b="1">
                <a:solidFill>
                  <a:srgbClr val="667085"/>
                </a:solidFill>
              </a:defRPr>
            </a:lvl5pPr>
            <a:lvl6pPr algn="l">
              <a:defRPr sz="1500" b="1">
                <a:solidFill>
                  <a:srgbClr val="667085"/>
                </a:solidFill>
              </a:defRPr>
            </a:lvl6pPr>
            <a:lvl7pPr algn="l">
              <a:defRPr sz="1500" b="1">
                <a:solidFill>
                  <a:srgbClr val="667085"/>
                </a:solidFill>
              </a:defRPr>
            </a:lvl7pPr>
            <a:lvl8pPr algn="l">
              <a:defRPr sz="1500" b="1">
                <a:solidFill>
                  <a:srgbClr val="667085"/>
                </a:solidFill>
              </a:defRPr>
            </a:lvl8pPr>
            <a:lvl9pPr algn="l">
              <a:defRPr sz="15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상황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645A2-DA96-4ED5-BE17-D8337E6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보호자가 외출한 동안 부모님이 집에 혼자 계신 상황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9FA40-4C92-44EC-8404-5DF2FF3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767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2F70A-4C70-4C81-A527-3687E81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648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C94B35"/>
                </a:solidFill>
              </a:defRPr>
            </a:defPPr>
            <a:lvl1pPr algn="l">
              <a:defRPr sz="1500" b="1">
                <a:solidFill>
                  <a:srgbClr val="C94B35"/>
                </a:solidFill>
              </a:defRPr>
            </a:lvl1pPr>
            <a:lvl2pPr algn="l">
              <a:defRPr sz="1500" b="1">
                <a:solidFill>
                  <a:srgbClr val="C94B35"/>
                </a:solidFill>
              </a:defRPr>
            </a:lvl2pPr>
            <a:lvl3pPr algn="l">
              <a:defRPr sz="1500" b="1">
                <a:solidFill>
                  <a:srgbClr val="C94B35"/>
                </a:solidFill>
              </a:defRPr>
            </a:lvl3pPr>
            <a:lvl4pPr algn="l">
              <a:defRPr sz="1500" b="1">
                <a:solidFill>
                  <a:srgbClr val="C94B35"/>
                </a:solidFill>
              </a:defRPr>
            </a:lvl4pPr>
            <a:lvl5pPr algn="l">
              <a:defRPr sz="1500" b="1">
                <a:solidFill>
                  <a:srgbClr val="C94B35"/>
                </a:solidFill>
              </a:defRPr>
            </a:lvl5pPr>
            <a:lvl6pPr algn="l">
              <a:defRPr sz="1500" b="1">
                <a:solidFill>
                  <a:srgbClr val="C94B35"/>
                </a:solidFill>
              </a:defRPr>
            </a:lvl6pPr>
            <a:lvl7pPr algn="l">
              <a:defRPr sz="1500" b="1">
                <a:solidFill>
                  <a:srgbClr val="C94B35"/>
                </a:solidFill>
              </a:defRPr>
            </a:lvl7pPr>
            <a:lvl8pPr algn="l">
              <a:defRPr sz="1500" b="1">
                <a:solidFill>
                  <a:srgbClr val="C94B35"/>
                </a:solidFill>
              </a:defRPr>
            </a:lvl8pPr>
            <a:lvl9pPr algn="l">
              <a:defRPr sz="1500" b="1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94B35"/>
                </a:solidFill>
              </a:defRPr>
            </a:pPr>
            <a:r>
              <a:rPr sz="1500" b="1">
                <a:solidFill>
                  <a:srgbClr val="C94B35"/>
                </a:solidFill>
              </a:rPr>
              <a:t>알림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2E843-445E-4E78-87C7-C2FC3B3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4324B"/>
                </a:solidFill>
              </a:defRPr>
            </a:defPPr>
            <a:lvl1pPr algn="l">
              <a:defRPr sz="1725" b="1">
                <a:solidFill>
                  <a:srgbClr val="24324B"/>
                </a:solidFill>
              </a:defRPr>
            </a:lvl1pPr>
            <a:lvl2pPr algn="l">
              <a:defRPr sz="1725" b="1">
                <a:solidFill>
                  <a:srgbClr val="24324B"/>
                </a:solidFill>
              </a:defRPr>
            </a:lvl2pPr>
            <a:lvl3pPr algn="l">
              <a:defRPr sz="1725" b="1">
                <a:solidFill>
                  <a:srgbClr val="24324B"/>
                </a:solidFill>
              </a:defRPr>
            </a:lvl3pPr>
            <a:lvl4pPr algn="l">
              <a:defRPr sz="1725" b="1">
                <a:solidFill>
                  <a:srgbClr val="24324B"/>
                </a:solidFill>
              </a:defRPr>
            </a:lvl4pPr>
            <a:lvl5pPr algn="l">
              <a:defRPr sz="1725" b="1">
                <a:solidFill>
                  <a:srgbClr val="24324B"/>
                </a:solidFill>
              </a:defRPr>
            </a:lvl5pPr>
            <a:lvl6pPr algn="l">
              <a:defRPr sz="1725" b="1">
                <a:solidFill>
                  <a:srgbClr val="24324B"/>
                </a:solidFill>
              </a:defRPr>
            </a:lvl6pPr>
            <a:lvl7pPr algn="l">
              <a:defRPr sz="1725" b="1">
                <a:solidFill>
                  <a:srgbClr val="24324B"/>
                </a:solidFill>
              </a:defRPr>
            </a:lvl7pPr>
            <a:lvl8pPr algn="l">
              <a:defRPr sz="1725" b="1">
                <a:solidFill>
                  <a:srgbClr val="24324B"/>
                </a:solidFill>
              </a:defRPr>
            </a:lvl8pPr>
            <a:lvl9pPr algn="l">
              <a:defRPr sz="172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24B"/>
                </a:solidFill>
              </a:defRPr>
            </a:pPr>
            <a:r>
              <a:rPr sz="1725" b="1">
                <a:solidFill>
                  <a:srgbClr val="24324B"/>
                </a:solidFill>
              </a:rPr>
              <a:t>낙상 이벤트 발생 시 휴대폰 알림 수신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D3947-E118-4B21-B203-BAE42F0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958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D6E66"/>
                </a:solidFill>
              </a:defRPr>
            </a:defPPr>
            <a:lvl1pPr algn="l">
              <a:defRPr sz="1500" b="1">
                <a:solidFill>
                  <a:srgbClr val="0D6E66"/>
                </a:solidFill>
              </a:defRPr>
            </a:lvl1pPr>
            <a:lvl2pPr algn="l">
              <a:defRPr sz="1500" b="1">
                <a:solidFill>
                  <a:srgbClr val="0D6E66"/>
                </a:solidFill>
              </a:defRPr>
            </a:lvl2pPr>
            <a:lvl3pPr algn="l">
              <a:defRPr sz="1500" b="1">
                <a:solidFill>
                  <a:srgbClr val="0D6E66"/>
                </a:solidFill>
              </a:defRPr>
            </a:lvl3pPr>
            <a:lvl4pPr algn="l">
              <a:defRPr sz="1500" b="1">
                <a:solidFill>
                  <a:srgbClr val="0D6E66"/>
                </a:solidFill>
              </a:defRPr>
            </a:lvl4pPr>
            <a:lvl5pPr algn="l">
              <a:defRPr sz="1500" b="1">
                <a:solidFill>
                  <a:srgbClr val="0D6E66"/>
                </a:solidFill>
              </a:defRPr>
            </a:lvl5pPr>
            <a:lvl6pPr algn="l">
              <a:defRPr sz="1500" b="1">
                <a:solidFill>
                  <a:srgbClr val="0D6E66"/>
                </a:solidFill>
              </a:defRPr>
            </a:lvl6pPr>
            <a:lvl7pPr algn="l">
              <a:defRPr sz="1500" b="1">
                <a:solidFill>
                  <a:srgbClr val="0D6E66"/>
                </a:solidFill>
              </a:defRPr>
            </a:lvl7pPr>
            <a:lvl8pPr algn="l">
              <a:defRPr sz="1500" b="1">
                <a:solidFill>
                  <a:srgbClr val="0D6E66"/>
                </a:solidFill>
              </a:defRPr>
            </a:lvl8pPr>
            <a:lvl9pPr algn="l">
              <a:defRPr sz="15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D6E66"/>
                </a:solidFill>
              </a:defRPr>
            </a:pPr>
            <a:r>
              <a:rPr sz="1500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CDDF5-8BAC-454C-8BF0-83AA20E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5777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이벤트 영상과 현재 화면을 확인하고 AI에 질문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085D8-07D9-4F5C-8503-6B68371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86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“방금 무슨 일이 있었어?”</a:t>
            </a:r>
          </a:p>
        </p:txBody>
      </p:sp>
      <p:sp>
        <p:nvSpPr>
          <p:cNvPr id="22" name="scenario-02-accent">
            <a:extLst xmlns:a="http://schemas.openxmlformats.org/drawingml/2006/main">
              <a:ext uri="{FF2B5EF4-FFF2-40B4-BE49-F238E27FC236}">
                <a16:creationId xmlns:a16="http://schemas.microsoft.com/office/drawing/2014/main" id="{1357CE24-4C39-495C-8F0C-127DDF7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293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02">
            <a:extLst xmlns:a="http://schemas.openxmlformats.org/drawingml/2006/main">
              <a:ext uri="{FF2B5EF4-FFF2-40B4-BE49-F238E27FC236}">
                <a16:creationId xmlns:a16="http://schemas.microsoft.com/office/drawing/2014/main" id="{C8C53057-51E8-4E66-B9C3-3673056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29350"/>
            <a:ext cx="11001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4E04B-8FC1-43AF-AE7F-5C805391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496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8FFB4-8CF8-4CD1-AF36-78313681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64198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72653"/>
                </a:solidFill>
              </a:defRPr>
            </a:defPPr>
            <a:lvl1pPr algn="l">
              <a:defRPr sz="2325" b="1">
                <a:solidFill>
                  <a:srgbClr val="172653"/>
                </a:solidFill>
              </a:defRPr>
            </a:lvl1pPr>
            <a:lvl2pPr algn="l">
              <a:defRPr sz="2325" b="1">
                <a:solidFill>
                  <a:srgbClr val="172653"/>
                </a:solidFill>
              </a:defRPr>
            </a:lvl2pPr>
            <a:lvl3pPr algn="l">
              <a:defRPr sz="2325" b="1">
                <a:solidFill>
                  <a:srgbClr val="172653"/>
                </a:solidFill>
              </a:defRPr>
            </a:lvl3pPr>
            <a:lvl4pPr algn="l">
              <a:defRPr sz="2325" b="1">
                <a:solidFill>
                  <a:srgbClr val="172653"/>
                </a:solidFill>
              </a:defRPr>
            </a:lvl4pPr>
            <a:lvl5pPr algn="l">
              <a:defRPr sz="2325" b="1">
                <a:solidFill>
                  <a:srgbClr val="172653"/>
                </a:solidFill>
              </a:defRPr>
            </a:lvl5pPr>
            <a:lvl6pPr algn="l">
              <a:defRPr sz="2325" b="1">
                <a:solidFill>
                  <a:srgbClr val="172653"/>
                </a:solidFill>
              </a:defRPr>
            </a:lvl6pPr>
            <a:lvl7pPr algn="l">
              <a:defRPr sz="2325" b="1">
                <a:solidFill>
                  <a:srgbClr val="172653"/>
                </a:solidFill>
              </a:defRPr>
            </a:lvl7pPr>
            <a:lvl8pPr algn="l">
              <a:defRPr sz="2325" b="1">
                <a:solidFill>
                  <a:srgbClr val="172653"/>
                </a:solidFill>
              </a:defRPr>
            </a:lvl8pPr>
            <a:lvl9pPr algn="l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베이비시터와 아이가 있는 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483D6-FE60-4AAE-B9F8-8FA0016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067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667085"/>
                </a:solidFill>
              </a:defRPr>
            </a:defPPr>
            <a:lvl1pPr algn="l">
              <a:defRPr sz="1500" b="1">
                <a:solidFill>
                  <a:srgbClr val="667085"/>
                </a:solidFill>
              </a:defRPr>
            </a:lvl1pPr>
            <a:lvl2pPr algn="l">
              <a:defRPr sz="1500" b="1">
                <a:solidFill>
                  <a:srgbClr val="667085"/>
                </a:solidFill>
              </a:defRPr>
            </a:lvl2pPr>
            <a:lvl3pPr algn="l">
              <a:defRPr sz="1500" b="1">
                <a:solidFill>
                  <a:srgbClr val="667085"/>
                </a:solidFill>
              </a:defRPr>
            </a:lvl3pPr>
            <a:lvl4pPr algn="l">
              <a:defRPr sz="1500" b="1">
                <a:solidFill>
                  <a:srgbClr val="667085"/>
                </a:solidFill>
              </a:defRPr>
            </a:lvl4pPr>
            <a:lvl5pPr algn="l">
              <a:defRPr sz="1500" b="1">
                <a:solidFill>
                  <a:srgbClr val="667085"/>
                </a:solidFill>
              </a:defRPr>
            </a:lvl5pPr>
            <a:lvl6pPr algn="l">
              <a:defRPr sz="1500" b="1">
                <a:solidFill>
                  <a:srgbClr val="667085"/>
                </a:solidFill>
              </a:defRPr>
            </a:lvl6pPr>
            <a:lvl7pPr algn="l">
              <a:defRPr sz="1500" b="1">
                <a:solidFill>
                  <a:srgbClr val="667085"/>
                </a:solidFill>
              </a:defRPr>
            </a:lvl7pPr>
            <a:lvl8pPr algn="l">
              <a:defRPr sz="1500" b="1">
                <a:solidFill>
                  <a:srgbClr val="667085"/>
                </a:solidFill>
              </a:defRPr>
            </a:lvl8pPr>
            <a:lvl9pPr algn="l">
              <a:defRPr sz="15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상황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2BD9B-1C53-461C-A761-7969E444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0294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맞벌이 부모가 외출하고 베이비시터가 아이를 돌보는 상황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68D34-532B-4839-B91D-3C692DA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5628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021B6-4912-4B5E-9E87-39937776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734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877D"/>
                </a:solidFill>
              </a:defRPr>
            </a:defPPr>
            <a:lvl1pPr algn="l">
              <a:defRPr sz="1500" b="1">
                <a:solidFill>
                  <a:srgbClr val="16877D"/>
                </a:solidFill>
              </a:defRPr>
            </a:lvl1pPr>
            <a:lvl2pPr algn="l">
              <a:defRPr sz="1500" b="1">
                <a:solidFill>
                  <a:srgbClr val="16877D"/>
                </a:solidFill>
              </a:defRPr>
            </a:lvl2pPr>
            <a:lvl3pPr algn="l">
              <a:defRPr sz="1500" b="1">
                <a:solidFill>
                  <a:srgbClr val="16877D"/>
                </a:solidFill>
              </a:defRPr>
            </a:lvl3pPr>
            <a:lvl4pPr algn="l">
              <a:defRPr sz="1500" b="1">
                <a:solidFill>
                  <a:srgbClr val="16877D"/>
                </a:solidFill>
              </a:defRPr>
            </a:lvl4pPr>
            <a:lvl5pPr algn="l">
              <a:defRPr sz="1500" b="1">
                <a:solidFill>
                  <a:srgbClr val="16877D"/>
                </a:solidFill>
              </a:defRPr>
            </a:lvl5pPr>
            <a:lvl6pPr algn="l">
              <a:defRPr sz="1500" b="1">
                <a:solidFill>
                  <a:srgbClr val="16877D"/>
                </a:solidFill>
              </a:defRPr>
            </a:lvl6pPr>
            <a:lvl7pPr algn="l">
              <a:defRPr sz="1500" b="1">
                <a:solidFill>
                  <a:srgbClr val="16877D"/>
                </a:solidFill>
              </a:defRPr>
            </a:lvl7pPr>
            <a:lvl8pPr algn="l">
              <a:defRPr sz="1500" b="1">
                <a:solidFill>
                  <a:srgbClr val="16877D"/>
                </a:solidFill>
              </a:defRPr>
            </a:lvl8pPr>
            <a:lvl9pPr algn="l">
              <a:defRPr sz="150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877D"/>
                </a:solidFill>
              </a:defRPr>
            </a:pPr>
            <a:r>
              <a:rPr sz="1500" b="1">
                <a:solidFill>
                  <a:srgbClr val="16877D"/>
                </a:solidFill>
              </a:rPr>
              <a:t>알림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E7F957-1910-43CF-B004-FA4C895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962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4324B"/>
                </a:solidFill>
              </a:defRPr>
            </a:defPPr>
            <a:lvl1pPr algn="l">
              <a:defRPr sz="1725" b="1">
                <a:solidFill>
                  <a:srgbClr val="24324B"/>
                </a:solidFill>
              </a:defRPr>
            </a:lvl1pPr>
            <a:lvl2pPr algn="l">
              <a:defRPr sz="1725" b="1">
                <a:solidFill>
                  <a:srgbClr val="24324B"/>
                </a:solidFill>
              </a:defRPr>
            </a:lvl2pPr>
            <a:lvl3pPr algn="l">
              <a:defRPr sz="1725" b="1">
                <a:solidFill>
                  <a:srgbClr val="24324B"/>
                </a:solidFill>
              </a:defRPr>
            </a:lvl3pPr>
            <a:lvl4pPr algn="l">
              <a:defRPr sz="1725" b="1">
                <a:solidFill>
                  <a:srgbClr val="24324B"/>
                </a:solidFill>
              </a:defRPr>
            </a:lvl4pPr>
            <a:lvl5pPr algn="l">
              <a:defRPr sz="1725" b="1">
                <a:solidFill>
                  <a:srgbClr val="24324B"/>
                </a:solidFill>
              </a:defRPr>
            </a:lvl5pPr>
            <a:lvl6pPr algn="l">
              <a:defRPr sz="1725" b="1">
                <a:solidFill>
                  <a:srgbClr val="24324B"/>
                </a:solidFill>
              </a:defRPr>
            </a:lvl6pPr>
            <a:lvl7pPr algn="l">
              <a:defRPr sz="1725" b="1">
                <a:solidFill>
                  <a:srgbClr val="24324B"/>
                </a:solidFill>
              </a:defRPr>
            </a:lvl7pPr>
            <a:lvl8pPr algn="l">
              <a:defRPr sz="1725" b="1">
                <a:solidFill>
                  <a:srgbClr val="24324B"/>
                </a:solidFill>
              </a:defRPr>
            </a:lvl8pPr>
            <a:lvl9pPr algn="l">
              <a:defRPr sz="172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24B"/>
                </a:solidFill>
              </a:defRPr>
            </a:pPr>
            <a:r>
              <a:rPr sz="1725" b="1">
                <a:solidFill>
                  <a:srgbClr val="24324B"/>
                </a:solidFill>
              </a:rPr>
              <a:t>아이 울음소리 이벤트 발생 시 휴대폰 알림 수신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DC54C-67E2-443E-AD7A-5902EEC9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1819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D6E66"/>
                </a:solidFill>
              </a:defRPr>
            </a:defPPr>
            <a:lvl1pPr algn="l">
              <a:defRPr sz="1500" b="1">
                <a:solidFill>
                  <a:srgbClr val="0D6E66"/>
                </a:solidFill>
              </a:defRPr>
            </a:lvl1pPr>
            <a:lvl2pPr algn="l">
              <a:defRPr sz="1500" b="1">
                <a:solidFill>
                  <a:srgbClr val="0D6E66"/>
                </a:solidFill>
              </a:defRPr>
            </a:lvl2pPr>
            <a:lvl3pPr algn="l">
              <a:defRPr sz="1500" b="1">
                <a:solidFill>
                  <a:srgbClr val="0D6E66"/>
                </a:solidFill>
              </a:defRPr>
            </a:lvl3pPr>
            <a:lvl4pPr algn="l">
              <a:defRPr sz="1500" b="1">
                <a:solidFill>
                  <a:srgbClr val="0D6E66"/>
                </a:solidFill>
              </a:defRPr>
            </a:lvl4pPr>
            <a:lvl5pPr algn="l">
              <a:defRPr sz="1500" b="1">
                <a:solidFill>
                  <a:srgbClr val="0D6E66"/>
                </a:solidFill>
              </a:defRPr>
            </a:lvl5pPr>
            <a:lvl6pPr algn="l">
              <a:defRPr sz="1500" b="1">
                <a:solidFill>
                  <a:srgbClr val="0D6E66"/>
                </a:solidFill>
              </a:defRPr>
            </a:lvl6pPr>
            <a:lvl7pPr algn="l">
              <a:defRPr sz="1500" b="1">
                <a:solidFill>
                  <a:srgbClr val="0D6E66"/>
                </a:solidFill>
              </a:defRPr>
            </a:lvl7pPr>
            <a:lvl8pPr algn="l">
              <a:defRPr sz="1500" b="1">
                <a:solidFill>
                  <a:srgbClr val="0D6E66"/>
                </a:solidFill>
              </a:defRPr>
            </a:lvl8pPr>
            <a:lvl9pPr algn="l">
              <a:defRPr sz="15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D6E66"/>
                </a:solidFill>
              </a:defRPr>
            </a:pPr>
            <a:r>
              <a:rPr sz="1500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F9668-2585-4805-BE37-50E2132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14387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저장된 소리 이벤트와 현재 화면을 확인하고 AI에 질문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6FB037-9539-44D6-8AA8-E1239EF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72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“아이 울음 이후 상황을 알려줘”</a:t>
            </a:r>
          </a:p>
        </p:txBody>
      </p:sp>
      <p:sp>
        <p:nvSpPr>
          <p:cNvPr id="34" name="ai-chat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B21B090F-DDC3-44BB-9C26-07F8809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43250"/>
            <a:ext cx="6524625" cy="586740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1726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2A52F-7C16-421F-9C79-66191010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524250"/>
            <a:ext cx="5724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172653"/>
                </a:solidFill>
              </a:defRPr>
            </a:defPPr>
            <a:lvl1pPr algn="ctr">
              <a:defRPr sz="2325" b="1">
                <a:solidFill>
                  <a:srgbClr val="172653"/>
                </a:solidFill>
              </a:defRPr>
            </a:lvl1pPr>
            <a:lvl2pPr algn="ctr">
              <a:defRPr sz="2325" b="1">
                <a:solidFill>
                  <a:srgbClr val="172653"/>
                </a:solidFill>
              </a:defRPr>
            </a:lvl2pPr>
            <a:lvl3pPr algn="ctr">
              <a:defRPr sz="2325" b="1">
                <a:solidFill>
                  <a:srgbClr val="172653"/>
                </a:solidFill>
              </a:defRPr>
            </a:lvl3pPr>
            <a:lvl4pPr algn="ctr">
              <a:defRPr sz="2325" b="1">
                <a:solidFill>
                  <a:srgbClr val="172653"/>
                </a:solidFill>
              </a:defRPr>
            </a:lvl4pPr>
            <a:lvl5pPr algn="ctr">
              <a:defRPr sz="2325" b="1">
                <a:solidFill>
                  <a:srgbClr val="172653"/>
                </a:solidFill>
              </a:defRPr>
            </a:lvl5pPr>
            <a:lvl6pPr algn="ctr">
              <a:defRPr sz="2325" b="1">
                <a:solidFill>
                  <a:srgbClr val="172653"/>
                </a:solidFill>
              </a:defRPr>
            </a:lvl6pPr>
            <a:lvl7pPr algn="ctr">
              <a:defRPr sz="2325" b="1">
                <a:solidFill>
                  <a:srgbClr val="172653"/>
                </a:solidFill>
              </a:defRPr>
            </a:lvl7pPr>
            <a:lvl8pPr algn="ctr">
              <a:defRPr sz="2325" b="1">
                <a:solidFill>
                  <a:srgbClr val="172653"/>
                </a:solidFill>
              </a:defRPr>
            </a:lvl8pPr>
            <a:lvl9pPr algn="ctr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AI 대화 화면</a:t>
            </a:r>
          </a:p>
        </p:txBody>
      </p:sp>
      <p:sp>
        <p:nvSpPr>
          <p:cNvPr id="36" name="screenshot-drop-zone">
            <a:extLst xmlns:a="http://schemas.openxmlformats.org/drawingml/2006/main">
              <a:ext uri="{FF2B5EF4-FFF2-40B4-BE49-F238E27FC236}">
                <a16:creationId xmlns:a16="http://schemas.microsoft.com/office/drawing/2014/main" id="{728B898C-C15D-452C-A531-1ECF94D0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52925"/>
            <a:ext cx="48482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D51C01-E30D-4EFF-A2FD-4F1CB26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143500"/>
            <a:ext cx="4276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667085"/>
                </a:solidFill>
              </a:defRPr>
            </a:defPPr>
            <a:lvl1pPr algn="ctr">
              <a:defRPr sz="2250" b="1">
                <a:solidFill>
                  <a:srgbClr val="667085"/>
                </a:solidFill>
              </a:defRPr>
            </a:lvl1pPr>
            <a:lvl2pPr algn="ctr">
              <a:defRPr sz="2250" b="1">
                <a:solidFill>
                  <a:srgbClr val="667085"/>
                </a:solidFill>
              </a:defRPr>
            </a:lvl2pPr>
            <a:lvl3pPr algn="ctr">
              <a:defRPr sz="2250" b="1">
                <a:solidFill>
                  <a:srgbClr val="667085"/>
                </a:solidFill>
              </a:defRPr>
            </a:lvl3pPr>
            <a:lvl4pPr algn="ctr">
              <a:defRPr sz="2250" b="1">
                <a:solidFill>
                  <a:srgbClr val="667085"/>
                </a:solidFill>
              </a:defRPr>
            </a:lvl4pPr>
            <a:lvl5pPr algn="ctr">
              <a:defRPr sz="2250" b="1">
                <a:solidFill>
                  <a:srgbClr val="667085"/>
                </a:solidFill>
              </a:defRPr>
            </a:lvl5pPr>
            <a:lvl6pPr algn="ctr">
              <a:defRPr sz="2250" b="1">
                <a:solidFill>
                  <a:srgbClr val="667085"/>
                </a:solidFill>
              </a:defRPr>
            </a:lvl6pPr>
            <a:lvl7pPr algn="ctr">
              <a:defRPr sz="2250" b="1">
                <a:solidFill>
                  <a:srgbClr val="667085"/>
                </a:solidFill>
              </a:defRPr>
            </a:lvl7pPr>
            <a:lvl8pPr algn="ctr">
              <a:defRPr sz="2250" b="1">
                <a:solidFill>
                  <a:srgbClr val="667085"/>
                </a:solidFill>
              </a:defRPr>
            </a:lvl8pPr>
            <a:lvl9pPr algn="ctr">
              <a:defRPr sz="225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실제 앱 화면</a:t>
            </a:r>
          </a:p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캡처 삽입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2C1DB-62DB-4CB0-892B-196FA6B6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353300"/>
            <a:ext cx="439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447CD7-9A3B-4C4D-8496-95FF375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7152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0D6E66"/>
                </a:solidFill>
              </a:defRPr>
            </a:defPPr>
            <a:lvl1pPr algn="ctr">
              <a:defRPr sz="1725" b="1">
                <a:solidFill>
                  <a:srgbClr val="0D6E66"/>
                </a:solidFill>
              </a:defRPr>
            </a:lvl1pPr>
            <a:lvl2pPr algn="ctr">
              <a:defRPr sz="1725" b="1">
                <a:solidFill>
                  <a:srgbClr val="0D6E66"/>
                </a:solidFill>
              </a:defRPr>
            </a:lvl2pPr>
            <a:lvl3pPr algn="ctr">
              <a:defRPr sz="1725" b="1">
                <a:solidFill>
                  <a:srgbClr val="0D6E66"/>
                </a:solidFill>
              </a:defRPr>
            </a:lvl3pPr>
            <a:lvl4pPr algn="ctr">
              <a:defRPr sz="1725" b="1">
                <a:solidFill>
                  <a:srgbClr val="0D6E66"/>
                </a:solidFill>
              </a:defRPr>
            </a:lvl4pPr>
            <a:lvl5pPr algn="ctr">
              <a:defRPr sz="1725" b="1">
                <a:solidFill>
                  <a:srgbClr val="0D6E66"/>
                </a:solidFill>
              </a:defRPr>
            </a:lvl5pPr>
            <a:lvl6pPr algn="ctr">
              <a:defRPr sz="1725" b="1">
                <a:solidFill>
                  <a:srgbClr val="0D6E66"/>
                </a:solidFill>
              </a:defRPr>
            </a:lvl6pPr>
            <a:lvl7pPr algn="ctr">
              <a:defRPr sz="1725" b="1">
                <a:solidFill>
                  <a:srgbClr val="0D6E66"/>
                </a:solidFill>
              </a:defRPr>
            </a:lvl7pPr>
            <a:lvl8pPr algn="ctr">
              <a:defRPr sz="1725" b="1">
                <a:solidFill>
                  <a:srgbClr val="0D6E66"/>
                </a:solidFill>
              </a:defRPr>
            </a:lvl8pPr>
            <a:lvl9pPr algn="ctr">
              <a:defRPr sz="17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D6E66"/>
                </a:solidFill>
              </a:defRPr>
            </a:pPr>
            <a:r>
              <a:rPr sz="1725" b="1">
                <a:solidFill>
                  <a:srgbClr val="0D6E66"/>
                </a:solidFill>
              </a:rPr>
              <a:t>발표 전 캡처 이미지로</a:t>
            </a:r>
          </a:p>
          <a:p xmlns:a="http://schemas.openxmlformats.org/drawingml/2006/main">
            <a:pPr algn="ctr">
              <a:defRPr sz="1725" b="1">
                <a:solidFill>
                  <a:srgbClr val="0D6E66"/>
                </a:solidFill>
              </a:defRPr>
            </a:pPr>
            <a:r>
              <a:rPr sz="1725" b="1">
                <a:solidFill>
                  <a:srgbClr val="0D6E66"/>
                </a:solidFill>
              </a:rPr>
              <a:t>이 영역을 교체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27287B-EAAB-4E65-8C45-D82EB9F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77375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</a:defRPr>
            </a:defPPr>
            <a:lvl1pPr algn="l">
              <a:defRPr sz="1425" b="0">
                <a:solidFill>
                  <a:srgbClr val="667085"/>
                </a:solidFill>
              </a:defRPr>
            </a:lvl1pPr>
            <a:lvl2pPr algn="l">
              <a:defRPr sz="1425" b="0">
                <a:solidFill>
                  <a:srgbClr val="667085"/>
                </a:solidFill>
              </a:defRPr>
            </a:lvl2pPr>
            <a:lvl3pPr algn="l">
              <a:defRPr sz="1425" b="0">
                <a:solidFill>
                  <a:srgbClr val="667085"/>
                </a:solidFill>
              </a:defRPr>
            </a:lvl3pPr>
            <a:lvl4pPr algn="l">
              <a:defRPr sz="1425" b="0">
                <a:solidFill>
                  <a:srgbClr val="667085"/>
                </a:solidFill>
              </a:defRPr>
            </a:lvl4pPr>
            <a:lvl5pPr algn="l">
              <a:defRPr sz="1425" b="0">
                <a:solidFill>
                  <a:srgbClr val="667085"/>
                </a:solidFill>
              </a:defRPr>
            </a:lvl5pPr>
            <a:lvl6pPr algn="l">
              <a:defRPr sz="1425" b="0">
                <a:solidFill>
                  <a:srgbClr val="667085"/>
                </a:solidFill>
              </a:defRPr>
            </a:lvl6pPr>
            <a:lvl7pPr algn="l">
              <a:defRPr sz="1425" b="0">
                <a:solidFill>
                  <a:srgbClr val="667085"/>
                </a:solidFill>
              </a:defRPr>
            </a:lvl7pPr>
            <a:lvl8pPr algn="l">
              <a:defRPr sz="1425" b="0">
                <a:solidFill>
                  <a:srgbClr val="667085"/>
                </a:solidFill>
              </a:defRPr>
            </a:lvl8pPr>
            <a:lvl9pPr algn="l">
              <a:defRPr sz="14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※ 시연 전 브라우저 알림 허용과 카메라 연결 상태 확인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