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ddfec0fd642bf" /><Relationship Type="http://schemas.openxmlformats.org/officeDocument/2006/relationships/extended-properties" Target="/docProps/app.xml" Id="R328ce67c78f645f4" /><Relationship Type="http://schemas.openxmlformats.org/officeDocument/2006/relationships/officeDocument" Target="/ppt/presentation.xml" Id="R8bbecb36da0c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f8e0b6b4424ec3"/>
  </p:sldMasterIdLst>
  <p:notesMasterIdLst>
    <p:notesMasterId xmlns:r="http://schemas.openxmlformats.org/officeDocument/2006/relationships" r:id="R02fea33917384f06"/>
  </p:notesMasterIdLst>
  <p:sldIdLst>
    <p:sldId xmlns:r="http://schemas.openxmlformats.org/officeDocument/2006/relationships" id="256" r:id="Rdbbd5a0ca18a47dc"/>
    <p:sldId xmlns:r="http://schemas.openxmlformats.org/officeDocument/2006/relationships" id="257" r:id="R222a9fbd1d57428f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ad1d4fae1341e8" /><Relationship Type="http://schemas.openxmlformats.org/officeDocument/2006/relationships/slideMaster" Target="/ppt/slideMasters/slideMaster1.xml" Id="Rbdf8e0b6b4424ec3" /><Relationship Type="http://schemas.openxmlformats.org/officeDocument/2006/relationships/notesMaster" Target="/ppt/notesMasters/notesMaster1.xml" Id="R02fea33917384f06" /><Relationship Type="http://schemas.openxmlformats.org/officeDocument/2006/relationships/presProps" Target="/ppt/presProps.xml" Id="Rd78a4ddb934a445b" /><Relationship Type="http://schemas.openxmlformats.org/officeDocument/2006/relationships/tableStyles" Target="/ppt/tableStyles.xml" Id="R7fce4c07dd3c49c3" /><Relationship Type="http://schemas.openxmlformats.org/officeDocument/2006/relationships/slide" Target="/ppt/slides/slide1.xml" Id="Rdbbd5a0ca18a47dc" /><Relationship Type="http://schemas.openxmlformats.org/officeDocument/2006/relationships/slide" Target="/ppt/slides/slide2.xml" Id="R222a9fbd1d57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1ee6924a7e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bd10c6ccb40e0" /><Relationship Type="http://schemas.openxmlformats.org/officeDocument/2006/relationships/notesMaster" Target="/ppt/notesMasters/notesMaster1.xml" Id="Rf9b8a5ca7f45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2ad8668da4b01" /><Relationship Type="http://schemas.openxmlformats.org/officeDocument/2006/relationships/notesMaster" Target="/ppt/notesMasters/notesMaster1.xml" Id="Rec49d19831e74b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기준일: 2026-10-26. Tapo C225 V2 공식 사양: https://www.tapo.com/us/product/tapo-c225-security-camera/v2/1-pack/specs/ . eufy E220 공식 제품 페이지: https://www.eufy.com/products/t8410121 . 자연어로 과거 이벤트를 질의하는 기능과 하루 자연어 브리핑은 두 공식 자료에서 확인되지 않아 미기재로 표시. 스마트 스피커의 음성 제어와 기록에 대한 자연어 질의는 구분. HOME-TALK 근거: web/src/screens/HomeScreen.jsx, web/src/context/AppDataContext.jsx, web/src/lib/api.js, src/mcp/tools/event.tools.js, src/mcp/tools/camera.tools.js. HOME-TALK은 개발 프로토타입이며 상용 제품과 감지 성능을 직접 비교한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예시이며 실제 실행 결과나 고정 지연시간을 보장하지 않음. 사용 흐름은 현재 웹 코드의 현관/거실 모드, 이벤트 목록, 자연어 채팅, 홈 브리핑, 현재 화면 촬영 기능 기준. 시연 전 로그인·네트워크·장치 하트비트·브라우저 알림 허용과 모드 반영을 확인. 현관 모드에서 방문과 초인종을 먼저 시연하고, 위험 알림은 거실 모드에서 별도 검증한 경보음으로 선택 시연. 방문자의 이름이나 가족 여부 등 신원 식별을 시연하지 않음. 출처: web/src/screens/HomeScreen.jsx, web/src/lib/api.js, web/src/context/AppDataContext.jsx, src/mcp/tools/event.tools.js, src/mcp/tools/camera.tools.js.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1e4bb2ada4e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2a651787242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da72cf0a844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caabdad9943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bcdb1032146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d0733a91741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4B6EBB-314C-423B-9E7F-7E9E4161B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272421"/>
            <a:ext cx="16083280" cy="163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8A8D70-B9F2-42A1-AE3B-0DFAC9C225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15615" y="6220143"/>
            <a:ext cx="14072870" cy="125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81FCC8-9810-4183-961D-8EFF4BD57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712229"/>
            <a:ext cx="16083280" cy="1884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17C52A-0AFA-4383-98AA-6CFEF6BAC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DAB067-2DF1-40ED-9CD8-FD958AAFC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17842389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C8050B-27B1-423A-92B5-0CF501A8D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E7F647-4EE5-4F48-9C61-FFD7F4CEA6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456DC8-6D68-45FE-9643-217EE7A069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680303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30D041-C755-4A3A-B50A-A3562D88F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86643C-1D96-4A26-9B58-290074C790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107623ae64533" /><Relationship Type="http://schemas.openxmlformats.org/officeDocument/2006/relationships/slideLayout" Target="/ppt/slideLayouts/slideLayout1.xml" Id="R5055b5552f5d4c0b" /><Relationship Type="http://schemas.openxmlformats.org/officeDocument/2006/relationships/slideLayout" Target="/ppt/slideLayouts/slideLayout2.xml" Id="R64b466e4dbeb49d6" /><Relationship Type="http://schemas.openxmlformats.org/officeDocument/2006/relationships/slideLayout" Target="/ppt/slideLayouts/slideLayout3.xml" Id="R3d6e8f1ac8fb40a4" /><Relationship Type="http://schemas.openxmlformats.org/officeDocument/2006/relationships/slideLayout" Target="/ppt/slideLayouts/slideLayout4.xml" Id="R9c8d28a0306c4b98" /><Relationship Type="http://schemas.openxmlformats.org/officeDocument/2006/relationships/slideLayout" Target="/ppt/slideLayouts/slideLayout5.xml" Id="Re1efdef513a7463a" /><Relationship Type="http://schemas.openxmlformats.org/officeDocument/2006/relationships/slideLayout" Target="/ppt/slideLayouts/slideLayout6.xml" Id="Rf2e4fe6dd1d340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5b5552f5d4c0b"/>
    <p:sldLayoutId xmlns:r="http://schemas.openxmlformats.org/officeDocument/2006/relationships" id="2147483650" r:id="R64b466e4dbeb49d6"/>
    <p:sldLayoutId xmlns:r="http://schemas.openxmlformats.org/officeDocument/2006/relationships" id="2147483651" r:id="R3d6e8f1ac8fb40a4"/>
    <p:sldLayoutId xmlns:r="http://schemas.openxmlformats.org/officeDocument/2006/relationships" id="2147483652" r:id="R9c8d28a0306c4b98"/>
    <p:sldLayoutId xmlns:r="http://schemas.openxmlformats.org/officeDocument/2006/relationships" id="2147483653" r:id="Re1efdef513a7463a"/>
    <p:sldLayoutId xmlns:r="http://schemas.openxmlformats.org/officeDocument/2006/relationships" id="2147483654" r:id="Rf2e4fe6dd1d340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36a9de92945a2" /><Relationship Type="http://schemas.openxmlformats.org/officeDocument/2006/relationships/notesSlide" Target="/ppt/notesSlides/notesSlide1.xml" Id="Rccea73f14790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3ed3bdc1543b4" /><Relationship Type="http://schemas.openxmlformats.org/officeDocument/2006/relationships/notesSlide" Target="/ppt/notesSlides/notesSlide2.xml" Id="Rb78015932c0b41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B47B00-1B25-4F95-94D0-C2C64109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77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877D"/>
                </a:solidFill>
              </a:defRPr>
            </a:defPPr>
            <a:lvl1pPr algn="l">
              <a:defRPr sz="1650" b="1">
                <a:solidFill>
                  <a:srgbClr val="16877D"/>
                </a:solidFill>
              </a:defRPr>
            </a:lvl1pPr>
            <a:lvl2pPr algn="l">
              <a:defRPr sz="1650" b="1">
                <a:solidFill>
                  <a:srgbClr val="16877D"/>
                </a:solidFill>
              </a:defRPr>
            </a:lvl2pPr>
            <a:lvl3pPr algn="l">
              <a:defRPr sz="1650" b="1">
                <a:solidFill>
                  <a:srgbClr val="16877D"/>
                </a:solidFill>
              </a:defRPr>
            </a:lvl3pPr>
            <a:lvl4pPr algn="l">
              <a:defRPr sz="1650" b="1">
                <a:solidFill>
                  <a:srgbClr val="16877D"/>
                </a:solidFill>
              </a:defRPr>
            </a:lvl4pPr>
            <a:lvl5pPr algn="l">
              <a:defRPr sz="1650" b="1">
                <a:solidFill>
                  <a:srgbClr val="16877D"/>
                </a:solidFill>
              </a:defRPr>
            </a:lvl5pPr>
            <a:lvl6pPr algn="l">
              <a:defRPr sz="1650" b="1">
                <a:solidFill>
                  <a:srgbClr val="16877D"/>
                </a:solidFill>
              </a:defRPr>
            </a:lvl6pPr>
            <a:lvl7pPr algn="l">
              <a:defRPr sz="1650" b="1">
                <a:solidFill>
                  <a:srgbClr val="16877D"/>
                </a:solidFill>
              </a:defRPr>
            </a:lvl7pPr>
            <a:lvl8pPr algn="l">
              <a:defRPr sz="1650" b="1">
                <a:solidFill>
                  <a:srgbClr val="16877D"/>
                </a:solidFill>
              </a:defRPr>
            </a:lvl8pPr>
            <a:lvl9pPr algn="l">
              <a:defRPr sz="165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77D"/>
                </a:solidFill>
              </a:defRPr>
            </a:pPr>
            <a:r>
              <a:rPr sz="1650" b="1">
                <a:solidFill>
                  <a:srgbClr val="16877D"/>
                </a:solidFill>
              </a:rPr>
              <a:t>I2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2B8BB52-4F75-49D5-B958-79A34D7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66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622EC-3E4E-4610-A94A-DBB40E3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04925"/>
            <a:ext cx="1647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172653"/>
                </a:solidFill>
              </a:defRPr>
            </a:defPPr>
            <a:lvl1pPr algn="l">
              <a:defRPr sz="3600" b="1">
                <a:solidFill>
                  <a:srgbClr val="172653"/>
                </a:solidFill>
              </a:defRPr>
            </a:lvl1pPr>
            <a:lvl2pPr algn="l">
              <a:defRPr sz="3600" b="1">
                <a:solidFill>
                  <a:srgbClr val="172653"/>
                </a:solidFill>
              </a:defRPr>
            </a:lvl2pPr>
            <a:lvl3pPr algn="l">
              <a:defRPr sz="3600" b="1">
                <a:solidFill>
                  <a:srgbClr val="172653"/>
                </a:solidFill>
              </a:defRPr>
            </a:lvl3pPr>
            <a:lvl4pPr algn="l">
              <a:defRPr sz="3600" b="1">
                <a:solidFill>
                  <a:srgbClr val="172653"/>
                </a:solidFill>
              </a:defRPr>
            </a:lvl4pPr>
            <a:lvl5pPr algn="l">
              <a:defRPr sz="3600" b="1">
                <a:solidFill>
                  <a:srgbClr val="172653"/>
                </a:solidFill>
              </a:defRPr>
            </a:lvl5pPr>
            <a:lvl6pPr algn="l">
              <a:defRPr sz="3600" b="1">
                <a:solidFill>
                  <a:srgbClr val="172653"/>
                </a:solidFill>
              </a:defRPr>
            </a:lvl6pPr>
            <a:lvl7pPr algn="l">
              <a:defRPr sz="3600" b="1">
                <a:solidFill>
                  <a:srgbClr val="172653"/>
                </a:solidFill>
              </a:defRPr>
            </a:lvl7pPr>
            <a:lvl8pPr algn="l">
              <a:defRPr sz="3600" b="1">
                <a:solidFill>
                  <a:srgbClr val="172653"/>
                </a:solidFill>
              </a:defRPr>
            </a:lvl8pPr>
            <a:lvl9pPr algn="l">
              <a:defRPr sz="36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653"/>
                </a:solidFill>
              </a:defRPr>
            </a:pPr>
            <a:r>
              <a:rPr sz="3600" b="1">
                <a:solidFill>
                  <a:srgbClr val="172653"/>
                </a:solidFill>
              </a:rPr>
              <a:t>시중 홈캠과 HOME-TALK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810D0-BC9C-4622-A14F-865C053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1647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667085"/>
                </a:solidFill>
              </a:defRPr>
            </a:defPPr>
            <a:lvl1pPr algn="l">
              <a:defRPr sz="2025" b="0">
                <a:solidFill>
                  <a:srgbClr val="667085"/>
                </a:solidFill>
              </a:defRPr>
            </a:lvl1pPr>
            <a:lvl2pPr algn="l">
              <a:defRPr sz="2025" b="0">
                <a:solidFill>
                  <a:srgbClr val="667085"/>
                </a:solidFill>
              </a:defRPr>
            </a:lvl2pPr>
            <a:lvl3pPr algn="l">
              <a:defRPr sz="2025" b="0">
                <a:solidFill>
                  <a:srgbClr val="667085"/>
                </a:solidFill>
              </a:defRPr>
            </a:lvl3pPr>
            <a:lvl4pPr algn="l">
              <a:defRPr sz="2025" b="0">
                <a:solidFill>
                  <a:srgbClr val="667085"/>
                </a:solidFill>
              </a:defRPr>
            </a:lvl4pPr>
            <a:lvl5pPr algn="l">
              <a:defRPr sz="2025" b="0">
                <a:solidFill>
                  <a:srgbClr val="667085"/>
                </a:solidFill>
              </a:defRPr>
            </a:lvl5pPr>
            <a:lvl6pPr algn="l">
              <a:defRPr sz="2025" b="0">
                <a:solidFill>
                  <a:srgbClr val="667085"/>
                </a:solidFill>
              </a:defRPr>
            </a:lvl6pPr>
            <a:lvl7pPr algn="l">
              <a:defRPr sz="2025" b="0">
                <a:solidFill>
                  <a:srgbClr val="667085"/>
                </a:solidFill>
              </a:defRPr>
            </a:lvl7pPr>
            <a:lvl8pPr algn="l">
              <a:defRPr sz="2025" b="0">
                <a:solidFill>
                  <a:srgbClr val="667085"/>
                </a:solidFill>
              </a:defRPr>
            </a:lvl8pPr>
            <a:lvl9pPr algn="l">
              <a:defRPr sz="20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7085"/>
                </a:solidFill>
              </a:defRPr>
            </a:pPr>
            <a:r>
              <a:rPr sz="2025" b="0">
                <a:solidFill>
                  <a:srgbClr val="667085"/>
                </a:solidFill>
              </a:rPr>
              <a:t>감지 이후의 기록 조회와 설명까지 보호자 경험으로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CA79F-11EF-4315-9B8B-3260AC9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B2340-B743-4C14-9C18-1FF7077A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82567-E7DF-4D1A-B279-081DB8F7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DD55C-BE98-4910-8FAA-266A753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2F07A-7708-4904-B1A5-5727C6A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289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EE76D-5849-45EF-A923-5B69F95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00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Tapo C225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7083C-549F-4A8A-80D0-4802F8F9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709FD-9469-45E7-8F77-F9D5BC45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eufy E220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0EE2B-427F-4F28-8AEE-D5B0805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0289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FD3FE-D23C-4C78-ADC0-6119FC5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2004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HOME-TALK 개발 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02FE1-6E64-421C-9C58-4438518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DA548-1B88-4AA2-85D3-4BB886A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감지 범위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2060A-D8BF-43E1-97D5-F04A25F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C7961-28DC-4F02-82BD-FA51945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24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사람·차량·반려동물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울음·짖음·유리 파손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3EC7E-5B56-4580-9973-72F85885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F3C06-1407-4CC4-95D5-E926139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24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소리·울음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E3824-C546-483E-8D57-D5A010D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714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6CB64-D233-47A7-9BBC-00A0F61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24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방문·택배·낙상/의심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생활·위험 소리 6종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144C2-DFF1-4A33-867B-98EDC856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38B19-43B7-44E5-8152-30E4D87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67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기록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DF678-0511-441A-AE8E-9D526EF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57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3D6EF-20C0-45B7-BC5A-47093C4A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67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0721F-551F-4816-AEC0-46C4B27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57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1C786-9499-4962-9958-9578C549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67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EBEF2-18DB-4FFE-A38E-F456BAB7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857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E941D-D0A0-47D0-B13F-00BE8B7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067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위험 등급별 알림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이벤트와 첨부 기록 조회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884A58-363A-414E-8B7B-7C16026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00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06354-CE99-45CC-84D7-5738A3B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210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자연어 질문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C7902-B6D7-4F09-8E77-3C948B1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00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E7354-0CFF-41CA-8609-5646CA7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210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80F613-C695-4519-A7DC-64DB2965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00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6189AC-0348-4515-8408-3D2A794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DA844E-6EAA-4AD5-BE40-B38A0E10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000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A889AD-E479-428D-821C-ABF49A7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210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“오늘 방문 기록 알려줘”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질문에 맞는 기록 검색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6861B-99EA-4592-B429-811FF4DC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43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0B4299-2D6E-4A11-8542-255B7C2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353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하루 브리핑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2AF96-1F34-4A5E-AAD7-7C549303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143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0D70E0-6979-4E0E-A0A4-84448AFC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353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3E3FDA-FF1F-4781-A04E-74E297F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43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26441A-EA07-4E3D-A01E-9E7265C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353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7CF14-6F11-4572-9FB8-516C245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143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81F751-55AA-4186-93E0-1F34BE64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353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하루 이벤트를 자연어로 요약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앱에서 바로 확인</a:t>
            </a:r>
          </a:p>
        </p:txBody>
      </p:sp>
      <p:sp>
        <p:nvSpPr>
          <p:cNvPr id="47" name="key-difference">
            <a:extLst xmlns:a="http://schemas.openxmlformats.org/drawingml/2006/main">
              <a:ext uri="{FF2B5EF4-FFF2-40B4-BE49-F238E27FC236}">
                <a16:creationId xmlns:a16="http://schemas.microsoft.com/office/drawing/2014/main" id="{F4C5294D-E326-4DDB-82BE-8E50518B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67750"/>
            <a:ext cx="1809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F641EC-948D-498E-A339-F5C1FB5E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34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87D7CE"/>
                </a:solidFill>
              </a:defRPr>
            </a:defPPr>
            <a:lvl1pPr algn="l">
              <a:defRPr sz="1875" b="1">
                <a:solidFill>
                  <a:srgbClr val="87D7CE"/>
                </a:solidFill>
              </a:defRPr>
            </a:lvl1pPr>
            <a:lvl2pPr algn="l">
              <a:defRPr sz="1875" b="1">
                <a:solidFill>
                  <a:srgbClr val="87D7CE"/>
                </a:solidFill>
              </a:defRPr>
            </a:lvl2pPr>
            <a:lvl3pPr algn="l">
              <a:defRPr sz="1875" b="1">
                <a:solidFill>
                  <a:srgbClr val="87D7CE"/>
                </a:solidFill>
              </a:defRPr>
            </a:lvl3pPr>
            <a:lvl4pPr algn="l">
              <a:defRPr sz="1875" b="1">
                <a:solidFill>
                  <a:srgbClr val="87D7CE"/>
                </a:solidFill>
              </a:defRPr>
            </a:lvl4pPr>
            <a:lvl5pPr algn="l">
              <a:defRPr sz="1875" b="1">
                <a:solidFill>
                  <a:srgbClr val="87D7CE"/>
                </a:solidFill>
              </a:defRPr>
            </a:lvl5pPr>
            <a:lvl6pPr algn="l">
              <a:defRPr sz="1875" b="1">
                <a:solidFill>
                  <a:srgbClr val="87D7CE"/>
                </a:solidFill>
              </a:defRPr>
            </a:lvl6pPr>
            <a:lvl7pPr algn="l">
              <a:defRPr sz="1875" b="1">
                <a:solidFill>
                  <a:srgbClr val="87D7CE"/>
                </a:solidFill>
              </a:defRPr>
            </a:lvl7pPr>
            <a:lvl8pPr algn="l">
              <a:defRPr sz="1875" b="1">
                <a:solidFill>
                  <a:srgbClr val="87D7CE"/>
                </a:solidFill>
              </a:defRPr>
            </a:lvl8pPr>
            <a:lvl9pPr algn="l">
              <a:defRPr sz="1875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7D7CE"/>
                </a:solidFill>
              </a:defRPr>
            </a:pPr>
            <a:r>
              <a:rPr sz="1875" b="1">
                <a:solidFill>
                  <a:srgbClr val="87D7CE"/>
                </a:solidFill>
              </a:rPr>
              <a:t>HOME-TALK의 차별점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145465-B56A-4DF5-93EA-5423F428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877300"/>
            <a:ext cx="1409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감지 결과를 나열하는 데서 끝나지 않고, 보호자의 질문을 기록 조회와 하루 브리핑으로 연결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368201-FBD6-45CB-B8ED-F5DA7F9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858375"/>
            <a:ext cx="152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  <a:lvl1pPr algn="l">
              <a:defRPr sz="1350" b="0">
                <a:solidFill>
                  <a:srgbClr val="667085"/>
                </a:solidFill>
              </a:defRPr>
            </a:lvl1pPr>
            <a:lvl2pPr algn="l">
              <a:defRPr sz="1350" b="0">
                <a:solidFill>
                  <a:srgbClr val="667085"/>
                </a:solidFill>
              </a:defRPr>
            </a:lvl2pPr>
            <a:lvl3pPr algn="l">
              <a:defRPr sz="1350" b="0">
                <a:solidFill>
                  <a:srgbClr val="667085"/>
                </a:solidFill>
              </a:defRPr>
            </a:lvl3pPr>
            <a:lvl4pPr algn="l">
              <a:defRPr sz="1350" b="0">
                <a:solidFill>
                  <a:srgbClr val="667085"/>
                </a:solidFill>
              </a:defRPr>
            </a:lvl4pPr>
            <a:lvl5pPr algn="l">
              <a:defRPr sz="1350" b="0">
                <a:solidFill>
                  <a:srgbClr val="667085"/>
                </a:solidFill>
              </a:defRPr>
            </a:lvl5pPr>
            <a:lvl6pPr algn="l">
              <a:defRPr sz="1350" b="0">
                <a:solidFill>
                  <a:srgbClr val="667085"/>
                </a:solidFill>
              </a:defRPr>
            </a:lvl6pPr>
            <a:lvl7pPr algn="l">
              <a:defRPr sz="1350" b="0">
                <a:solidFill>
                  <a:srgbClr val="667085"/>
                </a:solidFill>
              </a:defRPr>
            </a:lvl7pPr>
            <a:lvl8pPr algn="l">
              <a:defRPr sz="1350" b="0">
                <a:solidFill>
                  <a:srgbClr val="667085"/>
                </a:solidFill>
              </a:defRPr>
            </a:lvl8pPr>
            <a:lvl9pPr algn="l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공식 제품 자료 기준(2026.10.26) · 미기재는 미지원 단정이 아님 · 상용 제품과 감지 성능을 직접 비교한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516459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74739E-174C-4092-A258-51E8E8A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77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877D"/>
                </a:solidFill>
              </a:defRPr>
            </a:defPPr>
            <a:lvl1pPr algn="l">
              <a:defRPr sz="1650" b="1">
                <a:solidFill>
                  <a:srgbClr val="16877D"/>
                </a:solidFill>
              </a:defRPr>
            </a:lvl1pPr>
            <a:lvl2pPr algn="l">
              <a:defRPr sz="1650" b="1">
                <a:solidFill>
                  <a:srgbClr val="16877D"/>
                </a:solidFill>
              </a:defRPr>
            </a:lvl2pPr>
            <a:lvl3pPr algn="l">
              <a:defRPr sz="1650" b="1">
                <a:solidFill>
                  <a:srgbClr val="16877D"/>
                </a:solidFill>
              </a:defRPr>
            </a:lvl3pPr>
            <a:lvl4pPr algn="l">
              <a:defRPr sz="1650" b="1">
                <a:solidFill>
                  <a:srgbClr val="16877D"/>
                </a:solidFill>
              </a:defRPr>
            </a:lvl4pPr>
            <a:lvl5pPr algn="l">
              <a:defRPr sz="1650" b="1">
                <a:solidFill>
                  <a:srgbClr val="16877D"/>
                </a:solidFill>
              </a:defRPr>
            </a:lvl5pPr>
            <a:lvl6pPr algn="l">
              <a:defRPr sz="1650" b="1">
                <a:solidFill>
                  <a:srgbClr val="16877D"/>
                </a:solidFill>
              </a:defRPr>
            </a:lvl6pPr>
            <a:lvl7pPr algn="l">
              <a:defRPr sz="1650" b="1">
                <a:solidFill>
                  <a:srgbClr val="16877D"/>
                </a:solidFill>
              </a:defRPr>
            </a:lvl7pPr>
            <a:lvl8pPr algn="l">
              <a:defRPr sz="1650" b="1">
                <a:solidFill>
                  <a:srgbClr val="16877D"/>
                </a:solidFill>
              </a:defRPr>
            </a:lvl8pPr>
            <a:lvl9pPr algn="l">
              <a:defRPr sz="165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77D"/>
                </a:solidFill>
              </a:defRPr>
            </a:pPr>
            <a:r>
              <a:rPr sz="1650" b="1">
                <a:solidFill>
                  <a:srgbClr val="16877D"/>
                </a:solidFill>
              </a:rPr>
              <a:t>I3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69DDF8F-1CBB-48DC-8079-B8E5DA6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66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B7814-D1E0-4142-BADD-0BAD80D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04925"/>
            <a:ext cx="1647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172653"/>
                </a:solidFill>
              </a:defRPr>
            </a:defPPr>
            <a:lvl1pPr algn="l">
              <a:defRPr sz="3600" b="1">
                <a:solidFill>
                  <a:srgbClr val="172653"/>
                </a:solidFill>
              </a:defRPr>
            </a:lvl1pPr>
            <a:lvl2pPr algn="l">
              <a:defRPr sz="3600" b="1">
                <a:solidFill>
                  <a:srgbClr val="172653"/>
                </a:solidFill>
              </a:defRPr>
            </a:lvl2pPr>
            <a:lvl3pPr algn="l">
              <a:defRPr sz="3600" b="1">
                <a:solidFill>
                  <a:srgbClr val="172653"/>
                </a:solidFill>
              </a:defRPr>
            </a:lvl3pPr>
            <a:lvl4pPr algn="l">
              <a:defRPr sz="3600" b="1">
                <a:solidFill>
                  <a:srgbClr val="172653"/>
                </a:solidFill>
              </a:defRPr>
            </a:lvl4pPr>
            <a:lvl5pPr algn="l">
              <a:defRPr sz="3600" b="1">
                <a:solidFill>
                  <a:srgbClr val="172653"/>
                </a:solidFill>
              </a:defRPr>
            </a:lvl5pPr>
            <a:lvl6pPr algn="l">
              <a:defRPr sz="3600" b="1">
                <a:solidFill>
                  <a:srgbClr val="172653"/>
                </a:solidFill>
              </a:defRPr>
            </a:lvl6pPr>
            <a:lvl7pPr algn="l">
              <a:defRPr sz="3600" b="1">
                <a:solidFill>
                  <a:srgbClr val="172653"/>
                </a:solidFill>
              </a:defRPr>
            </a:lvl7pPr>
            <a:lvl8pPr algn="l">
              <a:defRPr sz="3600" b="1">
                <a:solidFill>
                  <a:srgbClr val="172653"/>
                </a:solidFill>
              </a:defRPr>
            </a:lvl8pPr>
            <a:lvl9pPr algn="l">
              <a:defRPr sz="36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653"/>
                </a:solidFill>
              </a:defRPr>
            </a:pPr>
            <a:r>
              <a:rPr sz="3600" b="1">
                <a:solidFill>
                  <a:srgbClr val="172653"/>
                </a:solidFill>
              </a:rPr>
              <a:t>시연 시나리오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67A43-556A-4112-8764-800F712E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1647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667085"/>
                </a:solidFill>
              </a:defRPr>
            </a:defPPr>
            <a:lvl1pPr algn="l">
              <a:defRPr sz="2025" b="0">
                <a:solidFill>
                  <a:srgbClr val="667085"/>
                </a:solidFill>
              </a:defRPr>
            </a:lvl1pPr>
            <a:lvl2pPr algn="l">
              <a:defRPr sz="2025" b="0">
                <a:solidFill>
                  <a:srgbClr val="667085"/>
                </a:solidFill>
              </a:defRPr>
            </a:lvl2pPr>
            <a:lvl3pPr algn="l">
              <a:defRPr sz="2025" b="0">
                <a:solidFill>
                  <a:srgbClr val="667085"/>
                </a:solidFill>
              </a:defRPr>
            </a:lvl3pPr>
            <a:lvl4pPr algn="l">
              <a:defRPr sz="2025" b="0">
                <a:solidFill>
                  <a:srgbClr val="667085"/>
                </a:solidFill>
              </a:defRPr>
            </a:lvl4pPr>
            <a:lvl5pPr algn="l">
              <a:defRPr sz="2025" b="0">
                <a:solidFill>
                  <a:srgbClr val="667085"/>
                </a:solidFill>
              </a:defRPr>
            </a:lvl5pPr>
            <a:lvl6pPr algn="l">
              <a:defRPr sz="2025" b="0">
                <a:solidFill>
                  <a:srgbClr val="667085"/>
                </a:solidFill>
              </a:defRPr>
            </a:lvl6pPr>
            <a:lvl7pPr algn="l">
              <a:defRPr sz="2025" b="0">
                <a:solidFill>
                  <a:srgbClr val="667085"/>
                </a:solidFill>
              </a:defRPr>
            </a:lvl7pPr>
            <a:lvl8pPr algn="l">
              <a:defRPr sz="2025" b="0">
                <a:solidFill>
                  <a:srgbClr val="667085"/>
                </a:solidFill>
              </a:defRPr>
            </a:lvl8pPr>
            <a:lvl9pPr algn="l">
              <a:defRPr sz="20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7085"/>
                </a:solidFill>
              </a:defRPr>
            </a:pPr>
            <a:r>
              <a:rPr sz="2025" b="0">
                <a:solidFill>
                  <a:srgbClr val="667085"/>
                </a:solidFill>
              </a:rPr>
              <a:t>방문 감지부터 자연어 조회와 브리핑까지 한 흐름으로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931DF-63D5-4B44-A0AE-41F62C1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7F6-D292-40FD-88E0-DFEAFA5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7" name="demo-question">
            <a:extLst xmlns:a="http://schemas.openxmlformats.org/drawingml/2006/main">
              <a:ext uri="{FF2B5EF4-FFF2-40B4-BE49-F238E27FC236}">
                <a16:creationId xmlns:a16="http://schemas.microsoft.com/office/drawing/2014/main" id="{0C0866BC-295E-4A42-AC00-C2F59E8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809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A65AD-3650-477F-B638-C6BFC0E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시연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A0699-4923-4A75-BE27-63007E3A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72653"/>
                </a:solidFill>
              </a:defRPr>
            </a:defPPr>
            <a:lvl1pPr algn="l">
              <a:defRPr sz="2700" b="1">
                <a:solidFill>
                  <a:srgbClr val="172653"/>
                </a:solidFill>
              </a:defRPr>
            </a:lvl1pPr>
            <a:lvl2pPr algn="l">
              <a:defRPr sz="2700" b="1">
                <a:solidFill>
                  <a:srgbClr val="172653"/>
                </a:solidFill>
              </a:defRPr>
            </a:lvl2pPr>
            <a:lvl3pPr algn="l">
              <a:defRPr sz="2700" b="1">
                <a:solidFill>
                  <a:srgbClr val="172653"/>
                </a:solidFill>
              </a:defRPr>
            </a:lvl3pPr>
            <a:lvl4pPr algn="l">
              <a:defRPr sz="2700" b="1">
                <a:solidFill>
                  <a:srgbClr val="172653"/>
                </a:solidFill>
              </a:defRPr>
            </a:lvl4pPr>
            <a:lvl5pPr algn="l">
              <a:defRPr sz="2700" b="1">
                <a:solidFill>
                  <a:srgbClr val="172653"/>
                </a:solidFill>
              </a:defRPr>
            </a:lvl5pPr>
            <a:lvl6pPr algn="l">
              <a:defRPr sz="2700" b="1">
                <a:solidFill>
                  <a:srgbClr val="172653"/>
                </a:solidFill>
              </a:defRPr>
            </a:lvl6pPr>
            <a:lvl7pPr algn="l">
              <a:defRPr sz="2700" b="1">
                <a:solidFill>
                  <a:srgbClr val="172653"/>
                </a:solidFill>
              </a:defRPr>
            </a:lvl7pPr>
            <a:lvl8pPr algn="l">
              <a:defRPr sz="2700" b="1">
                <a:solidFill>
                  <a:srgbClr val="172653"/>
                </a:solidFill>
              </a:defRPr>
            </a:lvl8pPr>
            <a:lvl9pPr algn="l">
              <a:defRPr sz="27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2653"/>
                </a:solidFill>
              </a:defRPr>
            </a:pPr>
            <a:r>
              <a:rPr sz="2700" b="1">
                <a:solidFill>
                  <a:srgbClr val="172653"/>
                </a:solidFill>
              </a:rPr>
              <a:t>“오늘 누가 왔어?”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C54F2-CA32-42DF-BE27-33C0DC26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24324B"/>
                </a:solidFill>
              </a:defRPr>
            </a:defPPr>
            <a:lvl1pPr algn="l">
              <a:defRPr sz="1875" b="0">
                <a:solidFill>
                  <a:srgbClr val="24324B"/>
                </a:solidFill>
              </a:defRPr>
            </a:lvl1pPr>
            <a:lvl2pPr algn="l">
              <a:defRPr sz="1875" b="0">
                <a:solidFill>
                  <a:srgbClr val="24324B"/>
                </a:solidFill>
              </a:defRPr>
            </a:lvl2pPr>
            <a:lvl3pPr algn="l">
              <a:defRPr sz="1875" b="0">
                <a:solidFill>
                  <a:srgbClr val="24324B"/>
                </a:solidFill>
              </a:defRPr>
            </a:lvl3pPr>
            <a:lvl4pPr algn="l">
              <a:defRPr sz="1875" b="0">
                <a:solidFill>
                  <a:srgbClr val="24324B"/>
                </a:solidFill>
              </a:defRPr>
            </a:lvl4pPr>
            <a:lvl5pPr algn="l">
              <a:defRPr sz="1875" b="0">
                <a:solidFill>
                  <a:srgbClr val="24324B"/>
                </a:solidFill>
              </a:defRPr>
            </a:lvl5pPr>
            <a:lvl6pPr algn="l">
              <a:defRPr sz="1875" b="0">
                <a:solidFill>
                  <a:srgbClr val="24324B"/>
                </a:solidFill>
              </a:defRPr>
            </a:lvl6pPr>
            <a:lvl7pPr algn="l">
              <a:defRPr sz="1875" b="0">
                <a:solidFill>
                  <a:srgbClr val="24324B"/>
                </a:solidFill>
              </a:defRPr>
            </a:lvl7pPr>
            <a:lvl8pPr algn="l">
              <a:defRPr sz="1875" b="0">
                <a:solidFill>
                  <a:srgbClr val="24324B"/>
                </a:solidFill>
              </a:defRPr>
            </a:lvl8pPr>
            <a:lvl9pPr algn="l">
              <a:defRPr sz="187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324B"/>
                </a:solidFill>
              </a:defRPr>
            </a:pPr>
            <a:r>
              <a:rPr sz="1875" b="0">
                <a:solidFill>
                  <a:srgbClr val="24324B"/>
                </a:solidFill>
              </a:rPr>
              <a:t>저장된 방문 기록을 찾아 답하고, 하루의 주요 이벤트를 요약</a:t>
            </a:r>
          </a:p>
        </p:txBody>
      </p:sp>
      <p:sp>
        <p:nvSpPr>
          <p:cNvPr id="11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38A6BA2-9444-400C-B1E5-C5A674D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53000"/>
            <a:ext cx="1485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478CF-0B3E-4017-97DE-8C550ED5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F3E14-3F5F-4FCB-858A-678E029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960DB-A298-4F8D-8049-CD2A530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현관 모드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1E939-D02D-4BBC-B608-E60A53B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로그인 후 모드 선택</a:t>
            </a:r>
          </a:p>
        </p:txBody>
      </p:sp>
      <p:sp>
        <p:nvSpPr>
          <p:cNvPr id="16" name="result-01">
            <a:extLst xmlns:a="http://schemas.openxmlformats.org/drawingml/2006/main">
              <a:ext uri="{FF2B5EF4-FFF2-40B4-BE49-F238E27FC236}">
                <a16:creationId xmlns:a16="http://schemas.microsoft.com/office/drawing/2014/main" id="{1D35624E-9F64-4650-B592-200B3A9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D312E-F9E7-4270-B150-64B33C6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292F4-6E9F-4716-905F-77C3C242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카메라·마이크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연결 상태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2A931-C7DE-4B80-B4E9-4F29490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56DB5-F1B6-4025-9167-D9F2F22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F0C1E-4CC7-4B8A-AD50-184BF687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이벤트 발생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AE094-4107-4550-A10A-CEF83F57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방문자가 머무르고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초인종 소리 재생</a:t>
            </a:r>
          </a:p>
        </p:txBody>
      </p:sp>
      <p:sp>
        <p:nvSpPr>
          <p:cNvPr id="23" name="result-02">
            <a:extLst xmlns:a="http://schemas.openxmlformats.org/drawingml/2006/main">
              <a:ext uri="{FF2B5EF4-FFF2-40B4-BE49-F238E27FC236}">
                <a16:creationId xmlns:a16="http://schemas.microsoft.com/office/drawing/2014/main" id="{2ECD4980-6958-4C5E-8491-DB904286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6DE1A-64B4-4ABD-86A0-93503124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A3B18-2DBE-4AFE-9AB2-BDF68B2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방문·소리 이벤트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저장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68CA1-0481-49C8-BAED-1484DFA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F1894-9B25-4D64-B147-23F5341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8BE7B-51CB-4D7C-A887-E161C80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기록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1EB75-5450-465D-BE24-C7AF9BA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이벤트 목록에서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해당 기록 선택</a:t>
            </a:r>
          </a:p>
        </p:txBody>
      </p:sp>
      <p:sp>
        <p:nvSpPr>
          <p:cNvPr id="30" name="result-03">
            <a:extLst xmlns:a="http://schemas.openxmlformats.org/drawingml/2006/main">
              <a:ext uri="{FF2B5EF4-FFF2-40B4-BE49-F238E27FC236}">
                <a16:creationId xmlns:a16="http://schemas.microsoft.com/office/drawing/2014/main" id="{4DBAA094-3FD5-4E10-B87E-30A98DC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6FDAD-163F-41EE-8F7F-A03848A5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08E86-4B48-4E4B-916C-34E61D5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시간·종류·첨부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내용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F7A6BE-10F8-42D9-A27C-4C58287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11AF41-1A53-41F6-9352-62E15E8E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41DC7B-5FB9-4878-9124-EA50510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자연어 조회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29BADF-C8A0-471A-A200-4B36FF5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“오늘 방문 기록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알려줘” 질문</a:t>
            </a:r>
          </a:p>
        </p:txBody>
      </p:sp>
      <p:sp>
        <p:nvSpPr>
          <p:cNvPr id="37" name="result-04">
            <a:extLst xmlns:a="http://schemas.openxmlformats.org/drawingml/2006/main">
              <a:ext uri="{FF2B5EF4-FFF2-40B4-BE49-F238E27FC236}">
                <a16:creationId xmlns:a16="http://schemas.microsoft.com/office/drawing/2014/main" id="{109FD5EE-542A-4312-9031-2C81148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D01408-7704-42C3-AFEB-B26E334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5EE36A-90A1-4AFE-8A92-9E23A898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저장된 기록 기반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답변 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D6549-CF44-4033-B226-D1B42E2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B0B685-0BCB-4EE5-8DBD-2D1D02F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6AF620-4E14-4A4E-BC6F-335E24B0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하루 브리핑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CC908E-1D21-4617-B5CC-C91692E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브리핑 생성 후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현재 화면 보기</a:t>
            </a:r>
          </a:p>
        </p:txBody>
      </p:sp>
      <p:sp>
        <p:nvSpPr>
          <p:cNvPr id="44" name="result-05">
            <a:extLst xmlns:a="http://schemas.openxmlformats.org/drawingml/2006/main">
              <a:ext uri="{FF2B5EF4-FFF2-40B4-BE49-F238E27FC236}">
                <a16:creationId xmlns:a16="http://schemas.microsoft.com/office/drawing/2014/main" id="{CCB978BD-385A-44D8-BE0B-C2FA407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182FDE-06B1-40B3-9CEB-16B72E3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87D7CE"/>
                </a:solidFill>
              </a:defRPr>
            </a:defPPr>
            <a:lvl1pPr algn="l">
              <a:defRPr sz="1425" b="1">
                <a:solidFill>
                  <a:srgbClr val="87D7CE"/>
                </a:solidFill>
              </a:defRPr>
            </a:lvl1pPr>
            <a:lvl2pPr algn="l">
              <a:defRPr sz="1425" b="1">
                <a:solidFill>
                  <a:srgbClr val="87D7CE"/>
                </a:solidFill>
              </a:defRPr>
            </a:lvl2pPr>
            <a:lvl3pPr algn="l">
              <a:defRPr sz="1425" b="1">
                <a:solidFill>
                  <a:srgbClr val="87D7CE"/>
                </a:solidFill>
              </a:defRPr>
            </a:lvl3pPr>
            <a:lvl4pPr algn="l">
              <a:defRPr sz="1425" b="1">
                <a:solidFill>
                  <a:srgbClr val="87D7CE"/>
                </a:solidFill>
              </a:defRPr>
            </a:lvl4pPr>
            <a:lvl5pPr algn="l">
              <a:defRPr sz="1425" b="1">
                <a:solidFill>
                  <a:srgbClr val="87D7CE"/>
                </a:solidFill>
              </a:defRPr>
            </a:lvl5pPr>
            <a:lvl6pPr algn="l">
              <a:defRPr sz="1425" b="1">
                <a:solidFill>
                  <a:srgbClr val="87D7CE"/>
                </a:solidFill>
              </a:defRPr>
            </a:lvl6pPr>
            <a:lvl7pPr algn="l">
              <a:defRPr sz="1425" b="1">
                <a:solidFill>
                  <a:srgbClr val="87D7CE"/>
                </a:solidFill>
              </a:defRPr>
            </a:lvl7pPr>
            <a:lvl8pPr algn="l">
              <a:defRPr sz="1425" b="1">
                <a:solidFill>
                  <a:srgbClr val="87D7CE"/>
                </a:solidFill>
              </a:defRPr>
            </a:lvl8pPr>
            <a:lvl9pPr algn="l">
              <a:defRPr sz="1425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7D7CE"/>
                </a:solidFill>
              </a:defRPr>
            </a:pPr>
            <a:r>
              <a:rPr sz="1425" b="1">
                <a:solidFill>
                  <a:srgbClr val="87D7CE"/>
                </a:solidFill>
              </a:rPr>
              <a:t>확인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B04597-E552-4162-BEF8-8696920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하루 요약과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현재 집 사진 확인</a:t>
            </a:r>
          </a:p>
        </p:txBody>
      </p:sp>
      <p:sp>
        <p:nvSpPr>
          <p:cNvPr id="47" name="demo-note">
            <a:extLst xmlns:a="http://schemas.openxmlformats.org/drawingml/2006/main">
              <a:ext uri="{FF2B5EF4-FFF2-40B4-BE49-F238E27FC236}">
                <a16:creationId xmlns:a16="http://schemas.microsoft.com/office/drawing/2014/main" id="{BB3D310F-D8D6-4084-9B97-08B6AF3D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20125"/>
            <a:ext cx="18097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A7C8B3-12F5-4248-B47E-B280672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8773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653"/>
                </a:solidFill>
              </a:defRPr>
            </a:defPPr>
            <a:lvl1pPr algn="l">
              <a:defRPr sz="1650" b="1">
                <a:solidFill>
                  <a:srgbClr val="172653"/>
                </a:solidFill>
              </a:defRPr>
            </a:lvl1pPr>
            <a:lvl2pPr algn="l">
              <a:defRPr sz="1650" b="1">
                <a:solidFill>
                  <a:srgbClr val="172653"/>
                </a:solidFill>
              </a:defRPr>
            </a:lvl2pPr>
            <a:lvl3pPr algn="l">
              <a:defRPr sz="1650" b="1">
                <a:solidFill>
                  <a:srgbClr val="172653"/>
                </a:solidFill>
              </a:defRPr>
            </a:lvl3pPr>
            <a:lvl4pPr algn="l">
              <a:defRPr sz="1650" b="1">
                <a:solidFill>
                  <a:srgbClr val="172653"/>
                </a:solidFill>
              </a:defRPr>
            </a:lvl4pPr>
            <a:lvl5pPr algn="l">
              <a:defRPr sz="1650" b="1">
                <a:solidFill>
                  <a:srgbClr val="172653"/>
                </a:solidFill>
              </a:defRPr>
            </a:lvl5pPr>
            <a:lvl6pPr algn="l">
              <a:defRPr sz="1650" b="1">
                <a:solidFill>
                  <a:srgbClr val="172653"/>
                </a:solidFill>
              </a:defRPr>
            </a:lvl6pPr>
            <a:lvl7pPr algn="l">
              <a:defRPr sz="1650" b="1">
                <a:solidFill>
                  <a:srgbClr val="172653"/>
                </a:solidFill>
              </a:defRPr>
            </a:lvl7pPr>
            <a:lvl8pPr algn="l">
              <a:defRPr sz="1650" b="1">
                <a:solidFill>
                  <a:srgbClr val="172653"/>
                </a:solidFill>
              </a:defRPr>
            </a:lvl8pPr>
            <a:lvl9pPr algn="l">
              <a:defRPr sz="165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653"/>
                </a:solidFill>
              </a:defRPr>
            </a:pPr>
            <a:r>
              <a:rPr sz="1650" b="1">
                <a:solidFill>
                  <a:srgbClr val="172653"/>
                </a:solidFill>
              </a:rPr>
              <a:t>시연 준비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A32EA6-DB52-41B4-BAC9-0B81CAA8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8392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모드 반영과 이벤트 저장을 확인한 뒤 다음 단계 진행 · 위험 알림은 검증한 경보음으로 선택 시연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8B9BB-F5F4-4CF5-9A92-7D289495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23925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C94B35"/>
                </a:solidFill>
              </a:defRPr>
            </a:defPPr>
            <a:lvl1pPr algn="l">
              <a:defRPr sz="1425" b="0">
                <a:solidFill>
                  <a:srgbClr val="C94B35"/>
                </a:solidFill>
              </a:defRPr>
            </a:lvl1pPr>
            <a:lvl2pPr algn="l">
              <a:defRPr sz="1425" b="0">
                <a:solidFill>
                  <a:srgbClr val="C94B35"/>
                </a:solidFill>
              </a:defRPr>
            </a:lvl2pPr>
            <a:lvl3pPr algn="l">
              <a:defRPr sz="1425" b="0">
                <a:solidFill>
                  <a:srgbClr val="C94B35"/>
                </a:solidFill>
              </a:defRPr>
            </a:lvl3pPr>
            <a:lvl4pPr algn="l">
              <a:defRPr sz="1425" b="0">
                <a:solidFill>
                  <a:srgbClr val="C94B35"/>
                </a:solidFill>
              </a:defRPr>
            </a:lvl4pPr>
            <a:lvl5pPr algn="l">
              <a:defRPr sz="1425" b="0">
                <a:solidFill>
                  <a:srgbClr val="C94B35"/>
                </a:solidFill>
              </a:defRPr>
            </a:lvl5pPr>
            <a:lvl6pPr algn="l">
              <a:defRPr sz="1425" b="0">
                <a:solidFill>
                  <a:srgbClr val="C94B35"/>
                </a:solidFill>
              </a:defRPr>
            </a:lvl6pPr>
            <a:lvl7pPr algn="l">
              <a:defRPr sz="1425" b="0">
                <a:solidFill>
                  <a:srgbClr val="C94B35"/>
                </a:solidFill>
              </a:defRPr>
            </a:lvl7pPr>
            <a:lvl8pPr algn="l">
              <a:defRPr sz="1425" b="0">
                <a:solidFill>
                  <a:srgbClr val="C94B35"/>
                </a:solidFill>
              </a:defRPr>
            </a:lvl8pPr>
            <a:lvl9pPr algn="l">
              <a:defRPr sz="1425" b="0">
                <a:solidFill>
                  <a:srgbClr val="C94B3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94B35"/>
                </a:solidFill>
              </a:defRPr>
            </a:pPr>
            <a:r>
              <a:rPr sz="1425" b="0">
                <a:solidFill>
                  <a:srgbClr val="C94B35"/>
                </a:solidFill>
              </a:rPr>
              <a:t>방문자의 이름이나 가족 여부를 식별하는 기능은 시연 범위에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706178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2026-10-26T00:36:10.0310000Z</dcterms:created>
  <dcterms:modified xsi:type="dcterms:W3CDTF">2026-10-26T00:36:10.0310000Z</dcterms:modified>
</coreProperties>
</file>