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97" r:id="rId1"/>
  </p:sldMasterIdLst>
  <p:notesMasterIdLst>
    <p:notesMasterId r:id="rId19"/>
  </p:notesMasterIdLst>
  <p:sldIdLst>
    <p:sldId id="256" r:id="rId2"/>
    <p:sldId id="343" r:id="rId3"/>
    <p:sldId id="377" r:id="rId4"/>
    <p:sldId id="380" r:id="rId25"/>
    <p:sldId id="381" r:id="rId26"/>
    <p:sldId id="367" r:id="rId5"/>
    <p:sldId id="311" r:id="rId6"/>
    <p:sldId id="326" r:id="rId7"/>
    <p:sldId id="370" r:id="rId8"/>
    <p:sldId id="358" r:id="rId9"/>
    <p:sldId id="379" r:id="rId24"/>
    <p:sldId id="328" r:id="rId10"/>
    <p:sldId id="330" r:id="rId11"/>
    <p:sldId id="352" r:id="rId12"/>
    <p:sldId id="374" r:id="rId13"/>
    <p:sldId id="365" r:id="rId14"/>
    <p:sldId id="371" r:id="rId15"/>
    <p:sldId id="378" r:id="rId16"/>
    <p:sldId id="373" r:id="rId17"/>
    <p:sldId id="315" r:id="rId18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32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E5E"/>
    <a:srgbClr val="0E5A78"/>
    <a:srgbClr val="27AE60"/>
    <a:srgbClr val="9E4466"/>
    <a:srgbClr val="F39C12"/>
    <a:srgbClr val="0F6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737" autoAdjust="0"/>
  </p:normalViewPr>
  <p:slideViewPr>
    <p:cSldViewPr snapToGrid="0">
      <p:cViewPr varScale="1">
        <p:scale>
          <a:sx n="54" d="100"/>
          <a:sy n="54" d="100"/>
        </p:scale>
        <p:origin x="102" y="582"/>
      </p:cViewPr>
      <p:guideLst>
        <p:guide orient="horz" pos="2632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Slide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Slide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Slide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F3A67-3C79-D37F-5A45-67F2C6B1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0572A4F-BB77-125D-16A3-E9104022D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03D2576C-16EE-63B7-23C6-885247A21B9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24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2BB979-4E95-57B2-1B42-ED7C2F44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A1409E15-6F7A-A44F-29F1-9D06B90B1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2C4C680F-90BC-F9A8-ED40-66678DDF2D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70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188F8F-D2E6-790A-6AAC-C3CBC2C0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9E6BADC-D397-77B0-8F1F-4EB79372A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F2CB41A-7ED4-76B0-29D9-D15679592A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062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4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C212C1-8A0C-7C09-7FE2-FBAC68F2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1860AD7B-8482-AD5E-748B-935CCF9DA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9B88532-8134-76A6-BE2B-BBE511DF68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61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4325DD-CD14-BD2A-1E05-5C14E062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435EC19-DCD2-F27C-5AD4-3E76A52F2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590B82ED-5E18-64AC-58BD-4451AE1649E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165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936FEA-35EB-7E5A-0E3C-DC632373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552F011-EF9C-A618-3DAF-164FFCECD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B2B99B6-F596-BC51-3D02-AA6DE8A3C2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7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1E9A39-999D-40F5-7475-46D306B2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85818BFB-302A-86DF-5B28-338426D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36B723F7-6C13-4032-4091-DB7F3C67DA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21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DFB51-B494-9A4B-5712-8C9D8132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946259E-E76C-444C-83FB-8AB855DA3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633335C-D328-28B5-3268-A04DE9CB05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584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ED8C7D-C320-B35D-7D2E-377FBD64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788BFD5-000F-941C-A0BF-D44E57AC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B5A97E7C-10CF-A364-ADD3-A9A5A852ED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220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3B81D-EB73-9E4E-96DE-9915C049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FF9AD070-BB56-4D47-04FB-7CC1171F3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EAA4757E-E92B-4B23-059D-9B9E867971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395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200037-BA57-8959-A95B-E866BB67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7C86720-3884-A9BC-8BDC-12621A09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8265F65C-9021-429C-A680-680CE5026C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50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3FD0FA-3EFC-DD39-2936-BE6C4CB1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7D8719D3-AED1-20A6-88FE-F8060DC9F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A743E54C-036C-6E08-EFA1-C66CE60C56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754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90F912-3CE2-CE95-361C-92EF3C4A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D1BB9080-7DF3-A31D-09E7-D3CE92DE2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BDBA853-CEA5-5DFF-3D5A-7EEEFD78D8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559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44747C9-2B0C-54ED-5188-F1AFA35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7E29E179-7FFC-73C3-FC3A-0A432BB7C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F7CB3FF0-7E8F-3A2E-304A-E5C7FCA872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471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118B06-14AC-4D6F-6F48-A50D9EA8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36E62115-D8A4-678E-C73C-A3A22B725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1A77180-0157-126C-6596-EA4886FA54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526674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yamnet/yamnet_realworld_eval.ipynb 저장 실행 결과 셀 16, 24, 47. 기존 macro F1 0.510, 자체평가 0.699, 음원 단위 교차검증 0.610. Precision 및 Recall은 셀 24의 교차검증 값. 음원 하나를 통째로 제외하고 나머지로 설정을 선택한 뒤 제외한 음원을 평가. 자체평가 점수는 선택 데이터 재사용으로 낙관적이므로 주지표에 사용하지 않음. 비명·고함은 예측 양성 0건으로 노트북의 zero-division 처리에 따라 Precision 0 표시. 동일 날·장소·마이크의 개발 표본이며 장시간 배경 소음과 운영 성능은 검증 안 됨. 규칙 및 임계값의 운영 반영을 의미하지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기준일: 2026-10-26. 비교 대상은 명시한 두 모델의 공식 자료이며 전체 시장에서의 독점적 우위를 뜻하지 않음. Tapo C225 V2 공식 사양: https://www.tapo.com/us/product/tapo-c225-security-camera/v2/1-pack/specs/ (사람·차량·반려동물, 울음·야옹·짖음·유리 파손, 로컬 microSD 및 유료 Tapo Care, 시스템 알림). eufy E220 공식 제품 페이지: https://www.eufy.com/products/t8410121 (사람·반려동물·오디오·울음 감지, 알림, microSD·선택 클라우드). 자연어로 과거 이벤트를 질의하는 기능과 하루 자연어 브리핑은 위 모델 자료에서 확인되지 않아 미기재로 표시. 스마트 스피커의 음성 제어와 기록에 대한 자연어 질의는 구분. HOME-TALK 근거: web/src/screens/HomeScreen.jsx, web/src/context/AppDataContext.jsx, web/src/lib/api.js, src/mcp/tools/event.tools.js, src/mcp/tools/camera.tools.js, vision/ 및 yamnet/ 평가 기록. 영상과 소리는 개별 감지 후 이벤트로 통합하며 하나의 다중모달 모델이 공동 추론한다고 주장하지 않음. 소리 6종은 구현 범위이며 모두 높은 검출률을 보장하지 않음(비명·고함 교차검증 0). 운영 기기·배포 종단 간 동작은 본 문서 편집 중 실행하지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예시이며 실제 실행 결과나 고정 지연시간을 보장하지 않음. 사용 흐름은 현재 웹 코드의 현관/거실 모드, 이벤트 목록, 자연어 채팅, 홈 브리핑, 현재 화면 촬영 기능 기준. 시연 전 로그인·네트워크·장치 하트비트·브라우저 알림 허용·구독과 해당 모드 반영을 확인. 설정 변경의 엣지 반영은 하트비트에 따르므로 확정된 초 단위 지연을 제시하지 않음. 현관 모드에서 방문과 초인종을 먼저 시연하고, 위험 알림은 거실 모드에서 별도 검증한 경보음으로 선택 시연. 노트북 경보음 교차검증 Recall이 0.333이므로 아무 음원으로 성공을 가정하지 않음. 방문자의 이름/가족 여부 등 신원 식별을 시연하지 않음. 새 데이터가 서버에 저장된 뒤 질의·브리핑 생성. 실패 시 실제 상태를 설명하며 사전 저장 기록을 사용하면 그 사실을 밝힘. 출처: web/src/screens/HomeScreen.jsx, web/src/lib/api.js, web/src/context/AppDataContext.jsx, src/mcp/tools/event.tools.js, src/mcp/tools/camera.tools.js.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-395926" y="-273377"/>
            <a:ext cx="20767249" cy="11858919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/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/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/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6" name="Google Shape;56;p1"/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/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7" name="Google Shape;53;p1"/>
          <p:cNvSpPr txBox="1"/>
          <p:nvPr/>
        </p:nvSpPr>
        <p:spPr>
          <a:xfrm>
            <a:off x="4176397" y="3687512"/>
            <a:ext cx="11751304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HOME-TALK</a:t>
            </a:r>
          </a:p>
          <a:p>
            <a:pPr algn="ctr">
              <a:defRPr/>
            </a:pP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MCP &amp;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LLM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기반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지능형 홈 모니터링 시스템</a:t>
            </a:r>
            <a:endParaRPr lang="en-US" altLang="ko-KR" sz="44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algn="ctr">
              <a:defRPr/>
            </a:pP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“보이지 않는 순간에도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, </a:t>
            </a: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집 안의 중요한 변화를 감지하다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.”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6F013A-DAB9-5E40-A0B4-9EFFC1B3B8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70FB-B6D5-C8B3-19E9-7B7B7DA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65B0CD4A-F672-112A-FF47-E959F934B7E0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78B0C5EB-46B8-798A-05F0-70138B8560EB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366EE2B4-4AB6-B6E5-B194-1B919FA12251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137B339-EFF2-17ED-11F5-89B5F4B2C6EC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D881C9C4-54BA-A844-5ED8-271653F7864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Introduction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62054B-C1FF-EFC5-4202-4839548A8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252C-C0E3-4E25-924B-56213826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DE339870-3772-7249-7284-98E8D757ACB2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EB72A3AF-4F1A-0F8B-8C16-204D61662C1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692E2FA-1EB1-154C-AF00-3E74C51C5259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9D4F4D1A-887F-7F2E-C025-51A4B2F6BEB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78FFF49A-206A-B355-E25F-06F663C884CF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FDD60FD3-CCCB-A388-12BA-9390018F0D5A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885E43A-13A0-E828-A0C4-B28E36FE638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프로젝트 개요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4B306D-A57E-4098-CD97-181CEFC99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6C973EBA-D708-F4F7-E136-423AB0390FA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ED483191-6A3A-612F-FE7B-8DE068CF63DE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042DBA20-F275-4273-6215-D1800F8A3337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722B767E-E31F-1A39-3EC6-D2669B1B4CB4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1CA09-2E80-11D9-43FD-6DFD70E497C3}"/>
              </a:ext>
            </a:extLst>
          </p:cNvPr>
          <p:cNvSpPr/>
          <p:nvPr/>
        </p:nvSpPr>
        <p:spPr>
          <a:xfrm>
            <a:off x="970895" y="7959603"/>
            <a:ext cx="8220627" cy="2277454"/>
          </a:xfrm>
          <a:prstGeom prst="roundRect">
            <a:avLst>
              <a:gd name="adj" fmla="val 5205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87793E-1705-131D-7E88-6F7F0F610D79}"/>
              </a:ext>
            </a:extLst>
          </p:cNvPr>
          <p:cNvSpPr/>
          <p:nvPr/>
        </p:nvSpPr>
        <p:spPr>
          <a:xfrm>
            <a:off x="1509641" y="8219239"/>
            <a:ext cx="6967118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B8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2803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AF1A16-A774-D089-E38B-AA0CE79500AC}"/>
              </a:ext>
            </a:extLst>
          </p:cNvPr>
          <p:cNvSpPr/>
          <p:nvPr/>
        </p:nvSpPr>
        <p:spPr>
          <a:xfrm>
            <a:off x="1509641" y="8714324"/>
            <a:ext cx="6846493" cy="134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장시간 홈캠 영상을 직접 확인해야 함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상황을 즉시 파악하기 어려움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저장을 넘어, 상황을 자동으로 판단하는 기능이 필요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306356B-6BA0-6563-7078-4AE12643604C}"/>
              </a:ext>
            </a:extLst>
          </p:cNvPr>
          <p:cNvSpPr/>
          <p:nvPr/>
        </p:nvSpPr>
        <p:spPr>
          <a:xfrm>
            <a:off x="1036948" y="6684144"/>
            <a:ext cx="5344998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DD488F7-4A99-627C-A489-DE78C89FE7B4}"/>
              </a:ext>
            </a:extLst>
          </p:cNvPr>
          <p:cNvSpPr/>
          <p:nvPr/>
        </p:nvSpPr>
        <p:spPr>
          <a:xfrm>
            <a:off x="1362496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 가구 및 독거 노인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 상황 발생 시 신속한 인지의 어려움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F3B1F-3C1F-BF9B-9924-6EEB6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5" y="2933193"/>
            <a:ext cx="5482469" cy="36549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3E83D5-590E-F2FC-D0DA-C51DC0F58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4" y="2933193"/>
            <a:ext cx="5482469" cy="36535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C53857-DD1C-356F-F5E5-BD97EB4CD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1492" y="2928863"/>
            <a:ext cx="6553761" cy="3656998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AE6E09C5-CA5D-97A0-696B-FDFC20CDF23D}"/>
              </a:ext>
            </a:extLst>
          </p:cNvPr>
          <p:cNvSpPr/>
          <p:nvPr/>
        </p:nvSpPr>
        <p:spPr>
          <a:xfrm>
            <a:off x="6590835" y="6684144"/>
            <a:ext cx="5070122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4FEA196-4951-EEBC-82D8-4EC387C8215E}"/>
              </a:ext>
            </a:extLst>
          </p:cNvPr>
          <p:cNvSpPr/>
          <p:nvPr/>
        </p:nvSpPr>
        <p:spPr>
          <a:xfrm>
            <a:off x="6859950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맞벌이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 시간 동안의 가정 내 상황 확인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09D504DD-F610-62D7-A653-99E850B6864C}"/>
              </a:ext>
            </a:extLst>
          </p:cNvPr>
          <p:cNvSpPr/>
          <p:nvPr/>
        </p:nvSpPr>
        <p:spPr>
          <a:xfrm>
            <a:off x="11869846" y="6684144"/>
            <a:ext cx="6361593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A97CF7F-FD95-0B77-E0BC-4D2959346D9C}"/>
              </a:ext>
            </a:extLst>
          </p:cNvPr>
          <p:cNvSpPr/>
          <p:nvPr/>
        </p:nvSpPr>
        <p:spPr>
          <a:xfrm>
            <a:off x="12137234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외출 중 주거 안전 및 방범 관리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59139911-7FD3-9D53-C8D2-B4E11174DDE2}"/>
              </a:ext>
            </a:extLst>
          </p:cNvPr>
          <p:cNvSpPr/>
          <p:nvPr/>
        </p:nvSpPr>
        <p:spPr>
          <a:xfrm>
            <a:off x="9191523" y="7947961"/>
            <a:ext cx="9113730" cy="2277453"/>
          </a:xfrm>
          <a:prstGeom prst="roundRect">
            <a:avLst>
              <a:gd name="adj" fmla="val 5161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C4ADBFD-8D20-4A36-3264-DC0BF364E09D}"/>
              </a:ext>
            </a:extLst>
          </p:cNvPr>
          <p:cNvSpPr/>
          <p:nvPr/>
        </p:nvSpPr>
        <p:spPr>
          <a:xfrm>
            <a:off x="9730268" y="8219239"/>
            <a:ext cx="6726526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F2A5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2803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B34321C-9AC9-7796-C860-EB9AE3E2A442}"/>
              </a:ext>
            </a:extLst>
          </p:cNvPr>
          <p:cNvSpPr/>
          <p:nvPr/>
        </p:nvSpPr>
        <p:spPr>
          <a:xfrm>
            <a:off x="9730268" y="8600146"/>
            <a:ext cx="8350341" cy="14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 공백이 발생하는 가정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대상으로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카메라와 마이크를 활용하여 실내 위험 상황과 생활 이벤트를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 감지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보호자에게 알림을 제공하는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홈모니터링 시스템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08832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0243-115E-EEEE-4D16-25F93489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C64155-DFCB-7773-AF84-8E53E1C70FAA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D4FE14DC-FDCB-10CC-CA9B-F5B6DF8D468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84FC652F-2182-047C-BA07-3C1CC3DA707A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818764A4-27FF-CF44-2848-29B44764D87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DE361E9-98FB-9537-27B5-D1E72701AE1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DDC2EDCB-A236-3C01-E789-5E618DBC3E7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95ED0A58-124D-2EB7-B7C6-335B8AEF5E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시스템 구성도</a:t>
            </a:r>
          </a:p>
        </p:txBody>
      </p:sp>
      <p:sp>
        <p:nvSpPr>
          <p:cNvPr id="54" name="내용 개체 틀 2">
            <a:extLst>
              <a:ext uri="{FF2B5EF4-FFF2-40B4-BE49-F238E27FC236}">
                <a16:creationId xmlns:a16="http://schemas.microsoft.com/office/drawing/2014/main" id="{7DE89981-CD67-1640-BD4A-E7F96A766DAD}"/>
              </a:ext>
            </a:extLst>
          </p:cNvPr>
          <p:cNvSpPr txBox="1"/>
          <p:nvPr/>
        </p:nvSpPr>
        <p:spPr>
          <a:xfrm>
            <a:off x="11456089" y="6185607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73A29E32-2687-304A-4E1A-97D181A7868A}"/>
              </a:ext>
            </a:extLst>
          </p:cNvPr>
          <p:cNvSpPr/>
          <p:nvPr/>
        </p:nvSpPr>
        <p:spPr>
          <a:xfrm>
            <a:off x="3497164" y="2462360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5FD19018-7466-68AE-1FDC-7CD52DEF890A}"/>
              </a:ext>
            </a:extLst>
          </p:cNvPr>
          <p:cNvSpPr/>
          <p:nvPr/>
        </p:nvSpPr>
        <p:spPr>
          <a:xfrm>
            <a:off x="8010446" y="2462361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00ED0CF2-2F51-F596-28B1-698AC1305104}"/>
              </a:ext>
            </a:extLst>
          </p:cNvPr>
          <p:cNvSpPr/>
          <p:nvPr/>
        </p:nvSpPr>
        <p:spPr>
          <a:xfrm>
            <a:off x="14391292" y="2462360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CF495AC-7FA4-FCC7-68B2-46735F5F703C}"/>
              </a:ext>
            </a:extLst>
          </p:cNvPr>
          <p:cNvSpPr/>
          <p:nvPr/>
        </p:nvSpPr>
        <p:spPr>
          <a:xfrm>
            <a:off x="3419349" y="2929251"/>
            <a:ext cx="4046390" cy="5135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CCFE33C-6C14-1A3B-EB01-D0CE12EBC605}"/>
              </a:ext>
            </a:extLst>
          </p:cNvPr>
          <p:cNvSpPr/>
          <p:nvPr/>
        </p:nvSpPr>
        <p:spPr>
          <a:xfrm>
            <a:off x="3419349" y="3007066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142254FF-B8EA-8A21-8F9F-FE615BBC0649}"/>
              </a:ext>
            </a:extLst>
          </p:cNvPr>
          <p:cNvSpPr/>
          <p:nvPr/>
        </p:nvSpPr>
        <p:spPr>
          <a:xfrm>
            <a:off x="3419349" y="3473957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09A36B84-E6E4-6ED8-2EBA-C6981C361F2F}"/>
              </a:ext>
            </a:extLst>
          </p:cNvPr>
          <p:cNvSpPr/>
          <p:nvPr/>
        </p:nvSpPr>
        <p:spPr>
          <a:xfrm>
            <a:off x="3652795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17B8AB3-9144-CB59-ABD9-A64CB2CF2F20}"/>
              </a:ext>
            </a:extLst>
          </p:cNvPr>
          <p:cNvSpPr/>
          <p:nvPr/>
        </p:nvSpPr>
        <p:spPr>
          <a:xfrm>
            <a:off x="3652795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FF8B9F9D-EBF9-9799-45EB-DE4848A1935C}"/>
              </a:ext>
            </a:extLst>
          </p:cNvPr>
          <p:cNvSpPr/>
          <p:nvPr/>
        </p:nvSpPr>
        <p:spPr>
          <a:xfrm>
            <a:off x="5520359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47D24FC1-C7FE-C108-5304-686E0B9BB723}"/>
              </a:ext>
            </a:extLst>
          </p:cNvPr>
          <p:cNvSpPr/>
          <p:nvPr/>
        </p:nvSpPr>
        <p:spPr>
          <a:xfrm>
            <a:off x="5520359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93" name="Text 13">
            <a:extLst>
              <a:ext uri="{FF2B5EF4-FFF2-40B4-BE49-F238E27FC236}">
                <a16:creationId xmlns:a16="http://schemas.microsoft.com/office/drawing/2014/main" id="{2AF6B34B-51C6-C52B-B161-B7F109D18B1B}"/>
              </a:ext>
            </a:extLst>
          </p:cNvPr>
          <p:cNvSpPr/>
          <p:nvPr/>
        </p:nvSpPr>
        <p:spPr>
          <a:xfrm>
            <a:off x="3652795" y="5419337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194" name="Shape 14">
            <a:extLst>
              <a:ext uri="{FF2B5EF4-FFF2-40B4-BE49-F238E27FC236}">
                <a16:creationId xmlns:a16="http://schemas.microsoft.com/office/drawing/2014/main" id="{B5B7A458-350C-E43A-A863-2F434717EA08}"/>
              </a:ext>
            </a:extLst>
          </p:cNvPr>
          <p:cNvSpPr/>
          <p:nvPr/>
        </p:nvSpPr>
        <p:spPr>
          <a:xfrm>
            <a:off x="3652795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FFD9C1F2-C761-B621-2D17-B2643D216DD2}"/>
              </a:ext>
            </a:extLst>
          </p:cNvPr>
          <p:cNvSpPr/>
          <p:nvPr/>
        </p:nvSpPr>
        <p:spPr>
          <a:xfrm>
            <a:off x="3633341" y="650875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  <a:p>
            <a:pPr algn="ctr"/>
            <a:endParaRPr lang="en-US" sz="1600" dirty="0"/>
          </a:p>
        </p:txBody>
      </p:sp>
      <p:sp>
        <p:nvSpPr>
          <p:cNvPr id="196" name="Text 16">
            <a:extLst>
              <a:ext uri="{FF2B5EF4-FFF2-40B4-BE49-F238E27FC236}">
                <a16:creationId xmlns:a16="http://schemas.microsoft.com/office/drawing/2014/main" id="{8E757CAF-FFC7-E01F-15D3-5A79EF5113A9}"/>
              </a:ext>
            </a:extLst>
          </p:cNvPr>
          <p:cNvSpPr/>
          <p:nvPr/>
        </p:nvSpPr>
        <p:spPr>
          <a:xfrm>
            <a:off x="3652795" y="6781103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전처리</a:t>
            </a:r>
            <a:endParaRPr lang="en-US" dirty="0"/>
          </a:p>
        </p:txBody>
      </p:sp>
      <p:sp>
        <p:nvSpPr>
          <p:cNvPr id="197" name="Shape 17">
            <a:extLst>
              <a:ext uri="{FF2B5EF4-FFF2-40B4-BE49-F238E27FC236}">
                <a16:creationId xmlns:a16="http://schemas.microsoft.com/office/drawing/2014/main" id="{74E549E0-4DC3-55A9-EEFC-24E17C4FE246}"/>
              </a:ext>
            </a:extLst>
          </p:cNvPr>
          <p:cNvSpPr/>
          <p:nvPr/>
        </p:nvSpPr>
        <p:spPr>
          <a:xfrm>
            <a:off x="5520359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8" name="Text 18">
            <a:extLst>
              <a:ext uri="{FF2B5EF4-FFF2-40B4-BE49-F238E27FC236}">
                <a16:creationId xmlns:a16="http://schemas.microsoft.com/office/drawing/2014/main" id="{378E1580-812B-3CF4-14CE-6CBD1AEF5FC0}"/>
              </a:ext>
            </a:extLst>
          </p:cNvPr>
          <p:cNvSpPr/>
          <p:nvPr/>
        </p:nvSpPr>
        <p:spPr>
          <a:xfrm>
            <a:off x="5520359" y="635312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199" name="Text 19">
            <a:extLst>
              <a:ext uri="{FF2B5EF4-FFF2-40B4-BE49-F238E27FC236}">
                <a16:creationId xmlns:a16="http://schemas.microsoft.com/office/drawing/2014/main" id="{2B8CAB8C-DAF9-6B1B-CF21-1B49F6A3E42E}"/>
              </a:ext>
            </a:extLst>
          </p:cNvPr>
          <p:cNvSpPr/>
          <p:nvPr/>
        </p:nvSpPr>
        <p:spPr>
          <a:xfrm>
            <a:off x="5520359" y="666438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환경음 분류</a:t>
            </a:r>
            <a:endParaRPr lang="en-US" dirty="0"/>
          </a:p>
        </p:txBody>
      </p:sp>
      <p:sp>
        <p:nvSpPr>
          <p:cNvPr id="200" name="Text 20">
            <a:extLst>
              <a:ext uri="{FF2B5EF4-FFF2-40B4-BE49-F238E27FC236}">
                <a16:creationId xmlns:a16="http://schemas.microsoft.com/office/drawing/2014/main" id="{FEA76004-C95A-4248-B0B4-3BF0EABA2BBD}"/>
              </a:ext>
            </a:extLst>
          </p:cNvPr>
          <p:cNvSpPr/>
          <p:nvPr/>
        </p:nvSpPr>
        <p:spPr>
          <a:xfrm>
            <a:off x="3652795" y="7286902"/>
            <a:ext cx="3579499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</a:t>
            </a:r>
            <a:r>
              <a:rPr lang="en-US" sz="1600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필터링</a:t>
            </a:r>
            <a:endParaRPr lang="en-US" sz="1600" dirty="0"/>
          </a:p>
        </p:txBody>
      </p:sp>
      <p:sp>
        <p:nvSpPr>
          <p:cNvPr id="201" name="Shape 21">
            <a:extLst>
              <a:ext uri="{FF2B5EF4-FFF2-40B4-BE49-F238E27FC236}">
                <a16:creationId xmlns:a16="http://schemas.microsoft.com/office/drawing/2014/main" id="{221349DB-3E57-4220-6AFB-ADAA75F9780B}"/>
              </a:ext>
            </a:extLst>
          </p:cNvPr>
          <p:cNvSpPr/>
          <p:nvPr/>
        </p:nvSpPr>
        <p:spPr>
          <a:xfrm>
            <a:off x="8010445" y="2929251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2" name="Text 22">
            <a:extLst>
              <a:ext uri="{FF2B5EF4-FFF2-40B4-BE49-F238E27FC236}">
                <a16:creationId xmlns:a16="http://schemas.microsoft.com/office/drawing/2014/main" id="{EA4C5D6B-B6A7-F23E-EE74-4ADC91BFBB83}"/>
              </a:ext>
            </a:extLst>
          </p:cNvPr>
          <p:cNvSpPr/>
          <p:nvPr/>
        </p:nvSpPr>
        <p:spPr>
          <a:xfrm>
            <a:off x="7932631" y="3007066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03" name="Shape 23">
            <a:extLst>
              <a:ext uri="{FF2B5EF4-FFF2-40B4-BE49-F238E27FC236}">
                <a16:creationId xmlns:a16="http://schemas.microsoft.com/office/drawing/2014/main" id="{89F76593-5DCC-4DE2-C714-5458F47FB112}"/>
              </a:ext>
            </a:extLst>
          </p:cNvPr>
          <p:cNvSpPr/>
          <p:nvPr/>
        </p:nvSpPr>
        <p:spPr>
          <a:xfrm>
            <a:off x="8088261" y="4377641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4" name="Text 24">
            <a:extLst>
              <a:ext uri="{FF2B5EF4-FFF2-40B4-BE49-F238E27FC236}">
                <a16:creationId xmlns:a16="http://schemas.microsoft.com/office/drawing/2014/main" id="{D79F3AB7-5A99-AE08-ABBD-228A76C125E0}"/>
              </a:ext>
            </a:extLst>
          </p:cNvPr>
          <p:cNvSpPr/>
          <p:nvPr/>
        </p:nvSpPr>
        <p:spPr>
          <a:xfrm>
            <a:off x="8088261" y="4455456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05" name="Text 25">
            <a:extLst>
              <a:ext uri="{FF2B5EF4-FFF2-40B4-BE49-F238E27FC236}">
                <a16:creationId xmlns:a16="http://schemas.microsoft.com/office/drawing/2014/main" id="{7E6DA675-36E6-4811-A715-35149D204D56}"/>
              </a:ext>
            </a:extLst>
          </p:cNvPr>
          <p:cNvSpPr/>
          <p:nvPr/>
        </p:nvSpPr>
        <p:spPr>
          <a:xfrm>
            <a:off x="8088261" y="5077978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206" name="Shape 26">
            <a:extLst>
              <a:ext uri="{FF2B5EF4-FFF2-40B4-BE49-F238E27FC236}">
                <a16:creationId xmlns:a16="http://schemas.microsoft.com/office/drawing/2014/main" id="{33F84AFA-EB42-3EC8-0C13-C0E19E600A78}"/>
              </a:ext>
            </a:extLst>
          </p:cNvPr>
          <p:cNvSpPr/>
          <p:nvPr/>
        </p:nvSpPr>
        <p:spPr>
          <a:xfrm>
            <a:off x="10928516" y="4381311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7" name="Text 27">
            <a:extLst>
              <a:ext uri="{FF2B5EF4-FFF2-40B4-BE49-F238E27FC236}">
                <a16:creationId xmlns:a16="http://schemas.microsoft.com/office/drawing/2014/main" id="{5EA538F5-BE37-E23A-AF0F-1BCE0692C861}"/>
              </a:ext>
            </a:extLst>
          </p:cNvPr>
          <p:cNvSpPr/>
          <p:nvPr/>
        </p:nvSpPr>
        <p:spPr>
          <a:xfrm>
            <a:off x="10928516" y="445912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08" name="Text 28">
            <a:extLst>
              <a:ext uri="{FF2B5EF4-FFF2-40B4-BE49-F238E27FC236}">
                <a16:creationId xmlns:a16="http://schemas.microsoft.com/office/drawing/2014/main" id="{6ED25811-5FA0-B737-D11C-0B7BED05BB41}"/>
              </a:ext>
            </a:extLst>
          </p:cNvPr>
          <p:cNvSpPr/>
          <p:nvPr/>
        </p:nvSpPr>
        <p:spPr>
          <a:xfrm>
            <a:off x="10928516" y="4926018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09" name="Shape 31">
            <a:extLst>
              <a:ext uri="{FF2B5EF4-FFF2-40B4-BE49-F238E27FC236}">
                <a16:creationId xmlns:a16="http://schemas.microsoft.com/office/drawing/2014/main" id="{C266B2C2-3A57-0873-86FE-F4BB553D05E8}"/>
              </a:ext>
            </a:extLst>
          </p:cNvPr>
          <p:cNvSpPr/>
          <p:nvPr/>
        </p:nvSpPr>
        <p:spPr>
          <a:xfrm>
            <a:off x="8166076" y="7053456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0" name="Text 32">
            <a:extLst>
              <a:ext uri="{FF2B5EF4-FFF2-40B4-BE49-F238E27FC236}">
                <a16:creationId xmlns:a16="http://schemas.microsoft.com/office/drawing/2014/main" id="{3A600E2E-272E-AA87-F057-7090132A24F6}"/>
              </a:ext>
            </a:extLst>
          </p:cNvPr>
          <p:cNvSpPr/>
          <p:nvPr/>
        </p:nvSpPr>
        <p:spPr>
          <a:xfrm>
            <a:off x="8166076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11" name="Text 33">
            <a:extLst>
              <a:ext uri="{FF2B5EF4-FFF2-40B4-BE49-F238E27FC236}">
                <a16:creationId xmlns:a16="http://schemas.microsoft.com/office/drawing/2014/main" id="{58D4C318-3538-3F6E-2ECA-29FA33D391EE}"/>
              </a:ext>
            </a:extLst>
          </p:cNvPr>
          <p:cNvSpPr/>
          <p:nvPr/>
        </p:nvSpPr>
        <p:spPr>
          <a:xfrm>
            <a:off x="8166076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12" name="Text 34">
            <a:extLst>
              <a:ext uri="{FF2B5EF4-FFF2-40B4-BE49-F238E27FC236}">
                <a16:creationId xmlns:a16="http://schemas.microsoft.com/office/drawing/2014/main" id="{85F2F5B6-5078-D5E8-B961-AFA9D489752B}"/>
              </a:ext>
            </a:extLst>
          </p:cNvPr>
          <p:cNvSpPr/>
          <p:nvPr/>
        </p:nvSpPr>
        <p:spPr>
          <a:xfrm>
            <a:off x="8166076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13" name="Shape 35">
            <a:extLst>
              <a:ext uri="{FF2B5EF4-FFF2-40B4-BE49-F238E27FC236}">
                <a16:creationId xmlns:a16="http://schemas.microsoft.com/office/drawing/2014/main" id="{C9FD694B-4F59-23E4-CBEE-D3D1B0E13D3E}"/>
              </a:ext>
            </a:extLst>
          </p:cNvPr>
          <p:cNvSpPr/>
          <p:nvPr/>
        </p:nvSpPr>
        <p:spPr>
          <a:xfrm>
            <a:off x="10889608" y="7053456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4" name="Text 36">
            <a:extLst>
              <a:ext uri="{FF2B5EF4-FFF2-40B4-BE49-F238E27FC236}">
                <a16:creationId xmlns:a16="http://schemas.microsoft.com/office/drawing/2014/main" id="{9E3DE98B-9627-094E-60CE-207B6CECE0A4}"/>
              </a:ext>
            </a:extLst>
          </p:cNvPr>
          <p:cNvSpPr/>
          <p:nvPr/>
        </p:nvSpPr>
        <p:spPr>
          <a:xfrm>
            <a:off x="10889608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15" name="Text 37">
            <a:extLst>
              <a:ext uri="{FF2B5EF4-FFF2-40B4-BE49-F238E27FC236}">
                <a16:creationId xmlns:a16="http://schemas.microsoft.com/office/drawing/2014/main" id="{D07698A9-0B23-EF79-7788-C00D28B439CE}"/>
              </a:ext>
            </a:extLst>
          </p:cNvPr>
          <p:cNvSpPr/>
          <p:nvPr/>
        </p:nvSpPr>
        <p:spPr>
          <a:xfrm>
            <a:off x="10889608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16" name="Text 38">
            <a:extLst>
              <a:ext uri="{FF2B5EF4-FFF2-40B4-BE49-F238E27FC236}">
                <a16:creationId xmlns:a16="http://schemas.microsoft.com/office/drawing/2014/main" id="{15DBC881-8FD2-3837-49B1-43804E88219D}"/>
              </a:ext>
            </a:extLst>
          </p:cNvPr>
          <p:cNvSpPr/>
          <p:nvPr/>
        </p:nvSpPr>
        <p:spPr>
          <a:xfrm>
            <a:off x="10889608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17" name="Shape 39">
            <a:extLst>
              <a:ext uri="{FF2B5EF4-FFF2-40B4-BE49-F238E27FC236}">
                <a16:creationId xmlns:a16="http://schemas.microsoft.com/office/drawing/2014/main" id="{A34B1EE4-5DE2-AA45-3451-7F822FD5BB27}"/>
              </a:ext>
            </a:extLst>
          </p:cNvPr>
          <p:cNvSpPr/>
          <p:nvPr/>
        </p:nvSpPr>
        <p:spPr>
          <a:xfrm>
            <a:off x="14157846" y="2929251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8" name="Text 40">
            <a:extLst>
              <a:ext uri="{FF2B5EF4-FFF2-40B4-BE49-F238E27FC236}">
                <a16:creationId xmlns:a16="http://schemas.microsoft.com/office/drawing/2014/main" id="{1FAB3291-2F6B-3BB5-7FA3-EE41F4380CE8}"/>
              </a:ext>
            </a:extLst>
          </p:cNvPr>
          <p:cNvSpPr/>
          <p:nvPr/>
        </p:nvSpPr>
        <p:spPr>
          <a:xfrm>
            <a:off x="14157846" y="3007066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19" name="Text 41">
            <a:extLst>
              <a:ext uri="{FF2B5EF4-FFF2-40B4-BE49-F238E27FC236}">
                <a16:creationId xmlns:a16="http://schemas.microsoft.com/office/drawing/2014/main" id="{E7400C9B-27EC-BE81-722E-8F9712F543C4}"/>
              </a:ext>
            </a:extLst>
          </p:cNvPr>
          <p:cNvSpPr/>
          <p:nvPr/>
        </p:nvSpPr>
        <p:spPr>
          <a:xfrm>
            <a:off x="14157846" y="3473957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220" name="Shape 42">
            <a:extLst>
              <a:ext uri="{FF2B5EF4-FFF2-40B4-BE49-F238E27FC236}">
                <a16:creationId xmlns:a16="http://schemas.microsoft.com/office/drawing/2014/main" id="{299A2835-69E3-2131-A71C-75A4CF447711}"/>
              </a:ext>
            </a:extLst>
          </p:cNvPr>
          <p:cNvSpPr/>
          <p:nvPr/>
        </p:nvSpPr>
        <p:spPr>
          <a:xfrm>
            <a:off x="14469107" y="4018664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1" name="Text 43">
            <a:extLst>
              <a:ext uri="{FF2B5EF4-FFF2-40B4-BE49-F238E27FC236}">
                <a16:creationId xmlns:a16="http://schemas.microsoft.com/office/drawing/2014/main" id="{DE74595D-C3F4-E920-6B7E-9FF74437DFBD}"/>
              </a:ext>
            </a:extLst>
          </p:cNvPr>
          <p:cNvSpPr/>
          <p:nvPr/>
        </p:nvSpPr>
        <p:spPr>
          <a:xfrm>
            <a:off x="14469107" y="4174294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222" name="Text 44">
            <a:extLst>
              <a:ext uri="{FF2B5EF4-FFF2-40B4-BE49-F238E27FC236}">
                <a16:creationId xmlns:a16="http://schemas.microsoft.com/office/drawing/2014/main" id="{8F0D44E5-F484-1ADC-1C90-C1F656E7C622}"/>
              </a:ext>
            </a:extLst>
          </p:cNvPr>
          <p:cNvSpPr/>
          <p:nvPr/>
        </p:nvSpPr>
        <p:spPr>
          <a:xfrm>
            <a:off x="14469107" y="4641185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223" name="Shape 45">
            <a:extLst>
              <a:ext uri="{FF2B5EF4-FFF2-40B4-BE49-F238E27FC236}">
                <a16:creationId xmlns:a16="http://schemas.microsoft.com/office/drawing/2014/main" id="{CB963795-6FAC-E3FA-C7C9-DC8FCE125AE3}"/>
              </a:ext>
            </a:extLst>
          </p:cNvPr>
          <p:cNvSpPr/>
          <p:nvPr/>
        </p:nvSpPr>
        <p:spPr>
          <a:xfrm>
            <a:off x="15480705" y="7131272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4" name="Text 46">
            <a:extLst>
              <a:ext uri="{FF2B5EF4-FFF2-40B4-BE49-F238E27FC236}">
                <a16:creationId xmlns:a16="http://schemas.microsoft.com/office/drawing/2014/main" id="{83763D28-F6FE-D0A9-4AE8-DBDC0F3B898B}"/>
              </a:ext>
            </a:extLst>
          </p:cNvPr>
          <p:cNvSpPr/>
          <p:nvPr/>
        </p:nvSpPr>
        <p:spPr>
          <a:xfrm>
            <a:off x="15480705" y="7364717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25" name="Shape 48">
            <a:extLst>
              <a:ext uri="{FF2B5EF4-FFF2-40B4-BE49-F238E27FC236}">
                <a16:creationId xmlns:a16="http://schemas.microsoft.com/office/drawing/2014/main" id="{98A5CF4E-9764-7087-CDE0-838C0D01654B}"/>
              </a:ext>
            </a:extLst>
          </p:cNvPr>
          <p:cNvSpPr/>
          <p:nvPr/>
        </p:nvSpPr>
        <p:spPr>
          <a:xfrm>
            <a:off x="7465739" y="4719001"/>
            <a:ext cx="544706" cy="389076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6" name="Text 49">
            <a:extLst>
              <a:ext uri="{FF2B5EF4-FFF2-40B4-BE49-F238E27FC236}">
                <a16:creationId xmlns:a16="http://schemas.microsoft.com/office/drawing/2014/main" id="{3E9728D8-5E83-6E44-5DBF-10255F30D098}"/>
              </a:ext>
            </a:extLst>
          </p:cNvPr>
          <p:cNvSpPr/>
          <p:nvPr/>
        </p:nvSpPr>
        <p:spPr>
          <a:xfrm>
            <a:off x="7305369" y="5108077"/>
            <a:ext cx="855967" cy="59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200" dirty="0"/>
              <a:t>추출한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데이터</a:t>
            </a:r>
            <a:endParaRPr lang="en-US" altLang="ko-KR" sz="1200" dirty="0"/>
          </a:p>
          <a:p>
            <a:pPr algn="ctr"/>
            <a:r>
              <a:rPr lang="ko-KR" altLang="en-US" sz="1200" dirty="0"/>
              <a:t> 전송</a:t>
            </a:r>
            <a:endParaRPr lang="en-US" sz="1200" dirty="0"/>
          </a:p>
        </p:txBody>
      </p:sp>
      <p:sp>
        <p:nvSpPr>
          <p:cNvPr id="227" name="Shape 50">
            <a:extLst>
              <a:ext uri="{FF2B5EF4-FFF2-40B4-BE49-F238E27FC236}">
                <a16:creationId xmlns:a16="http://schemas.microsoft.com/office/drawing/2014/main" id="{9F420458-1908-4154-B0AC-733EE90D85E6}"/>
              </a:ext>
            </a:extLst>
          </p:cNvPr>
          <p:cNvSpPr/>
          <p:nvPr/>
        </p:nvSpPr>
        <p:spPr>
          <a:xfrm>
            <a:off x="13535325" y="4773167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8" name="Text 51">
            <a:extLst>
              <a:ext uri="{FF2B5EF4-FFF2-40B4-BE49-F238E27FC236}">
                <a16:creationId xmlns:a16="http://schemas.microsoft.com/office/drawing/2014/main" id="{5D6B6109-3634-ED87-3204-623004CBD2EC}"/>
              </a:ext>
            </a:extLst>
          </p:cNvPr>
          <p:cNvSpPr/>
          <p:nvPr/>
        </p:nvSpPr>
        <p:spPr>
          <a:xfrm>
            <a:off x="13457509" y="5183991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229" name="Shape 52">
            <a:extLst>
              <a:ext uri="{FF2B5EF4-FFF2-40B4-BE49-F238E27FC236}">
                <a16:creationId xmlns:a16="http://schemas.microsoft.com/office/drawing/2014/main" id="{9861AFD8-2237-CD0F-3598-235757C71FD9}"/>
              </a:ext>
            </a:extLst>
          </p:cNvPr>
          <p:cNvSpPr/>
          <p:nvPr/>
        </p:nvSpPr>
        <p:spPr>
          <a:xfrm>
            <a:off x="10636709" y="4913539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0" name="Text 53">
            <a:extLst>
              <a:ext uri="{FF2B5EF4-FFF2-40B4-BE49-F238E27FC236}">
                <a16:creationId xmlns:a16="http://schemas.microsoft.com/office/drawing/2014/main" id="{C6B9C8FA-335C-1FE1-E83E-ADC03A999061}"/>
              </a:ext>
            </a:extLst>
          </p:cNvPr>
          <p:cNvSpPr/>
          <p:nvPr/>
        </p:nvSpPr>
        <p:spPr>
          <a:xfrm>
            <a:off x="9099858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1" name="Text 54">
            <a:extLst>
              <a:ext uri="{FF2B5EF4-FFF2-40B4-BE49-F238E27FC236}">
                <a16:creationId xmlns:a16="http://schemas.microsoft.com/office/drawing/2014/main" id="{6D52C7A4-E69F-BDDD-C736-BDD166028B4F}"/>
              </a:ext>
            </a:extLst>
          </p:cNvPr>
          <p:cNvSpPr/>
          <p:nvPr/>
        </p:nvSpPr>
        <p:spPr>
          <a:xfrm>
            <a:off x="9488934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32" name="Text 55">
            <a:extLst>
              <a:ext uri="{FF2B5EF4-FFF2-40B4-BE49-F238E27FC236}">
                <a16:creationId xmlns:a16="http://schemas.microsoft.com/office/drawing/2014/main" id="{B0F86805-C8CC-14CE-4D0B-4803382963F6}"/>
              </a:ext>
            </a:extLst>
          </p:cNvPr>
          <p:cNvSpPr/>
          <p:nvPr/>
        </p:nvSpPr>
        <p:spPr>
          <a:xfrm>
            <a:off x="11823390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3" name="Text 56">
            <a:extLst>
              <a:ext uri="{FF2B5EF4-FFF2-40B4-BE49-F238E27FC236}">
                <a16:creationId xmlns:a16="http://schemas.microsoft.com/office/drawing/2014/main" id="{DD72DC33-D6A6-AD93-5151-982E7B90734F}"/>
              </a:ext>
            </a:extLst>
          </p:cNvPr>
          <p:cNvSpPr/>
          <p:nvPr/>
        </p:nvSpPr>
        <p:spPr>
          <a:xfrm>
            <a:off x="12212466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52" name="Shape 47">
            <a:extLst>
              <a:ext uri="{FF2B5EF4-FFF2-40B4-BE49-F238E27FC236}">
                <a16:creationId xmlns:a16="http://schemas.microsoft.com/office/drawing/2014/main" id="{EBF30E09-679E-579B-85B0-255919AAD040}"/>
              </a:ext>
            </a:extLst>
          </p:cNvPr>
          <p:cNvSpPr/>
          <p:nvPr/>
        </p:nvSpPr>
        <p:spPr>
          <a:xfrm>
            <a:off x="7733352" y="2658270"/>
            <a:ext cx="21874" cy="5873674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C080AD-F959-B9B3-14E1-3A20F3C704A6}"/>
              </a:ext>
            </a:extLst>
          </p:cNvPr>
          <p:cNvSpPr/>
          <p:nvPr/>
        </p:nvSpPr>
        <p:spPr>
          <a:xfrm>
            <a:off x="3066871" y="9110645"/>
            <a:ext cx="3857547" cy="6388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E8D789-3908-9638-5FCC-BEEC8DDC84E9}"/>
              </a:ext>
            </a:extLst>
          </p:cNvPr>
          <p:cNvSpPr/>
          <p:nvPr/>
        </p:nvSpPr>
        <p:spPr>
          <a:xfrm>
            <a:off x="7032062" y="9106295"/>
            <a:ext cx="1483254" cy="645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016CBC-8DE6-83A8-3710-C5FCB6104DAA}"/>
              </a:ext>
            </a:extLst>
          </p:cNvPr>
          <p:cNvSpPr/>
          <p:nvPr/>
        </p:nvSpPr>
        <p:spPr>
          <a:xfrm>
            <a:off x="3066870" y="9110645"/>
            <a:ext cx="3903267" cy="63884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0C572AE-932E-B759-7D81-6ABC6F5C1CD4}"/>
              </a:ext>
            </a:extLst>
          </p:cNvPr>
          <p:cNvSpPr/>
          <p:nvPr/>
        </p:nvSpPr>
        <p:spPr>
          <a:xfrm>
            <a:off x="3820440" y="9107184"/>
            <a:ext cx="2350408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>
                <a:solidFill>
                  <a:schemeClr val="tx1"/>
                </a:solidFill>
              </a:rPr>
              <a:t>Edge device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3B27D7-92C9-350E-D7A6-A6185DF50D8C}"/>
              </a:ext>
            </a:extLst>
          </p:cNvPr>
          <p:cNvSpPr/>
          <p:nvPr/>
        </p:nvSpPr>
        <p:spPr>
          <a:xfrm flipH="1">
            <a:off x="7027096" y="9123513"/>
            <a:ext cx="1488217" cy="61390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1A05ED-2F5D-BEC9-3233-1C14D6A91C03}"/>
              </a:ext>
            </a:extLst>
          </p:cNvPr>
          <p:cNvSpPr/>
          <p:nvPr/>
        </p:nvSpPr>
        <p:spPr>
          <a:xfrm>
            <a:off x="8617996" y="9102030"/>
            <a:ext cx="5034052" cy="638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D2582F-B8DF-1F25-9B78-F66BA05467AE}"/>
              </a:ext>
            </a:extLst>
          </p:cNvPr>
          <p:cNvSpPr/>
          <p:nvPr/>
        </p:nvSpPr>
        <p:spPr>
          <a:xfrm>
            <a:off x="8617994" y="9102030"/>
            <a:ext cx="5034051" cy="63884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4E2EF6A-C0AC-40F0-98AE-CEB1047E7250}"/>
              </a:ext>
            </a:extLst>
          </p:cNvPr>
          <p:cNvSpPr/>
          <p:nvPr/>
        </p:nvSpPr>
        <p:spPr>
          <a:xfrm>
            <a:off x="8617994" y="9098569"/>
            <a:ext cx="5034053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 err="1">
                <a:solidFill>
                  <a:schemeClr val="tx1"/>
                </a:solidFill>
              </a:rPr>
              <a:t>Backend&amp;Cloud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88E10-2B26-9D6C-282D-1BB29AE27E07}"/>
              </a:ext>
            </a:extLst>
          </p:cNvPr>
          <p:cNvSpPr/>
          <p:nvPr/>
        </p:nvSpPr>
        <p:spPr>
          <a:xfrm>
            <a:off x="13851443" y="9102030"/>
            <a:ext cx="4190891" cy="638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FB1B8-28D2-BDC9-EA66-83D01C9C3C8D}"/>
              </a:ext>
            </a:extLst>
          </p:cNvPr>
          <p:cNvSpPr/>
          <p:nvPr/>
        </p:nvSpPr>
        <p:spPr>
          <a:xfrm flipH="1">
            <a:off x="13805722" y="9102030"/>
            <a:ext cx="4236611" cy="614809"/>
          </a:xfrm>
          <a:prstGeom prst="rect">
            <a:avLst/>
          </a:prstGeom>
          <a:solidFill>
            <a:srgbClr val="9E4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AEAA8B9-5843-BAF4-1A77-26EBCBFB04A2}"/>
              </a:ext>
            </a:extLst>
          </p:cNvPr>
          <p:cNvSpPr/>
          <p:nvPr/>
        </p:nvSpPr>
        <p:spPr>
          <a:xfrm>
            <a:off x="13851442" y="9098569"/>
            <a:ext cx="4190892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r>
              <a:rPr lang="ko-KR" altLang="en-US" sz="1800" b="1" dirty="0">
                <a:solidFill>
                  <a:schemeClr val="tx1"/>
                </a:solidFill>
              </a:rPr>
              <a:t>단계 최종 </a:t>
            </a:r>
            <a:r>
              <a:rPr lang="en-US" altLang="ko-KR" sz="1800" b="1" dirty="0">
                <a:solidFill>
                  <a:schemeClr val="tx1"/>
                </a:solidFill>
              </a:rPr>
              <a:t>APP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D649D7-732B-26DD-CDC2-DB17A7B76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8FA98CCD-C2DD-DF80-C80F-17B2F343487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A999168B-D2B6-07E4-E400-A68F460E2404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A33C3C15-734D-EB75-2B9B-7F42679045F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35022F19-630B-6146-8B6F-EBEC343F2BC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46CC137-8AE4-3A95-7218-770620B75C5C}"/>
              </a:ext>
            </a:extLst>
          </p:cNvPr>
          <p:cNvSpPr/>
          <p:nvPr/>
        </p:nvSpPr>
        <p:spPr>
          <a:xfrm>
            <a:off x="7027098" y="9107183"/>
            <a:ext cx="1488218" cy="66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r>
              <a:rPr lang="ko-KR" altLang="en-US" sz="1800" b="1" dirty="0">
                <a:solidFill>
                  <a:schemeClr val="tx1"/>
                </a:solidFill>
              </a:rPr>
              <a:t>단계</a:t>
            </a:r>
            <a:endParaRPr lang="en-US" altLang="ko-KR" sz="1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연결 통합</a:t>
            </a:r>
          </a:p>
        </p:txBody>
      </p:sp>
    </p:spTree>
    <p:extLst>
      <p:ext uri="{BB962C8B-B14F-4D97-AF65-F5344CB8AC3E}">
        <p14:creationId xmlns:p14="http://schemas.microsoft.com/office/powerpoint/2010/main" val="41823946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2" name="Google Shape;242;p11"/>
          <p:cNvSpPr/>
          <p:nvPr/>
        </p:nvSpPr>
        <p:spPr>
          <a:xfrm>
            <a:off x="818606" y="1538508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/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sp>
        <p:nvSpPr>
          <p:cNvPr id="244" name="Google Shape;244;p11"/>
          <p:cNvSpPr/>
          <p:nvPr/>
        </p:nvSpPr>
        <p:spPr>
          <a:xfrm>
            <a:off x="818606" y="3297727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/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pic>
        <p:nvPicPr>
          <p:cNvPr id="246" name="Google Shape;246;p1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7601444" y="10625942"/>
            <a:ext cx="2113354" cy="296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1"/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250" name="Google Shape;250;p11"/>
          <p:cNvSpPr txBox="1"/>
          <p:nvPr/>
        </p:nvSpPr>
        <p:spPr>
          <a:xfrm>
            <a:off x="818606" y="1848622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I5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5" name="Google Shape;250;p11"/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최종 구현 목표</a:t>
            </a:r>
            <a:endParaRPr lang="en-US" altLang="ko-KR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6" name="내용 개체 틀 2"/>
          <p:cNvSpPr txBox="1"/>
          <p:nvPr/>
        </p:nvSpPr>
        <p:spPr>
          <a:xfrm>
            <a:off x="11163858" y="6259376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44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01D10F-914C-E965-93A7-E70F4A60FABE}"/>
              </a:ext>
            </a:extLst>
          </p:cNvPr>
          <p:cNvSpPr/>
          <p:nvPr/>
        </p:nvSpPr>
        <p:spPr>
          <a:xfrm>
            <a:off x="3788697" y="2735520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(React Native)</a:t>
            </a:r>
            <a:endParaRPr lang="en-US" sz="28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00E1A3-BA35-23B7-B075-A0A8FA565CE2}"/>
              </a:ext>
            </a:extLst>
          </p:cNvPr>
          <p:cNvSpPr/>
          <p:nvPr/>
        </p:nvSpPr>
        <p:spPr>
          <a:xfrm>
            <a:off x="3788697" y="3262221"/>
            <a:ext cx="6863074" cy="2234489"/>
          </a:xfrm>
          <a:prstGeom prst="rect">
            <a:avLst/>
          </a:prstGeom>
          <a:solidFill>
            <a:srgbClr val="E8F4F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FBCBDD8-96DC-8F1D-DF83-B6F079D8B726}"/>
              </a:ext>
            </a:extLst>
          </p:cNvPr>
          <p:cNvSpPr/>
          <p:nvPr/>
        </p:nvSpPr>
        <p:spPr>
          <a:xfrm>
            <a:off x="4028107" y="342182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4BE0DB-6F7A-924F-2743-88801CC966C8}"/>
              </a:ext>
            </a:extLst>
          </p:cNvPr>
          <p:cNvSpPr/>
          <p:nvPr/>
        </p:nvSpPr>
        <p:spPr>
          <a:xfrm>
            <a:off x="4028107" y="3900647"/>
            <a:ext cx="6384255" cy="143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채팅 UI 기반 대화형 인터페이스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ko-KR" alt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질문 → AI가 답변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알림 수신 (위험 상황)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하루 요약 리포트 확인</a:t>
            </a:r>
            <a:endParaRPr lang="en-US" sz="2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0A4C9C7-2972-7CE7-B78A-860D30B143AB}"/>
              </a:ext>
            </a:extLst>
          </p:cNvPr>
          <p:cNvSpPr/>
          <p:nvPr/>
        </p:nvSpPr>
        <p:spPr>
          <a:xfrm>
            <a:off x="3788696" y="5729512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예시</a:t>
            </a:r>
            <a:endParaRPr lang="en-US" sz="28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18E6B5F-B7B7-66E6-8150-CA08202D88D9}"/>
              </a:ext>
            </a:extLst>
          </p:cNvPr>
          <p:cNvSpPr/>
          <p:nvPr/>
        </p:nvSpPr>
        <p:spPr>
          <a:xfrm>
            <a:off x="3868500" y="6294743"/>
            <a:ext cx="6703468" cy="558622"/>
          </a:xfrm>
          <a:prstGeom prst="rect">
            <a:avLst/>
          </a:prstGeom>
          <a:solidFill>
            <a:srgbClr val="E8F4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57B1912-E466-32EC-A5CD-41F1DBDAFF30}"/>
              </a:ext>
            </a:extLst>
          </p:cNvPr>
          <p:cNvSpPr/>
          <p:nvPr/>
        </p:nvSpPr>
        <p:spPr>
          <a:xfrm>
            <a:off x="4107910" y="6374546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"오늘 누가 집에 왔어?"</a:t>
            </a:r>
            <a:endParaRPr lang="en-US" sz="20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6E4634CE-A4A8-07A8-E200-F1C93043189B}"/>
              </a:ext>
            </a:extLst>
          </p:cNvPr>
          <p:cNvSpPr/>
          <p:nvPr/>
        </p:nvSpPr>
        <p:spPr>
          <a:xfrm>
            <a:off x="3868500" y="6901247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B851783-7BCF-8664-46EF-E658CFE8FE48}"/>
              </a:ext>
            </a:extLst>
          </p:cNvPr>
          <p:cNvSpPr/>
          <p:nvPr/>
        </p:nvSpPr>
        <p:spPr>
          <a:xfrm>
            <a:off x="4107910" y="6981050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"아이가 언제 학교에서 돌아왔어?"</a:t>
            </a:r>
            <a:endParaRPr lang="en-US" sz="2000" dirty="0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93B23286-352D-67BB-ECFF-E77A00864005}"/>
              </a:ext>
            </a:extLst>
          </p:cNvPr>
          <p:cNvSpPr/>
          <p:nvPr/>
        </p:nvSpPr>
        <p:spPr>
          <a:xfrm>
            <a:off x="3868500" y="7523712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AD14F6B9-9A6A-0B61-CA1F-46E03630CA3A}"/>
              </a:ext>
            </a:extLst>
          </p:cNvPr>
          <p:cNvSpPr/>
          <p:nvPr/>
        </p:nvSpPr>
        <p:spPr>
          <a:xfrm>
            <a:off x="4107910" y="7603515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"이번 주 방문 기록 보여줘"</a:t>
            </a:r>
            <a:endParaRPr lang="en-US" sz="2000" dirty="0"/>
          </a:p>
        </p:txBody>
      </p:sp>
      <p:sp>
        <p:nvSpPr>
          <p:cNvPr id="2" name="Text 34">
            <a:extLst>
              <a:ext uri="{FF2B5EF4-FFF2-40B4-BE49-F238E27FC236}">
                <a16:creationId xmlns:a16="http://schemas.microsoft.com/office/drawing/2014/main" id="{80BA324F-900B-CDE5-1DB9-8ACCDB89C064}"/>
              </a:ext>
            </a:extLst>
          </p:cNvPr>
          <p:cNvSpPr/>
          <p:nvPr/>
        </p:nvSpPr>
        <p:spPr>
          <a:xfrm>
            <a:off x="3788696" y="832717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>
                <a:solidFill>
                  <a:srgbClr val="D85A30"/>
                </a:solidFill>
                <a:latin typeface="Arial" pitchFamily="34" charset="0"/>
                <a:cs typeface="Arial" pitchFamily="34" charset="-120"/>
              </a:rPr>
              <a:t>실시간 알림</a:t>
            </a:r>
            <a:endParaRPr lang="en-US" sz="28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F494F606-8772-552D-353F-DEF5509FA6B1}"/>
              </a:ext>
            </a:extLst>
          </p:cNvPr>
          <p:cNvSpPr/>
          <p:nvPr/>
        </p:nvSpPr>
        <p:spPr>
          <a:xfrm>
            <a:off x="4009930" y="8865966"/>
            <a:ext cx="2069115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AF06D368-9EDB-1AA6-A7B9-F52A5D623F42}"/>
              </a:ext>
            </a:extLst>
          </p:cNvPr>
          <p:cNvSpPr/>
          <p:nvPr/>
        </p:nvSpPr>
        <p:spPr>
          <a:xfrm>
            <a:off x="4030988" y="8942597"/>
            <a:ext cx="1780801" cy="41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16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933A92EC-9649-0DE4-2399-CC1938FC0FA7}"/>
              </a:ext>
            </a:extLst>
          </p:cNvPr>
          <p:cNvSpPr/>
          <p:nvPr/>
        </p:nvSpPr>
        <p:spPr>
          <a:xfrm>
            <a:off x="3912228" y="9414606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노크 소리</a:t>
            </a:r>
            <a:endParaRPr lang="en-US" altLang="ko-KR" sz="1333" dirty="0">
              <a:solidFill>
                <a:srgbClr val="E8F4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 열고 닫힘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</a:t>
            </a:r>
            <a:endParaRPr lang="en-US" sz="1333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B01F9FCA-2789-AC82-2A58-93906DECA933}"/>
              </a:ext>
            </a:extLst>
          </p:cNvPr>
          <p:cNvSpPr/>
          <p:nvPr/>
        </p:nvSpPr>
        <p:spPr>
          <a:xfrm>
            <a:off x="6225969" y="8874144"/>
            <a:ext cx="2055177" cy="10972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E6C8C887-E0BB-F4DA-01B4-78DEF7A0F284}"/>
              </a:ext>
            </a:extLst>
          </p:cNvPr>
          <p:cNvSpPr/>
          <p:nvPr/>
        </p:nvSpPr>
        <p:spPr>
          <a:xfrm>
            <a:off x="6079343" y="8972254"/>
            <a:ext cx="1934249" cy="434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B7FEED2C-D6B7-16AD-74F5-E16EEB27113A}"/>
              </a:ext>
            </a:extLst>
          </p:cNvPr>
          <p:cNvSpPr/>
          <p:nvPr/>
        </p:nvSpPr>
        <p:spPr>
          <a:xfrm>
            <a:off x="6210007" y="9432526"/>
            <a:ext cx="2084230" cy="47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반려동물 울음소리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아기 울음소리</a:t>
            </a:r>
            <a:endParaRPr lang="en-US" sz="1333" dirty="0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EA1D9FFC-4FAA-8C48-A4DC-8D072020B7F2}"/>
              </a:ext>
            </a:extLst>
          </p:cNvPr>
          <p:cNvSpPr/>
          <p:nvPr/>
        </p:nvSpPr>
        <p:spPr>
          <a:xfrm>
            <a:off x="8434917" y="8883886"/>
            <a:ext cx="2084230" cy="10972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2E4FD729-02E2-292E-9359-726FE3BFB38B}"/>
              </a:ext>
            </a:extLst>
          </p:cNvPr>
          <p:cNvSpPr/>
          <p:nvPr/>
        </p:nvSpPr>
        <p:spPr>
          <a:xfrm>
            <a:off x="8408435" y="9167363"/>
            <a:ext cx="1928676" cy="33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altLang="ko-KR" sz="1600" dirty="0"/>
          </a:p>
          <a:p>
            <a:pPr algn="ctr"/>
            <a:endParaRPr lang="en-US" sz="16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80C70F4B-9D8A-A5AA-602A-3D50E1C65CA9}"/>
              </a:ext>
            </a:extLst>
          </p:cNvPr>
          <p:cNvSpPr/>
          <p:nvPr/>
        </p:nvSpPr>
        <p:spPr>
          <a:xfrm>
            <a:off x="8460458" y="9469037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화재경보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낙상 감지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비명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고함</a:t>
            </a:r>
            <a:endParaRPr lang="en-US" sz="1333" dirty="0"/>
          </a:p>
        </p:txBody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02E3B981-DE6E-DA4B-4BD8-3A4635825EBC}"/>
              </a:ext>
            </a:extLst>
          </p:cNvPr>
          <p:cNvSpPr/>
          <p:nvPr/>
        </p:nvSpPr>
        <p:spPr>
          <a:xfrm>
            <a:off x="7693586" y="8983348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B5E08-51C5-974B-5DC6-D1411C295994}"/>
              </a:ext>
            </a:extLst>
          </p:cNvPr>
          <p:cNvSpPr txBox="1"/>
          <p:nvPr/>
        </p:nvSpPr>
        <p:spPr>
          <a:xfrm>
            <a:off x="18844100" y="10877350"/>
            <a:ext cx="10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7F8C8D"/>
                </a:solidFill>
                <a:latin typeface="Arial"/>
              </a:rPr>
              <a:t>7</a:t>
            </a:r>
            <a:endParaRPr sz="1400" dirty="0">
              <a:solidFill>
                <a:srgbClr val="7F8C8D"/>
              </a:solidFill>
              <a:latin typeface="Arial"/>
            </a:endParaRPr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7FEBFF6D-C8B8-C92B-6D37-57EEB2A38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961" y="2921037"/>
            <a:ext cx="4372585" cy="6982799"/>
          </a:xfrm>
          <a:prstGeom prst="rect">
            <a:avLst/>
          </a:prstGeom>
        </p:spPr>
      </p:pic>
      <p:pic>
        <p:nvPicPr>
          <p:cNvPr id="229" name="그림 228">
            <a:extLst>
              <a:ext uri="{FF2B5EF4-FFF2-40B4-BE49-F238E27FC236}">
                <a16:creationId xmlns:a16="http://schemas.microsoft.com/office/drawing/2014/main" id="{FECC5263-BCA2-6A17-26BA-73606C8E2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73" y="2921036"/>
            <a:ext cx="4486901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C6E2-36DD-20A4-F09F-DB48B799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FE3432BC-CB6F-AE65-5717-6BBE4AE7AA9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dirty="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BD933320-545A-6B8F-FC20-0E6E6660E773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A83D9B60-5DFB-70C4-E1BB-58974F619980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AF03B35-82BB-E950-581A-C016CD080E35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47C1F14-9162-127A-396F-6D35EDE19C9B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Edge Device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A8D420-A4EF-51A3-FFA6-35012C25B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5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45B1-A5EA-D988-B31A-5E478211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B9D9661-574C-D3E8-F1AE-74F52CD8FEC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33FDD2F8-AB27-EE36-7EC0-621DC9153EAF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F4F416A7-08EC-EDD7-1FDB-FF21A2DC8081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73DFC55-8312-EAFA-CDF2-D75C998DADF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B415FACC-1D61-A10F-B05B-BF805CF4BEC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8342D471-1531-9AB1-6187-43A8A200C56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7CDD58F6-DE1D-7E84-82A9-F6035D0B4F04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Hardware </a:t>
            </a: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구성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DB01ACB-816F-6BD3-08F3-FB5CD42B8A22}"/>
              </a:ext>
            </a:extLst>
          </p:cNvPr>
          <p:cNvSpPr/>
          <p:nvPr/>
        </p:nvSpPr>
        <p:spPr>
          <a:xfrm>
            <a:off x="669238" y="3330888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F5CBE81-5D35-5408-C109-6040D68AA883}"/>
              </a:ext>
            </a:extLst>
          </p:cNvPr>
          <p:cNvSpPr/>
          <p:nvPr/>
        </p:nvSpPr>
        <p:spPr>
          <a:xfrm>
            <a:off x="669239" y="3330888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6A39530-5446-F898-A9C8-7889F5D01CD8}"/>
              </a:ext>
            </a:extLst>
          </p:cNvPr>
          <p:cNvSpPr/>
          <p:nvPr/>
        </p:nvSpPr>
        <p:spPr>
          <a:xfrm>
            <a:off x="974978" y="3510531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Rasberry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 5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CA19CA2-F161-0523-E075-D4523BCA932E}"/>
              </a:ext>
            </a:extLst>
          </p:cNvPr>
          <p:cNvSpPr/>
          <p:nvPr/>
        </p:nvSpPr>
        <p:spPr>
          <a:xfrm>
            <a:off x="1908483" y="3899199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DC17128-7987-97A1-2289-91CF2504D9EA}"/>
              </a:ext>
            </a:extLst>
          </p:cNvPr>
          <p:cNvSpPr/>
          <p:nvPr/>
        </p:nvSpPr>
        <p:spPr>
          <a:xfrm>
            <a:off x="669238" y="5683925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18600DF-E9BF-2A8E-3EDB-8926BAC338E4}"/>
              </a:ext>
            </a:extLst>
          </p:cNvPr>
          <p:cNvSpPr/>
          <p:nvPr/>
        </p:nvSpPr>
        <p:spPr>
          <a:xfrm>
            <a:off x="669239" y="5683925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2914D82-C824-DCAC-DDE0-319F2F34E681}"/>
              </a:ext>
            </a:extLst>
          </p:cNvPr>
          <p:cNvSpPr/>
          <p:nvPr/>
        </p:nvSpPr>
        <p:spPr>
          <a:xfrm>
            <a:off x="974978" y="5904217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- Camera Module V3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B103B2A-10C0-4B92-7701-D9106C89A9FE}"/>
              </a:ext>
            </a:extLst>
          </p:cNvPr>
          <p:cNvSpPr/>
          <p:nvPr/>
        </p:nvSpPr>
        <p:spPr>
          <a:xfrm>
            <a:off x="1908483" y="6252236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4157AC7-C016-2239-ECCB-1C270536B537}"/>
              </a:ext>
            </a:extLst>
          </p:cNvPr>
          <p:cNvSpPr/>
          <p:nvPr/>
        </p:nvSpPr>
        <p:spPr>
          <a:xfrm>
            <a:off x="669238" y="8036962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6BA85B5-77E0-5EB4-DCD6-1290BA6F4174}"/>
              </a:ext>
            </a:extLst>
          </p:cNvPr>
          <p:cNvSpPr/>
          <p:nvPr/>
        </p:nvSpPr>
        <p:spPr>
          <a:xfrm>
            <a:off x="669239" y="8036962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A7D9D69-126B-2100-6AFB-A4675AD82D39}"/>
              </a:ext>
            </a:extLst>
          </p:cNvPr>
          <p:cNvSpPr/>
          <p:nvPr/>
        </p:nvSpPr>
        <p:spPr>
          <a:xfrm>
            <a:off x="974978" y="8260028"/>
            <a:ext cx="8293509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ReSpeaker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2-Mic Pi HAT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E362BD7-2C84-3631-8241-F61502CC021C}"/>
              </a:ext>
            </a:extLst>
          </p:cNvPr>
          <p:cNvSpPr/>
          <p:nvPr/>
        </p:nvSpPr>
        <p:spPr>
          <a:xfrm>
            <a:off x="1908483" y="8605273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8F9B4-0DD6-B0C5-0198-956FFAC6B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1389CC0-C27A-E814-85E1-690B32215BA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4636EF5-600D-B113-BE49-DE450B26F91D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1F11C827-BA5C-9E36-17E4-C38583F02BA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897CACE7-8676-23B5-1F9A-119144315B7E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0DC61C3-3F79-FEEA-1645-95647FB6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920" y="3206856"/>
            <a:ext cx="4698900" cy="6265199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5DEABF22-F0C3-ED13-3FD9-1248A9AAACB7}"/>
              </a:ext>
            </a:extLst>
          </p:cNvPr>
          <p:cNvSpPr/>
          <p:nvPr/>
        </p:nvSpPr>
        <p:spPr>
          <a:xfrm>
            <a:off x="14552768" y="2750453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6265D9DB-6BCE-C17A-95B8-34AC78F5B5F5}"/>
              </a:ext>
            </a:extLst>
          </p:cNvPr>
          <p:cNvSpPr/>
          <p:nvPr/>
        </p:nvSpPr>
        <p:spPr>
          <a:xfrm>
            <a:off x="14236253" y="3217344"/>
            <a:ext cx="4551368" cy="5134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D649C46-F407-32D7-87AB-A9F0CA1FCFF3}"/>
              </a:ext>
            </a:extLst>
          </p:cNvPr>
          <p:cNvSpPr/>
          <p:nvPr/>
        </p:nvSpPr>
        <p:spPr>
          <a:xfrm>
            <a:off x="14474953" y="3295159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4425923-60EB-F41C-A20F-7065F9EF48B5}"/>
              </a:ext>
            </a:extLst>
          </p:cNvPr>
          <p:cNvSpPr/>
          <p:nvPr/>
        </p:nvSpPr>
        <p:spPr>
          <a:xfrm>
            <a:off x="14474953" y="3762050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9DD9F35-0F99-20DC-C6DF-2E67157F3202}"/>
              </a:ext>
            </a:extLst>
          </p:cNvPr>
          <p:cNvSpPr/>
          <p:nvPr/>
        </p:nvSpPr>
        <p:spPr>
          <a:xfrm>
            <a:off x="14552768" y="4306756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C0F4ACB-783D-028B-8660-9092000898B8}"/>
              </a:ext>
            </a:extLst>
          </p:cNvPr>
          <p:cNvSpPr/>
          <p:nvPr/>
        </p:nvSpPr>
        <p:spPr>
          <a:xfrm>
            <a:off x="14552768" y="4384571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5F6E2C3-1CBB-DF61-1941-1B0466FDB3B2}"/>
              </a:ext>
            </a:extLst>
          </p:cNvPr>
          <p:cNvSpPr/>
          <p:nvPr/>
        </p:nvSpPr>
        <p:spPr>
          <a:xfrm>
            <a:off x="16877965" y="4325558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CF4406C-C123-3ECC-9195-7EF2E3758D09}"/>
              </a:ext>
            </a:extLst>
          </p:cNvPr>
          <p:cNvSpPr/>
          <p:nvPr/>
        </p:nvSpPr>
        <p:spPr>
          <a:xfrm>
            <a:off x="16877965" y="4403373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1E551E9-9B4E-13F3-4513-2B7233E46F18}"/>
              </a:ext>
            </a:extLst>
          </p:cNvPr>
          <p:cNvSpPr/>
          <p:nvPr/>
        </p:nvSpPr>
        <p:spPr>
          <a:xfrm>
            <a:off x="14708399" y="6160916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B3C4338-1574-D127-82C9-834DD2B77D16}"/>
              </a:ext>
            </a:extLst>
          </p:cNvPr>
          <p:cNvSpPr/>
          <p:nvPr/>
        </p:nvSpPr>
        <p:spPr>
          <a:xfrm>
            <a:off x="14549315" y="6137411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B273BCD6-0032-6E82-AE83-67DB17C2B690}"/>
              </a:ext>
            </a:extLst>
          </p:cNvPr>
          <p:cNvSpPr/>
          <p:nvPr/>
        </p:nvSpPr>
        <p:spPr>
          <a:xfrm>
            <a:off x="14547663" y="6166792"/>
            <a:ext cx="1711934" cy="82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246CA50-68A4-650C-E461-44704B2EE401}"/>
              </a:ext>
            </a:extLst>
          </p:cNvPr>
          <p:cNvSpPr/>
          <p:nvPr/>
        </p:nvSpPr>
        <p:spPr>
          <a:xfrm>
            <a:off x="16877965" y="6137669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8A255306-0B05-34B0-236E-76519BC92527}"/>
              </a:ext>
            </a:extLst>
          </p:cNvPr>
          <p:cNvSpPr/>
          <p:nvPr/>
        </p:nvSpPr>
        <p:spPr>
          <a:xfrm>
            <a:off x="16877965" y="6137411"/>
            <a:ext cx="1711934" cy="85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BECEC175-B4E0-C6B6-284E-984F177B2BA2}"/>
              </a:ext>
            </a:extLst>
          </p:cNvPr>
          <p:cNvSpPr/>
          <p:nvPr/>
        </p:nvSpPr>
        <p:spPr>
          <a:xfrm>
            <a:off x="15229625" y="5444352"/>
            <a:ext cx="358219" cy="61847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C73BB368-8619-2DB9-657A-3AF1CE5C9913}"/>
              </a:ext>
            </a:extLst>
          </p:cNvPr>
          <p:cNvSpPr/>
          <p:nvPr/>
        </p:nvSpPr>
        <p:spPr>
          <a:xfrm>
            <a:off x="17554822" y="5453879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80FC2BF7-FC68-F9F8-99D4-9134795A0F27}"/>
              </a:ext>
            </a:extLst>
          </p:cNvPr>
          <p:cNvCxnSpPr>
            <a:cxnSpLocks/>
            <a:stCxn id="53" idx="2"/>
            <a:endCxn id="207" idx="0"/>
          </p:cNvCxnSpPr>
          <p:nvPr/>
        </p:nvCxnSpPr>
        <p:spPr>
          <a:xfrm rot="5400000">
            <a:off x="16910857" y="6662043"/>
            <a:ext cx="491482" cy="1154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5B4FB1FD-44C1-1D9E-07AA-E6530A738190}"/>
              </a:ext>
            </a:extLst>
          </p:cNvPr>
          <p:cNvCxnSpPr>
            <a:cxnSpLocks/>
            <a:stCxn id="47" idx="2"/>
            <a:endCxn id="207" idx="0"/>
          </p:cNvCxnSpPr>
          <p:nvPr/>
        </p:nvCxnSpPr>
        <p:spPr>
          <a:xfrm rot="16200000" flipH="1">
            <a:off x="15746403" y="6652257"/>
            <a:ext cx="491740" cy="11739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7" name="Shape 17">
            <a:extLst>
              <a:ext uri="{FF2B5EF4-FFF2-40B4-BE49-F238E27FC236}">
                <a16:creationId xmlns:a16="http://schemas.microsoft.com/office/drawing/2014/main" id="{D5F02498-115D-E4D3-82DF-F5CBB741AE11}"/>
              </a:ext>
            </a:extLst>
          </p:cNvPr>
          <p:cNvSpPr/>
          <p:nvPr/>
        </p:nvSpPr>
        <p:spPr>
          <a:xfrm>
            <a:off x="14568629" y="7485118"/>
            <a:ext cx="4021269" cy="524559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9" name="Text 18">
            <a:extLst>
              <a:ext uri="{FF2B5EF4-FFF2-40B4-BE49-F238E27FC236}">
                <a16:creationId xmlns:a16="http://schemas.microsoft.com/office/drawing/2014/main" id="{A74D79B8-EEE6-5284-C5F5-4DD0F461F990}"/>
              </a:ext>
            </a:extLst>
          </p:cNvPr>
          <p:cNvSpPr/>
          <p:nvPr/>
        </p:nvSpPr>
        <p:spPr>
          <a:xfrm>
            <a:off x="14568629" y="7484860"/>
            <a:ext cx="4021269" cy="524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600" b="1" dirty="0">
                <a:solidFill>
                  <a:srgbClr val="2C5F2D"/>
                </a:solidFill>
                <a:latin typeface="Arial" pitchFamily="34" charset="0"/>
                <a:cs typeface="Arial" pitchFamily="34" charset="-120"/>
              </a:rPr>
              <a:t>이벤트 감지</a:t>
            </a:r>
            <a:endParaRPr lang="en-US" sz="1600" dirty="0"/>
          </a:p>
        </p:txBody>
      </p:sp>
      <p:sp>
        <p:nvSpPr>
          <p:cNvPr id="213" name="화살표: 아래쪽 212">
            <a:extLst>
              <a:ext uri="{FF2B5EF4-FFF2-40B4-BE49-F238E27FC236}">
                <a16:creationId xmlns:a16="http://schemas.microsoft.com/office/drawing/2014/main" id="{DD0B4F35-8BD1-57D9-31EA-9913485CE9F7}"/>
              </a:ext>
            </a:extLst>
          </p:cNvPr>
          <p:cNvSpPr/>
          <p:nvPr/>
        </p:nvSpPr>
        <p:spPr>
          <a:xfrm>
            <a:off x="16428705" y="8134888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7" name="Shape 21">
            <a:extLst>
              <a:ext uri="{FF2B5EF4-FFF2-40B4-BE49-F238E27FC236}">
                <a16:creationId xmlns:a16="http://schemas.microsoft.com/office/drawing/2014/main" id="{8130B212-A732-58FA-23C3-E57EF1F11241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5" name="Text 3">
            <a:extLst>
              <a:ext uri="{FF2B5EF4-FFF2-40B4-BE49-F238E27FC236}">
                <a16:creationId xmlns:a16="http://schemas.microsoft.com/office/drawing/2014/main" id="{1DD69DA9-038D-03F6-B62E-274041036DD2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B8128-9E2E-DD0E-1FDC-E123607E8EE4}"/>
              </a:ext>
            </a:extLst>
          </p:cNvPr>
          <p:cNvSpPr/>
          <p:nvPr/>
        </p:nvSpPr>
        <p:spPr>
          <a:xfrm>
            <a:off x="9923417" y="6551109"/>
            <a:ext cx="1434347" cy="158377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2A7CF2-E55D-4662-9542-54F890BA3966}"/>
              </a:ext>
            </a:extLst>
          </p:cNvPr>
          <p:cNvSpPr/>
          <p:nvPr/>
        </p:nvSpPr>
        <p:spPr>
          <a:xfrm>
            <a:off x="11467594" y="5810114"/>
            <a:ext cx="993372" cy="8961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E08AC-27E7-2862-3BE1-A2176DB31DC2}"/>
              </a:ext>
            </a:extLst>
          </p:cNvPr>
          <p:cNvSpPr txBox="1"/>
          <p:nvPr/>
        </p:nvSpPr>
        <p:spPr>
          <a:xfrm>
            <a:off x="10127332" y="8346120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카메라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C1D33-9B82-C502-F86B-F9AC43F987EA}"/>
              </a:ext>
            </a:extLst>
          </p:cNvPr>
          <p:cNvSpPr txBox="1"/>
          <p:nvPr/>
        </p:nvSpPr>
        <p:spPr>
          <a:xfrm>
            <a:off x="11514935" y="6900708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마이크</a:t>
            </a:r>
          </a:p>
        </p:txBody>
      </p:sp>
    </p:spTree>
    <p:extLst>
      <p:ext uri="{BB962C8B-B14F-4D97-AF65-F5344CB8AC3E}">
        <p14:creationId xmlns:p14="http://schemas.microsoft.com/office/powerpoint/2010/main" val="38103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8A1-6D10-72F8-C44F-38D6C72C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AF45DA02-50F2-68FD-9B67-D03581075C0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1DE62352-907A-81D6-F355-FA3A560F190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2251E1-DF19-E5DF-7AF2-74CC1C6D9FD0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4B89E65-4888-6FA9-EAD2-1EDA4B778296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A261D118-FE0F-BE6D-7500-4C78485B33D5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05D9704F-EDDA-2A13-9400-5AD20998F87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30AE1484-AE5C-AECF-864D-7222D0EFC98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영상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D5F322-D3A3-7FCB-DA43-FAE78C7531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D92A2BE-C8BC-A1BE-7F2B-BF95278546B6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1D68673-3723-1730-3157-8FEFE6DDB2F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69E16126-131C-B0F6-E1F5-95FB544C189C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0E82C405-4FD0-0A2C-F7BC-D7966DB4580F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3BB3F2-7425-EF9D-0193-667A6176B539}"/>
              </a:ext>
            </a:extLst>
          </p:cNvPr>
          <p:cNvSpPr/>
          <p:nvPr/>
        </p:nvSpPr>
        <p:spPr>
          <a:xfrm>
            <a:off x="1183170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입력</a:t>
            </a:r>
            <a:endParaRPr lang="en-US" sz="1979" dirty="0"/>
          </a:p>
        </p:txBody>
      </p:sp>
      <p:pic>
        <p:nvPicPr>
          <p:cNvPr id="9" name="Image 0" descr="arrow-right">
            <a:extLst>
              <a:ext uri="{FF2B5EF4-FFF2-40B4-BE49-F238E27FC236}">
                <a16:creationId xmlns:a16="http://schemas.microsoft.com/office/drawing/2014/main" id="{D959E76E-3BDE-91CE-C27F-34B07859C8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8823" y="3497908"/>
            <a:ext cx="293185" cy="188476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B3EAE25-5982-3BE4-36B4-076C9B44C8E0}"/>
              </a:ext>
            </a:extLst>
          </p:cNvPr>
          <p:cNvSpPr/>
          <p:nvPr/>
        </p:nvSpPr>
        <p:spPr>
          <a:xfrm>
            <a:off x="3741012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비디오 버퍼</a:t>
            </a:r>
            <a:endParaRPr lang="en-US" sz="1979" dirty="0"/>
          </a:p>
        </p:txBody>
      </p:sp>
      <p:pic>
        <p:nvPicPr>
          <p:cNvPr id="18" name="Image 1" descr="arrow-right">
            <a:extLst>
              <a:ext uri="{FF2B5EF4-FFF2-40B4-BE49-F238E27FC236}">
                <a16:creationId xmlns:a16="http://schemas.microsoft.com/office/drawing/2014/main" id="{B3FF07EE-0435-502E-A928-05678530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6828" y="3497908"/>
            <a:ext cx="293185" cy="188476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69A5DF65-320D-0913-3FA2-9B0BED35989E}"/>
              </a:ext>
            </a:extLst>
          </p:cNvPr>
          <p:cNvSpPr/>
          <p:nvPr/>
        </p:nvSpPr>
        <p:spPr>
          <a:xfrm>
            <a:off x="6299015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5FPS 샘플링</a:t>
            </a:r>
            <a:endParaRPr lang="en-US" sz="1979" dirty="0"/>
          </a:p>
        </p:txBody>
      </p:sp>
      <p:pic>
        <p:nvPicPr>
          <p:cNvPr id="26" name="Image 2" descr="arrow-right">
            <a:extLst>
              <a:ext uri="{FF2B5EF4-FFF2-40B4-BE49-F238E27FC236}">
                <a16:creationId xmlns:a16="http://schemas.microsoft.com/office/drawing/2014/main" id="{D9D5B0B8-F0B4-E32A-B89B-154CCF59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4669" y="3497908"/>
            <a:ext cx="293185" cy="188476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7A040E94-8D13-7701-7FDB-4A33E50C2D87}"/>
              </a:ext>
            </a:extLst>
          </p:cNvPr>
          <p:cNvSpPr/>
          <p:nvPr/>
        </p:nvSpPr>
        <p:spPr>
          <a:xfrm>
            <a:off x="8856857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객체 분류</a:t>
            </a:r>
            <a:endParaRPr lang="en-US" sz="1979" dirty="0"/>
          </a:p>
        </p:txBody>
      </p:sp>
      <p:pic>
        <p:nvPicPr>
          <p:cNvPr id="224" name="Image 3" descr="arrow-right">
            <a:extLst>
              <a:ext uri="{FF2B5EF4-FFF2-40B4-BE49-F238E27FC236}">
                <a16:creationId xmlns:a16="http://schemas.microsoft.com/office/drawing/2014/main" id="{3D7F8C6D-F3D1-E180-246C-CDC55E6DA6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32673" y="3497908"/>
            <a:ext cx="293185" cy="188476"/>
          </a:xfrm>
          <a:prstGeom prst="rect">
            <a:avLst/>
          </a:prstGeom>
        </p:spPr>
      </p:pic>
      <p:sp>
        <p:nvSpPr>
          <p:cNvPr id="226" name="Text 6">
            <a:extLst>
              <a:ext uri="{FF2B5EF4-FFF2-40B4-BE49-F238E27FC236}">
                <a16:creationId xmlns:a16="http://schemas.microsoft.com/office/drawing/2014/main" id="{C210EA7F-C544-E1DE-BBFE-CC8870A36637}"/>
              </a:ext>
            </a:extLst>
          </p:cNvPr>
          <p:cNvSpPr/>
          <p:nvPr/>
        </p:nvSpPr>
        <p:spPr>
          <a:xfrm>
            <a:off x="11414861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228" name="Image 4" descr="arrow-right">
            <a:extLst>
              <a:ext uri="{FF2B5EF4-FFF2-40B4-BE49-F238E27FC236}">
                <a16:creationId xmlns:a16="http://schemas.microsoft.com/office/drawing/2014/main" id="{2DCB2F73-4C3B-472D-25AA-6FEBC6892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90514" y="3497908"/>
            <a:ext cx="293185" cy="188476"/>
          </a:xfrm>
          <a:prstGeom prst="rect">
            <a:avLst/>
          </a:prstGeom>
        </p:spPr>
      </p:pic>
      <p:sp>
        <p:nvSpPr>
          <p:cNvPr id="230" name="Text 7">
            <a:extLst>
              <a:ext uri="{FF2B5EF4-FFF2-40B4-BE49-F238E27FC236}">
                <a16:creationId xmlns:a16="http://schemas.microsoft.com/office/drawing/2014/main" id="{43766BD5-16F4-C5D7-59C7-B734FB95864F}"/>
              </a:ext>
            </a:extLst>
          </p:cNvPr>
          <p:cNvSpPr/>
          <p:nvPr/>
        </p:nvSpPr>
        <p:spPr>
          <a:xfrm>
            <a:off x="13972702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232" name="Image 5" descr="arrow-right">
            <a:extLst>
              <a:ext uri="{FF2B5EF4-FFF2-40B4-BE49-F238E27FC236}">
                <a16:creationId xmlns:a16="http://schemas.microsoft.com/office/drawing/2014/main" id="{A5CEA276-F1E2-3420-0C3F-F8DA2D1E9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148355" y="3497908"/>
            <a:ext cx="293185" cy="188476"/>
          </a:xfrm>
          <a:prstGeom prst="rect">
            <a:avLst/>
          </a:prstGeom>
        </p:spPr>
      </p:pic>
      <p:sp>
        <p:nvSpPr>
          <p:cNvPr id="234" name="Text 8">
            <a:extLst>
              <a:ext uri="{FF2B5EF4-FFF2-40B4-BE49-F238E27FC236}">
                <a16:creationId xmlns:a16="http://schemas.microsoft.com/office/drawing/2014/main" id="{D77BA8B7-973E-4A06-080C-896182B88F83}"/>
              </a:ext>
            </a:extLst>
          </p:cNvPr>
          <p:cNvSpPr/>
          <p:nvPr/>
        </p:nvSpPr>
        <p:spPr>
          <a:xfrm>
            <a:off x="16525307" y="3269676"/>
            <a:ext cx="2076180" cy="644941"/>
          </a:xfrm>
          <a:custGeom>
            <a:avLst/>
            <a:gdLst/>
            <a:ahLst/>
            <a:cxnLst/>
            <a:rect l="l" t="t" r="r" b="b"/>
            <a:pathLst>
              <a:path w="1259086" h="3911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14920"/>
                </a:lnTo>
                <a:arcTo wR="76200" hR="76200" stAng="0" swAng="5400000"/>
                <a:lnTo>
                  <a:pt x="76200" y="3911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46592" rIns="41884" bIns="104709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B39CC2F5-54C5-852C-9B80-83E13B7CEBA7}"/>
              </a:ext>
            </a:extLst>
          </p:cNvPr>
          <p:cNvSpPr/>
          <p:nvPr/>
        </p:nvSpPr>
        <p:spPr>
          <a:xfrm>
            <a:off x="1177934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8E3DE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낙상 감지 · 침입 감지</a:t>
            </a:r>
            <a:endParaRPr lang="en-US" sz="1979" dirty="0"/>
          </a:p>
        </p:txBody>
      </p:sp>
      <p:sp>
        <p:nvSpPr>
          <p:cNvPr id="238" name="Text 10">
            <a:extLst>
              <a:ext uri="{FF2B5EF4-FFF2-40B4-BE49-F238E27FC236}">
                <a16:creationId xmlns:a16="http://schemas.microsoft.com/office/drawing/2014/main" id="{461A1584-182D-BC1E-8128-FFBBA43DA28D}"/>
              </a:ext>
            </a:extLst>
          </p:cNvPr>
          <p:cNvSpPr/>
          <p:nvPr/>
        </p:nvSpPr>
        <p:spPr>
          <a:xfrm>
            <a:off x="7041630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7EBD3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의심</a:t>
            </a:r>
            <a:endParaRPr lang="en-US" sz="1979" dirty="0"/>
          </a:p>
        </p:txBody>
      </p:sp>
      <p:sp>
        <p:nvSpPr>
          <p:cNvPr id="240" name="Text 11">
            <a:extLst>
              <a:ext uri="{FF2B5EF4-FFF2-40B4-BE49-F238E27FC236}">
                <a16:creationId xmlns:a16="http://schemas.microsoft.com/office/drawing/2014/main" id="{A361D31B-A5CA-3E5E-5F36-C1292952E999}"/>
              </a:ext>
            </a:extLst>
          </p:cNvPr>
          <p:cNvSpPr/>
          <p:nvPr/>
        </p:nvSpPr>
        <p:spPr>
          <a:xfrm>
            <a:off x="12905326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DFEAF5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택배 · 방문자</a:t>
            </a:r>
            <a:endParaRPr lang="en-US" sz="1979" dirty="0"/>
          </a:p>
        </p:txBody>
      </p:sp>
      <p:sp>
        <p:nvSpPr>
          <p:cNvPr id="244" name="Shape 12">
            <a:extLst>
              <a:ext uri="{FF2B5EF4-FFF2-40B4-BE49-F238E27FC236}">
                <a16:creationId xmlns:a16="http://schemas.microsoft.com/office/drawing/2014/main" id="{022AC45D-F745-20BA-8D01-A0BC1D265104}"/>
              </a:ext>
            </a:extLst>
          </p:cNvPr>
          <p:cNvSpPr/>
          <p:nvPr/>
        </p:nvSpPr>
        <p:spPr>
          <a:xfrm>
            <a:off x="1183170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250" name="Text 13">
            <a:extLst>
              <a:ext uri="{FF2B5EF4-FFF2-40B4-BE49-F238E27FC236}">
                <a16:creationId xmlns:a16="http://schemas.microsoft.com/office/drawing/2014/main" id="{FAA83580-109C-4F67-514B-F2D763BDCFDF}"/>
              </a:ext>
            </a:extLst>
          </p:cNvPr>
          <p:cNvSpPr/>
          <p:nvPr/>
        </p:nvSpPr>
        <p:spPr>
          <a:xfrm>
            <a:off x="1481590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감지 </a:t>
            </a:r>
            <a:r>
              <a:rPr lang="en-US" sz="2474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Danger</a:t>
            </a:r>
            <a:endParaRPr lang="en-US" sz="2474" dirty="0"/>
          </a:p>
        </p:txBody>
      </p:sp>
      <p:sp>
        <p:nvSpPr>
          <p:cNvPr id="252" name="Text 14">
            <a:extLst>
              <a:ext uri="{FF2B5EF4-FFF2-40B4-BE49-F238E27FC236}">
                <a16:creationId xmlns:a16="http://schemas.microsoft.com/office/drawing/2014/main" id="{36ADC9DD-67AF-DA51-D382-A0BB68DABE3D}"/>
              </a:ext>
            </a:extLst>
          </p:cNvPr>
          <p:cNvSpPr/>
          <p:nvPr/>
        </p:nvSpPr>
        <p:spPr>
          <a:xfrm>
            <a:off x="1665459" y="5837006"/>
            <a:ext cx="5016266" cy="2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위치 및 Bounding Box 추적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간 Bounding Box의 위치·크기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시간 동안 발생하는 급격한 변화 감지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만족 시 이벤트 생성</a:t>
            </a:r>
            <a:endParaRPr lang="en-US" sz="1979" dirty="0"/>
          </a:p>
        </p:txBody>
      </p:sp>
      <p:sp>
        <p:nvSpPr>
          <p:cNvPr id="254" name="Text 15">
            <a:extLst>
              <a:ext uri="{FF2B5EF4-FFF2-40B4-BE49-F238E27FC236}">
                <a16:creationId xmlns:a16="http://schemas.microsoft.com/office/drawing/2014/main" id="{C39A2755-27B2-5C64-1BE3-097DEA573769}"/>
              </a:ext>
            </a:extLst>
          </p:cNvPr>
          <p:cNvSpPr/>
          <p:nvPr/>
        </p:nvSpPr>
        <p:spPr>
          <a:xfrm>
            <a:off x="1661396" y="8848861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fall_detect</a:t>
            </a:r>
            <a:endParaRPr lang="en-US" sz="1979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FD32EFD-F17B-55DA-FFD1-474E6DB8875C}"/>
              </a:ext>
            </a:extLst>
          </p:cNvPr>
          <p:cNvSpPr/>
          <p:nvPr/>
        </p:nvSpPr>
        <p:spPr>
          <a:xfrm>
            <a:off x="7060774" y="5077868"/>
            <a:ext cx="5657878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16FD208-BDA4-C376-A336-1914563725B1}"/>
              </a:ext>
            </a:extLst>
          </p:cNvPr>
          <p:cNvSpPr/>
          <p:nvPr/>
        </p:nvSpPr>
        <p:spPr>
          <a:xfrm>
            <a:off x="7359193" y="5334403"/>
            <a:ext cx="521286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954AE1FF-CE75-5FF2-AA59-1E1EE8F838DC}"/>
              </a:ext>
            </a:extLst>
          </p:cNvPr>
          <p:cNvSpPr/>
          <p:nvPr/>
        </p:nvSpPr>
        <p:spPr>
          <a:xfrm>
            <a:off x="7543062" y="5837005"/>
            <a:ext cx="5016435" cy="1800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방문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머문 영역을 기준 영역으로 설정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퇴장 후 일정 시간 대기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전후 해당 영역의 Pixel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변화가 일정 시간 유지되면 이벤트 생성</a:t>
            </a:r>
            <a:endParaRPr lang="en-US" sz="1979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BE6DC99-E83E-A0F0-74AC-0C7F6546E7F1}"/>
              </a:ext>
            </a:extLst>
          </p:cNvPr>
          <p:cNvSpPr/>
          <p:nvPr/>
        </p:nvSpPr>
        <p:spPr>
          <a:xfrm>
            <a:off x="7538999" y="8848861"/>
            <a:ext cx="5212868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delivery</a:t>
            </a:r>
            <a:endParaRPr lang="en-US" sz="1979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7053921-E058-F67B-CB79-6D3A351A3B2D}"/>
              </a:ext>
            </a:extLst>
          </p:cNvPr>
          <p:cNvSpPr/>
          <p:nvPr/>
        </p:nvSpPr>
        <p:spPr>
          <a:xfrm>
            <a:off x="12938537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C4322B4-07F9-5257-F0B4-B03B712E906C}"/>
              </a:ext>
            </a:extLst>
          </p:cNvPr>
          <p:cNvSpPr/>
          <p:nvPr/>
        </p:nvSpPr>
        <p:spPr>
          <a:xfrm>
            <a:off x="13236958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E114101-DAD6-6B5E-D9F5-8549715FE588}"/>
              </a:ext>
            </a:extLst>
          </p:cNvPr>
          <p:cNvSpPr/>
          <p:nvPr/>
        </p:nvSpPr>
        <p:spPr>
          <a:xfrm>
            <a:off x="13420827" y="5837006"/>
            <a:ext cx="5016266" cy="144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YOLO의 person 클래스 활용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내 사람의 등장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시간 이상 사람 존재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발생 시 이벤트 생성</a:t>
            </a:r>
            <a:endParaRPr lang="en-US" sz="1979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50E6159A-A821-5E96-6FA6-A3C0C00AADDD}"/>
              </a:ext>
            </a:extLst>
          </p:cNvPr>
          <p:cNvSpPr/>
          <p:nvPr/>
        </p:nvSpPr>
        <p:spPr>
          <a:xfrm>
            <a:off x="13445421" y="8848860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visitor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815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5584-B3D5-4DA4-7FC2-CEA46B5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E9AE1159-A1DB-8291-74E8-194ABB76AD8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E13CB406-D183-5679-A6D9-352764A4A87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645F029A-1B70-18CE-70C6-B4139F037FFB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A1C8A83A-53A3-F68A-5D35-0956C12BC3A8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44F1356F-C7AC-CA7A-B671-60C56F25714C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Backend &amp; Cloud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E28B52-9A5B-1DE6-5A32-38D3FF51A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B6ED-9F67-13E5-9A67-E34C42EF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61B1AC1E-B6C0-FE68-72C4-B634B0B1CC1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F3E32D38-26FE-224A-3F39-B7892F2A5F6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EDC9BE47-C361-21F9-8B78-355B4D203004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77E5E262-8855-168A-B0D2-D589F08888BB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C1BA11-6BBA-34FA-ED4D-EE99A5E05EC9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A66143EF-813F-DF97-AAE9-8D7DC5A020C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1E0A039-12AF-9145-7597-7A78C12A6AAD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F84FFA-D79B-9878-9488-51A519BB29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04DE1337-74A3-D7A4-70EF-FC53C3D84AAB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9BB8B655-617E-D998-26A8-89B568DA20A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80980917-B208-0ACE-F890-57BF960B3A9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7A92E4B5-4520-17F8-60AB-56F5CAF6470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62" name="Shape 28">
            <a:extLst>
              <a:ext uri="{FF2B5EF4-FFF2-40B4-BE49-F238E27FC236}">
                <a16:creationId xmlns:a16="http://schemas.microsoft.com/office/drawing/2014/main" id="{A94DD626-97C3-679D-0789-AD3CF73A00A2}"/>
              </a:ext>
            </a:extLst>
          </p:cNvPr>
          <p:cNvSpPr/>
          <p:nvPr/>
        </p:nvSpPr>
        <p:spPr>
          <a:xfrm>
            <a:off x="2793979" y="8645823"/>
            <a:ext cx="13972350" cy="1306767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 sz="8700" dirty="0"/>
          </a:p>
        </p:txBody>
      </p:sp>
      <p:sp>
        <p:nvSpPr>
          <p:cNvPr id="364" name="Text 29">
            <a:extLst>
              <a:ext uri="{FF2B5EF4-FFF2-40B4-BE49-F238E27FC236}">
                <a16:creationId xmlns:a16="http://schemas.microsoft.com/office/drawing/2014/main" id="{72010EBF-7D10-E8A5-E00B-A25A150B00C4}"/>
              </a:ext>
            </a:extLst>
          </p:cNvPr>
          <p:cNvSpPr txBox="1"/>
          <p:nvPr/>
        </p:nvSpPr>
        <p:spPr>
          <a:xfrm>
            <a:off x="3027518" y="8625743"/>
            <a:ext cx="13325483" cy="130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001"/>
              </a:lnSpc>
            </a:pP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</a:t>
            </a:r>
            <a:r>
              <a:rPr lang="en-US" altLang="ko-KR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WebSocket·MQTT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요청만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라즈베리파이가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377415-0349-4758-B979-B244E84D7CC9}"/>
              </a:ext>
            </a:extLst>
          </p:cNvPr>
          <p:cNvSpPr txBox="1"/>
          <p:nvPr/>
        </p:nvSpPr>
        <p:spPr>
          <a:xfrm>
            <a:off x="7611024" y="6181191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CA1C177-CE32-2B93-26CA-8A50810203FD}"/>
              </a:ext>
            </a:extLst>
          </p:cNvPr>
          <p:cNvSpPr/>
          <p:nvPr/>
        </p:nvSpPr>
        <p:spPr>
          <a:xfrm>
            <a:off x="4165381" y="2457945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E18C416-B1FA-60E6-5413-3288E7D0222F}"/>
              </a:ext>
            </a:extLst>
          </p:cNvPr>
          <p:cNvSpPr/>
          <p:nvPr/>
        </p:nvSpPr>
        <p:spPr>
          <a:xfrm>
            <a:off x="10546227" y="2457944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F1C3B46-0F75-1806-93A7-3B668A5C5DFC}"/>
              </a:ext>
            </a:extLst>
          </p:cNvPr>
          <p:cNvSpPr/>
          <p:nvPr/>
        </p:nvSpPr>
        <p:spPr>
          <a:xfrm>
            <a:off x="4165380" y="2924835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6DC4CD6-DC37-E84C-6DCB-76C26587B290}"/>
              </a:ext>
            </a:extLst>
          </p:cNvPr>
          <p:cNvSpPr/>
          <p:nvPr/>
        </p:nvSpPr>
        <p:spPr>
          <a:xfrm>
            <a:off x="4087566" y="3002650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0F4D61-DE97-D542-3F5B-A8D0B773597D}"/>
              </a:ext>
            </a:extLst>
          </p:cNvPr>
          <p:cNvSpPr/>
          <p:nvPr/>
        </p:nvSpPr>
        <p:spPr>
          <a:xfrm>
            <a:off x="4243196" y="4373225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66483EA-0659-C6F2-5AA5-D5795F10A6E9}"/>
              </a:ext>
            </a:extLst>
          </p:cNvPr>
          <p:cNvSpPr/>
          <p:nvPr/>
        </p:nvSpPr>
        <p:spPr>
          <a:xfrm>
            <a:off x="4243196" y="4451040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F7E1E76-624D-37F2-083D-F46AE3A06BED}"/>
              </a:ext>
            </a:extLst>
          </p:cNvPr>
          <p:cNvSpPr/>
          <p:nvPr/>
        </p:nvSpPr>
        <p:spPr>
          <a:xfrm>
            <a:off x="4243196" y="5073562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A54AA85-F388-3ED7-3F01-F3AEC5219130}"/>
              </a:ext>
            </a:extLst>
          </p:cNvPr>
          <p:cNvSpPr/>
          <p:nvPr/>
        </p:nvSpPr>
        <p:spPr>
          <a:xfrm>
            <a:off x="7083451" y="4376895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5" name="Text 27">
            <a:extLst>
              <a:ext uri="{FF2B5EF4-FFF2-40B4-BE49-F238E27FC236}">
                <a16:creationId xmlns:a16="http://schemas.microsoft.com/office/drawing/2014/main" id="{80702782-3615-DD78-B281-C16D591E8F53}"/>
              </a:ext>
            </a:extLst>
          </p:cNvPr>
          <p:cNvSpPr/>
          <p:nvPr/>
        </p:nvSpPr>
        <p:spPr>
          <a:xfrm>
            <a:off x="7083451" y="4454710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27" name="Text 28">
            <a:extLst>
              <a:ext uri="{FF2B5EF4-FFF2-40B4-BE49-F238E27FC236}">
                <a16:creationId xmlns:a16="http://schemas.microsoft.com/office/drawing/2014/main" id="{330F2EC0-97F6-7103-A711-93D5E9D8A36D}"/>
              </a:ext>
            </a:extLst>
          </p:cNvPr>
          <p:cNvSpPr/>
          <p:nvPr/>
        </p:nvSpPr>
        <p:spPr>
          <a:xfrm>
            <a:off x="7083451" y="4921602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29" name="Shape 31">
            <a:extLst>
              <a:ext uri="{FF2B5EF4-FFF2-40B4-BE49-F238E27FC236}">
                <a16:creationId xmlns:a16="http://schemas.microsoft.com/office/drawing/2014/main" id="{15615114-C8FD-4AB7-F488-FBA9A7197EDD}"/>
              </a:ext>
            </a:extLst>
          </p:cNvPr>
          <p:cNvSpPr/>
          <p:nvPr/>
        </p:nvSpPr>
        <p:spPr>
          <a:xfrm>
            <a:off x="4321011" y="7049040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1" name="Text 32">
            <a:extLst>
              <a:ext uri="{FF2B5EF4-FFF2-40B4-BE49-F238E27FC236}">
                <a16:creationId xmlns:a16="http://schemas.microsoft.com/office/drawing/2014/main" id="{706D8940-94D5-F769-B8D0-C2CD00D09925}"/>
              </a:ext>
            </a:extLst>
          </p:cNvPr>
          <p:cNvSpPr/>
          <p:nvPr/>
        </p:nvSpPr>
        <p:spPr>
          <a:xfrm>
            <a:off x="4321011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33" name="Text 33">
            <a:extLst>
              <a:ext uri="{FF2B5EF4-FFF2-40B4-BE49-F238E27FC236}">
                <a16:creationId xmlns:a16="http://schemas.microsoft.com/office/drawing/2014/main" id="{490CE54F-6D0F-2DFC-1458-184A558B5D08}"/>
              </a:ext>
            </a:extLst>
          </p:cNvPr>
          <p:cNvSpPr/>
          <p:nvPr/>
        </p:nvSpPr>
        <p:spPr>
          <a:xfrm>
            <a:off x="4321011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5" name="Text 34">
            <a:extLst>
              <a:ext uri="{FF2B5EF4-FFF2-40B4-BE49-F238E27FC236}">
                <a16:creationId xmlns:a16="http://schemas.microsoft.com/office/drawing/2014/main" id="{A2338111-25D8-D06D-11D3-A3EDF1CA2E52}"/>
              </a:ext>
            </a:extLst>
          </p:cNvPr>
          <p:cNvSpPr/>
          <p:nvPr/>
        </p:nvSpPr>
        <p:spPr>
          <a:xfrm>
            <a:off x="4321011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37" name="Shape 35">
            <a:extLst>
              <a:ext uri="{FF2B5EF4-FFF2-40B4-BE49-F238E27FC236}">
                <a16:creationId xmlns:a16="http://schemas.microsoft.com/office/drawing/2014/main" id="{A07C8B1B-6CAC-4D08-15F9-8A24626A092C}"/>
              </a:ext>
            </a:extLst>
          </p:cNvPr>
          <p:cNvSpPr/>
          <p:nvPr/>
        </p:nvSpPr>
        <p:spPr>
          <a:xfrm>
            <a:off x="7044543" y="7049040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9" name="Text 36">
            <a:extLst>
              <a:ext uri="{FF2B5EF4-FFF2-40B4-BE49-F238E27FC236}">
                <a16:creationId xmlns:a16="http://schemas.microsoft.com/office/drawing/2014/main" id="{8674C837-385E-9276-69A4-68FDCC769BE4}"/>
              </a:ext>
            </a:extLst>
          </p:cNvPr>
          <p:cNvSpPr/>
          <p:nvPr/>
        </p:nvSpPr>
        <p:spPr>
          <a:xfrm>
            <a:off x="7044543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42" name="Text 37">
            <a:extLst>
              <a:ext uri="{FF2B5EF4-FFF2-40B4-BE49-F238E27FC236}">
                <a16:creationId xmlns:a16="http://schemas.microsoft.com/office/drawing/2014/main" id="{2A56D1D3-0B53-16BC-CE5A-641608093E53}"/>
              </a:ext>
            </a:extLst>
          </p:cNvPr>
          <p:cNvSpPr/>
          <p:nvPr/>
        </p:nvSpPr>
        <p:spPr>
          <a:xfrm>
            <a:off x="7044543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46" name="Text 38">
            <a:extLst>
              <a:ext uri="{FF2B5EF4-FFF2-40B4-BE49-F238E27FC236}">
                <a16:creationId xmlns:a16="http://schemas.microsoft.com/office/drawing/2014/main" id="{6050B62B-4BCD-4C3F-C4CD-B9BA57D80318}"/>
              </a:ext>
            </a:extLst>
          </p:cNvPr>
          <p:cNvSpPr/>
          <p:nvPr/>
        </p:nvSpPr>
        <p:spPr>
          <a:xfrm>
            <a:off x="7044543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A54D9293-1EB1-C7C3-23AF-A043B85BD57E}"/>
              </a:ext>
            </a:extLst>
          </p:cNvPr>
          <p:cNvSpPr/>
          <p:nvPr/>
        </p:nvSpPr>
        <p:spPr>
          <a:xfrm>
            <a:off x="10312781" y="2924835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3" name="Text 40">
            <a:extLst>
              <a:ext uri="{FF2B5EF4-FFF2-40B4-BE49-F238E27FC236}">
                <a16:creationId xmlns:a16="http://schemas.microsoft.com/office/drawing/2014/main" id="{B2530366-12EE-0CBB-D2CB-4B8A3E4991A2}"/>
              </a:ext>
            </a:extLst>
          </p:cNvPr>
          <p:cNvSpPr/>
          <p:nvPr/>
        </p:nvSpPr>
        <p:spPr>
          <a:xfrm>
            <a:off x="10312781" y="3002650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55" name="Text 41">
            <a:extLst>
              <a:ext uri="{FF2B5EF4-FFF2-40B4-BE49-F238E27FC236}">
                <a16:creationId xmlns:a16="http://schemas.microsoft.com/office/drawing/2014/main" id="{A96EA2DD-F05A-F9D6-71EC-28011A7C7B00}"/>
              </a:ext>
            </a:extLst>
          </p:cNvPr>
          <p:cNvSpPr/>
          <p:nvPr/>
        </p:nvSpPr>
        <p:spPr>
          <a:xfrm>
            <a:off x="10312781" y="3469541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321" name="Shape 42">
            <a:extLst>
              <a:ext uri="{FF2B5EF4-FFF2-40B4-BE49-F238E27FC236}">
                <a16:creationId xmlns:a16="http://schemas.microsoft.com/office/drawing/2014/main" id="{FF54A21D-66A3-A12B-AFC5-FB261FD2F747}"/>
              </a:ext>
            </a:extLst>
          </p:cNvPr>
          <p:cNvSpPr/>
          <p:nvPr/>
        </p:nvSpPr>
        <p:spPr>
          <a:xfrm>
            <a:off x="10624042" y="4014248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23" name="Text 43">
            <a:extLst>
              <a:ext uri="{FF2B5EF4-FFF2-40B4-BE49-F238E27FC236}">
                <a16:creationId xmlns:a16="http://schemas.microsoft.com/office/drawing/2014/main" id="{AC6D5A51-0A5E-6898-0300-F0EE95380173}"/>
              </a:ext>
            </a:extLst>
          </p:cNvPr>
          <p:cNvSpPr/>
          <p:nvPr/>
        </p:nvSpPr>
        <p:spPr>
          <a:xfrm>
            <a:off x="10624042" y="4169878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327" name="Text 44">
            <a:extLst>
              <a:ext uri="{FF2B5EF4-FFF2-40B4-BE49-F238E27FC236}">
                <a16:creationId xmlns:a16="http://schemas.microsoft.com/office/drawing/2014/main" id="{718A0056-3EF2-08D7-6252-030246ECA4ED}"/>
              </a:ext>
            </a:extLst>
          </p:cNvPr>
          <p:cNvSpPr/>
          <p:nvPr/>
        </p:nvSpPr>
        <p:spPr>
          <a:xfrm>
            <a:off x="10624042" y="4636769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331" name="Shape 45">
            <a:extLst>
              <a:ext uri="{FF2B5EF4-FFF2-40B4-BE49-F238E27FC236}">
                <a16:creationId xmlns:a16="http://schemas.microsoft.com/office/drawing/2014/main" id="{5CB9E3CE-07C6-5A43-4E73-51B19FEFB532}"/>
              </a:ext>
            </a:extLst>
          </p:cNvPr>
          <p:cNvSpPr/>
          <p:nvPr/>
        </p:nvSpPr>
        <p:spPr>
          <a:xfrm>
            <a:off x="11635640" y="7126856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35" name="Text 46">
            <a:extLst>
              <a:ext uri="{FF2B5EF4-FFF2-40B4-BE49-F238E27FC236}">
                <a16:creationId xmlns:a16="http://schemas.microsoft.com/office/drawing/2014/main" id="{6FA7F3A8-A6EE-D56D-0F06-D1FB41B64A8B}"/>
              </a:ext>
            </a:extLst>
          </p:cNvPr>
          <p:cNvSpPr/>
          <p:nvPr/>
        </p:nvSpPr>
        <p:spPr>
          <a:xfrm>
            <a:off x="11635640" y="7360301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39" name="Shape 50">
            <a:extLst>
              <a:ext uri="{FF2B5EF4-FFF2-40B4-BE49-F238E27FC236}">
                <a16:creationId xmlns:a16="http://schemas.microsoft.com/office/drawing/2014/main" id="{C106F281-6018-C4AF-0F70-A5116914046F}"/>
              </a:ext>
            </a:extLst>
          </p:cNvPr>
          <p:cNvSpPr/>
          <p:nvPr/>
        </p:nvSpPr>
        <p:spPr>
          <a:xfrm>
            <a:off x="9690260" y="4768751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43" name="Text 51">
            <a:extLst>
              <a:ext uri="{FF2B5EF4-FFF2-40B4-BE49-F238E27FC236}">
                <a16:creationId xmlns:a16="http://schemas.microsoft.com/office/drawing/2014/main" id="{000CACA6-0922-8C2E-205E-D02E298EFB7C}"/>
              </a:ext>
            </a:extLst>
          </p:cNvPr>
          <p:cNvSpPr/>
          <p:nvPr/>
        </p:nvSpPr>
        <p:spPr>
          <a:xfrm>
            <a:off x="9612444" y="5179575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347" name="Shape 52">
            <a:extLst>
              <a:ext uri="{FF2B5EF4-FFF2-40B4-BE49-F238E27FC236}">
                <a16:creationId xmlns:a16="http://schemas.microsoft.com/office/drawing/2014/main" id="{5482936C-AFB4-E8A6-F5E1-435536BAE4AC}"/>
              </a:ext>
            </a:extLst>
          </p:cNvPr>
          <p:cNvSpPr/>
          <p:nvPr/>
        </p:nvSpPr>
        <p:spPr>
          <a:xfrm>
            <a:off x="6791644" y="4909123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50" name="Text 53">
            <a:extLst>
              <a:ext uri="{FF2B5EF4-FFF2-40B4-BE49-F238E27FC236}">
                <a16:creationId xmlns:a16="http://schemas.microsoft.com/office/drawing/2014/main" id="{536DED30-4B14-BF94-D773-123FC4F3FB1A}"/>
              </a:ext>
            </a:extLst>
          </p:cNvPr>
          <p:cNvSpPr/>
          <p:nvPr/>
        </p:nvSpPr>
        <p:spPr>
          <a:xfrm>
            <a:off x="5254793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2" name="Text 54">
            <a:extLst>
              <a:ext uri="{FF2B5EF4-FFF2-40B4-BE49-F238E27FC236}">
                <a16:creationId xmlns:a16="http://schemas.microsoft.com/office/drawing/2014/main" id="{295C8B19-B91D-E5F1-18BC-4FD392F02158}"/>
              </a:ext>
            </a:extLst>
          </p:cNvPr>
          <p:cNvSpPr/>
          <p:nvPr/>
        </p:nvSpPr>
        <p:spPr>
          <a:xfrm>
            <a:off x="5643869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354" name="Text 55">
            <a:extLst>
              <a:ext uri="{FF2B5EF4-FFF2-40B4-BE49-F238E27FC236}">
                <a16:creationId xmlns:a16="http://schemas.microsoft.com/office/drawing/2014/main" id="{CCA41AC3-7703-7BAD-7E0B-A5BA0B866A39}"/>
              </a:ext>
            </a:extLst>
          </p:cNvPr>
          <p:cNvSpPr/>
          <p:nvPr/>
        </p:nvSpPr>
        <p:spPr>
          <a:xfrm>
            <a:off x="7978325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6" name="Text 56">
            <a:extLst>
              <a:ext uri="{FF2B5EF4-FFF2-40B4-BE49-F238E27FC236}">
                <a16:creationId xmlns:a16="http://schemas.microsoft.com/office/drawing/2014/main" id="{2A65CB0A-292B-9B76-DABE-B7D79EA8C242}"/>
              </a:ext>
            </a:extLst>
          </p:cNvPr>
          <p:cNvSpPr/>
          <p:nvPr/>
        </p:nvSpPr>
        <p:spPr>
          <a:xfrm>
            <a:off x="8367401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452157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9B77-C06B-83B6-6A5F-75E2C045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31DC87-D9C2-A7D4-2A88-3645723864F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C3297F9E-7D6F-A765-9C0F-E883757907EC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7EAA5F1A-B4EE-917D-098B-14C7A67E8BEF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E6133EAD-3303-239B-BCB6-1E2DC96600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EF6199A-38C1-168C-7F9D-C94CEEAB0AE4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23B3A24A-3D6F-B37F-F494-F3E65270FC8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2DD21907-2897-FC65-6B0C-2ABE4579E4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API Server</a:t>
            </a:r>
            <a:endParaRPr lang="en-US" altLang="ko-KR" sz="4800" b="1" dirty="0"/>
          </a:p>
        </p:txBody>
      </p:sp>
      <p:sp>
        <p:nvSpPr>
          <p:cNvPr id="288" name="Text 7">
            <a:extLst>
              <a:ext uri="{FF2B5EF4-FFF2-40B4-BE49-F238E27FC236}">
                <a16:creationId xmlns:a16="http://schemas.microsoft.com/office/drawing/2014/main" id="{70A3BD2E-C7DF-F5C4-F44A-1DDD0C2C27B4}"/>
              </a:ext>
            </a:extLst>
          </p:cNvPr>
          <p:cNvSpPr/>
          <p:nvPr/>
        </p:nvSpPr>
        <p:spPr>
          <a:xfrm>
            <a:off x="5027942" y="3322272"/>
            <a:ext cx="10354934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2C2DAB-CDD9-C272-EF78-F539B19CE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341E1B89-3FEB-313E-1017-5473A4291745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616FAC13-5E11-C155-FA3D-EF1BF0DE6EE8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97797B1F-DB1F-598D-6686-66827A9AD5D3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44D0370-84A0-5A05-727A-92C8C2F19465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8BECBC2-C34C-D269-2D4E-71E5E754B264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A71C8A1-3F3A-64A1-1F62-C6EBEDE1FACF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38" b="1" i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들어오는 요청을 처리하는 서버</a:t>
            </a:r>
            <a:endParaRPr lang="en-US" sz="2638" b="1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1A08238-C6D4-D629-EDCC-53364621CCA5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14E6AC-A693-E859-FFDE-367F489EA93A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+ Express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만든 </a:t>
            </a:r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URL(주소)마다 기능을 나눠 요청을 받는 방식</a:t>
            </a:r>
            <a:endParaRPr lang="en-US" sz="2528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4EF114E-0E92-66C2-19CB-8A6491452FE6}"/>
              </a:ext>
            </a:extLst>
          </p:cNvPr>
          <p:cNvSpPr/>
          <p:nvPr/>
        </p:nvSpPr>
        <p:spPr>
          <a:xfrm>
            <a:off x="1005205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82CDEA7-63EE-2BE1-8898-AD7EA52AC1E4}"/>
              </a:ext>
            </a:extLst>
          </p:cNvPr>
          <p:cNvSpPr/>
          <p:nvPr/>
        </p:nvSpPr>
        <p:spPr>
          <a:xfrm>
            <a:off x="1246454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B6355F1-3F12-7A31-558F-D1DB43BBCAEC}"/>
              </a:ext>
            </a:extLst>
          </p:cNvPr>
          <p:cNvSpPr txBox="1"/>
          <p:nvPr/>
        </p:nvSpPr>
        <p:spPr>
          <a:xfrm>
            <a:off x="1246454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/api/events</a:t>
            </a:r>
            <a:endParaRPr lang="en-US" sz="2309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521C9BD-51C0-62E8-03DE-8CD2139C3AE3}"/>
              </a:ext>
            </a:extLst>
          </p:cNvPr>
          <p:cNvSpPr txBox="1"/>
          <p:nvPr/>
        </p:nvSpPr>
        <p:spPr>
          <a:xfrm>
            <a:off x="5227066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라즈베리파이에서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발생한 이벤트 정보를 받아 저장하고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조회</a:t>
            </a:r>
            <a:endParaRPr lang="en-US" sz="2089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89F76EFA-8989-8BEA-17F1-DFF927788F56}"/>
              </a:ext>
            </a:extLst>
          </p:cNvPr>
          <p:cNvSpPr/>
          <p:nvPr/>
        </p:nvSpPr>
        <p:spPr>
          <a:xfrm>
            <a:off x="10152571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71747E8D-887D-6674-3EC4-A07094EC48CC}"/>
              </a:ext>
            </a:extLst>
          </p:cNvPr>
          <p:cNvSpPr/>
          <p:nvPr/>
        </p:nvSpPr>
        <p:spPr>
          <a:xfrm>
            <a:off x="10393819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44947E9-340E-25C9-43F8-FC2F7F4C8CA8}"/>
              </a:ext>
            </a:extLst>
          </p:cNvPr>
          <p:cNvSpPr txBox="1"/>
          <p:nvPr/>
        </p:nvSpPr>
        <p:spPr>
          <a:xfrm>
            <a:off x="10393819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2309" dirty="0"/>
          </a:p>
        </p:txBody>
      </p:sp>
      <p:sp>
        <p:nvSpPr>
          <p:cNvPr id="225" name="Text 19">
            <a:extLst>
              <a:ext uri="{FF2B5EF4-FFF2-40B4-BE49-F238E27FC236}">
                <a16:creationId xmlns:a16="http://schemas.microsoft.com/office/drawing/2014/main" id="{13693F69-D11F-3FE7-E7B5-09D103559C05}"/>
              </a:ext>
            </a:extLst>
          </p:cNvPr>
          <p:cNvSpPr txBox="1"/>
          <p:nvPr/>
        </p:nvSpPr>
        <p:spPr>
          <a:xfrm>
            <a:off x="14374432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보호자가 “오늘 누가 왔어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?”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같은 질문을 보내면 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답변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브리핑도 생성</a:t>
            </a:r>
            <a:endParaRPr lang="en-US" sz="2089" dirty="0"/>
          </a:p>
        </p:txBody>
      </p:sp>
      <p:sp>
        <p:nvSpPr>
          <p:cNvPr id="227" name="Shape 20">
            <a:extLst>
              <a:ext uri="{FF2B5EF4-FFF2-40B4-BE49-F238E27FC236}">
                <a16:creationId xmlns:a16="http://schemas.microsoft.com/office/drawing/2014/main" id="{AC3E53D4-A0E3-5749-0308-E59ED6C0898A}"/>
              </a:ext>
            </a:extLst>
          </p:cNvPr>
          <p:cNvSpPr/>
          <p:nvPr/>
        </p:nvSpPr>
        <p:spPr>
          <a:xfrm>
            <a:off x="1005205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29" name="Shape 21">
            <a:extLst>
              <a:ext uri="{FF2B5EF4-FFF2-40B4-BE49-F238E27FC236}">
                <a16:creationId xmlns:a16="http://schemas.microsoft.com/office/drawing/2014/main" id="{3F17DF7E-6B14-BEB0-9B7B-3BB5CF23AEFD}"/>
              </a:ext>
            </a:extLst>
          </p:cNvPr>
          <p:cNvSpPr/>
          <p:nvPr/>
        </p:nvSpPr>
        <p:spPr>
          <a:xfrm>
            <a:off x="1246454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1" name="Text 22">
            <a:extLst>
              <a:ext uri="{FF2B5EF4-FFF2-40B4-BE49-F238E27FC236}">
                <a16:creationId xmlns:a16="http://schemas.microsoft.com/office/drawing/2014/main" id="{EF2AD521-623B-72D7-C145-38548F2411AD}"/>
              </a:ext>
            </a:extLst>
          </p:cNvPr>
          <p:cNvSpPr txBox="1"/>
          <p:nvPr/>
        </p:nvSpPr>
        <p:spPr>
          <a:xfrm>
            <a:off x="1246454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/api/devices</a:t>
            </a:r>
            <a:endParaRPr lang="en-US" sz="2309" dirty="0"/>
          </a:p>
        </p:txBody>
      </p:sp>
      <p:sp>
        <p:nvSpPr>
          <p:cNvPr id="233" name="Text 23">
            <a:extLst>
              <a:ext uri="{FF2B5EF4-FFF2-40B4-BE49-F238E27FC236}">
                <a16:creationId xmlns:a16="http://schemas.microsoft.com/office/drawing/2014/main" id="{419A738D-3D56-AC73-1ED9-2CCBF0ED10E4}"/>
              </a:ext>
            </a:extLst>
          </p:cNvPr>
          <p:cNvSpPr txBox="1"/>
          <p:nvPr/>
        </p:nvSpPr>
        <p:spPr>
          <a:xfrm>
            <a:off x="5227066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마이크의 현재 상태를 확인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앱에서 촬영 화면을 볼 수 있도록 관리</a:t>
            </a:r>
            <a:endParaRPr lang="en-US" sz="2089" dirty="0"/>
          </a:p>
        </p:txBody>
      </p:sp>
      <p:sp>
        <p:nvSpPr>
          <p:cNvPr id="235" name="Shape 24">
            <a:extLst>
              <a:ext uri="{FF2B5EF4-FFF2-40B4-BE49-F238E27FC236}">
                <a16:creationId xmlns:a16="http://schemas.microsoft.com/office/drawing/2014/main" id="{513FF53B-8C9F-7949-EC47-5532762B5913}"/>
              </a:ext>
            </a:extLst>
          </p:cNvPr>
          <p:cNvSpPr/>
          <p:nvPr/>
        </p:nvSpPr>
        <p:spPr>
          <a:xfrm>
            <a:off x="10152571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7" name="Shape 25">
            <a:extLst>
              <a:ext uri="{FF2B5EF4-FFF2-40B4-BE49-F238E27FC236}">
                <a16:creationId xmlns:a16="http://schemas.microsoft.com/office/drawing/2014/main" id="{CB474D81-92F5-337F-DF76-E582E972C8B2}"/>
              </a:ext>
            </a:extLst>
          </p:cNvPr>
          <p:cNvSpPr/>
          <p:nvPr/>
        </p:nvSpPr>
        <p:spPr>
          <a:xfrm>
            <a:off x="10393819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9" name="Text 26">
            <a:extLst>
              <a:ext uri="{FF2B5EF4-FFF2-40B4-BE49-F238E27FC236}">
                <a16:creationId xmlns:a16="http://schemas.microsoft.com/office/drawing/2014/main" id="{08CE6610-FAF7-7E84-2592-50E0D32C6645}"/>
              </a:ext>
            </a:extLst>
          </p:cNvPr>
          <p:cNvSpPr txBox="1"/>
          <p:nvPr/>
        </p:nvSpPr>
        <p:spPr>
          <a:xfrm>
            <a:off x="10393819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2309" dirty="0"/>
          </a:p>
        </p:txBody>
      </p:sp>
      <p:sp>
        <p:nvSpPr>
          <p:cNvPr id="242" name="Text 27">
            <a:extLst>
              <a:ext uri="{FF2B5EF4-FFF2-40B4-BE49-F238E27FC236}">
                <a16:creationId xmlns:a16="http://schemas.microsoft.com/office/drawing/2014/main" id="{6A1ED745-2064-F2C6-2655-81D15919688A}"/>
              </a:ext>
            </a:extLst>
          </p:cNvPr>
          <p:cNvSpPr txBox="1"/>
          <p:nvPr/>
        </p:nvSpPr>
        <p:spPr>
          <a:xfrm>
            <a:off x="14374432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이벤트 발생 시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알림 전송</a:t>
            </a:r>
            <a:endParaRPr lang="en-US" sz="2089" dirty="0"/>
          </a:p>
        </p:txBody>
      </p:sp>
    </p:spTree>
    <p:extLst>
      <p:ext uri="{BB962C8B-B14F-4D97-AF65-F5344CB8AC3E}">
        <p14:creationId xmlns:p14="http://schemas.microsoft.com/office/powerpoint/2010/main" val="30590224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7E59-C377-F143-8B6C-E934409D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179CA8C-2A83-2812-FC04-4E7D4EE5A04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41ED94F-E033-4409-E33E-7705096F7A88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180A7BF5-D35E-3797-FE77-C301398D5E9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21807B-3ED1-9E3A-05D5-E2CB951FB686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EB030B7B-A854-7442-433A-9331F881B261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85DC2C92-A5F7-0935-1550-2B8E4046C872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– </a:t>
            </a:r>
            <a:r>
              <a:rPr lang="en-US" altLang="ko-KR" sz="4800" b="1" dirty="0" err="1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altLang="ko-KR" sz="4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4D3DB2-06D0-A5A2-E9FB-6E2286E22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CD900256-73C0-22BF-D5F1-D78E3440DBC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AF2A1B4A-A4A7-EC44-913B-470B63559CF2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1678015-FB3C-74D1-88E3-7BB64F92F222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961FF4B-5249-2B96-5C02-D99BC134F33C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1" name="Text 6">
            <a:extLst>
              <a:ext uri="{FF2B5EF4-FFF2-40B4-BE49-F238E27FC236}">
                <a16:creationId xmlns:a16="http://schemas.microsoft.com/office/drawing/2014/main" id="{C702EA08-7663-2E04-1AD9-D5DC08804CAC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38" dirty="0"/>
          </a:p>
        </p:txBody>
      </p:sp>
      <p:sp>
        <p:nvSpPr>
          <p:cNvPr id="313" name="Text 11">
            <a:extLst>
              <a:ext uri="{FF2B5EF4-FFF2-40B4-BE49-F238E27FC236}">
                <a16:creationId xmlns:a16="http://schemas.microsoft.com/office/drawing/2014/main" id="{D6FAC25D-A34D-340B-DB37-33FF05919FD9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3A47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PostgreSQL DB + 로그인 + 파일 저장소를 한 번에 제공하는 클라우드 서비스</a:t>
            </a:r>
            <a:endParaRPr lang="en-US" sz="2528" dirty="0"/>
          </a:p>
        </p:txBody>
      </p:sp>
      <p:sp>
        <p:nvSpPr>
          <p:cNvPr id="315" name="Shape 12">
            <a:extLst>
              <a:ext uri="{FF2B5EF4-FFF2-40B4-BE49-F238E27FC236}">
                <a16:creationId xmlns:a16="http://schemas.microsoft.com/office/drawing/2014/main" id="{27FF5931-C552-3CB9-2D2C-5970594DA97B}"/>
              </a:ext>
            </a:extLst>
          </p:cNvPr>
          <p:cNvSpPr/>
          <p:nvPr/>
        </p:nvSpPr>
        <p:spPr>
          <a:xfrm>
            <a:off x="1005205" y="4182050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7" name="Text 13">
            <a:extLst>
              <a:ext uri="{FF2B5EF4-FFF2-40B4-BE49-F238E27FC236}">
                <a16:creationId xmlns:a16="http://schemas.microsoft.com/office/drawing/2014/main" id="{1B3F57A7-D5AD-792F-39E2-B1DAF7441ED2}"/>
              </a:ext>
            </a:extLst>
          </p:cNvPr>
          <p:cNvSpPr txBox="1"/>
          <p:nvPr/>
        </p:nvSpPr>
        <p:spPr>
          <a:xfrm>
            <a:off x="1246454" y="4182050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979" dirty="0"/>
          </a:p>
        </p:txBody>
      </p:sp>
      <p:sp>
        <p:nvSpPr>
          <p:cNvPr id="319" name="Text 14">
            <a:extLst>
              <a:ext uri="{FF2B5EF4-FFF2-40B4-BE49-F238E27FC236}">
                <a16:creationId xmlns:a16="http://schemas.microsoft.com/office/drawing/2014/main" id="{865608EA-4B16-78D3-3B46-1E5144EDD378}"/>
              </a:ext>
            </a:extLst>
          </p:cNvPr>
          <p:cNvSpPr txBox="1"/>
          <p:nvPr/>
        </p:nvSpPr>
        <p:spPr>
          <a:xfrm>
            <a:off x="5267274" y="4182050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등록된 기기(</a:t>
            </a:r>
            <a:r>
              <a:rPr lang="ko-KR" altLang="ko-KR" sz="2000" dirty="0" err="1"/>
              <a:t>카메라·마이크</a:t>
            </a:r>
            <a:r>
              <a:rPr lang="ko-KR" altLang="ko-KR" sz="2000" dirty="0"/>
              <a:t>)와 마지막 연결 시간</a:t>
            </a:r>
            <a:endParaRPr lang="en-US" sz="1979" dirty="0"/>
          </a:p>
        </p:txBody>
      </p:sp>
      <p:sp>
        <p:nvSpPr>
          <p:cNvPr id="321" name="Shape 15">
            <a:extLst>
              <a:ext uri="{FF2B5EF4-FFF2-40B4-BE49-F238E27FC236}">
                <a16:creationId xmlns:a16="http://schemas.microsoft.com/office/drawing/2014/main" id="{D0788E60-1DA0-238F-71B2-4A2706A5CD6C}"/>
              </a:ext>
            </a:extLst>
          </p:cNvPr>
          <p:cNvSpPr/>
          <p:nvPr/>
        </p:nvSpPr>
        <p:spPr>
          <a:xfrm>
            <a:off x="1005205" y="5066630"/>
            <a:ext cx="10856214" cy="112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3" name="Text 16">
            <a:extLst>
              <a:ext uri="{FF2B5EF4-FFF2-40B4-BE49-F238E27FC236}">
                <a16:creationId xmlns:a16="http://schemas.microsoft.com/office/drawing/2014/main" id="{43F13857-43CD-F079-55A2-47C500E2607E}"/>
              </a:ext>
            </a:extLst>
          </p:cNvPr>
          <p:cNvSpPr txBox="1"/>
          <p:nvPr/>
        </p:nvSpPr>
        <p:spPr>
          <a:xfrm>
            <a:off x="1246454" y="5066630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979" dirty="0"/>
          </a:p>
        </p:txBody>
      </p:sp>
      <p:sp>
        <p:nvSpPr>
          <p:cNvPr id="325" name="Text 17">
            <a:extLst>
              <a:ext uri="{FF2B5EF4-FFF2-40B4-BE49-F238E27FC236}">
                <a16:creationId xmlns:a16="http://schemas.microsoft.com/office/drawing/2014/main" id="{12B13389-17E6-6C06-E931-91ECB302C8CF}"/>
              </a:ext>
            </a:extLst>
          </p:cNvPr>
          <p:cNvSpPr txBox="1"/>
          <p:nvPr/>
        </p:nvSpPr>
        <p:spPr>
          <a:xfrm>
            <a:off x="5267274" y="5066630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감지된 이벤트 정보(</a:t>
            </a:r>
            <a:r>
              <a:rPr lang="ko-KR" altLang="ko-KR" sz="2000" dirty="0" err="1"/>
              <a:t>방문자·움직임·소리·위험</a:t>
            </a:r>
            <a:r>
              <a:rPr lang="ko-KR" altLang="ko-KR" sz="2000" dirty="0"/>
              <a:t>)와 </a:t>
            </a:r>
            <a:r>
              <a:rPr lang="ko-KR" altLang="ko-KR" sz="2000" dirty="0" err="1"/>
              <a:t>사진·영상·음성</a:t>
            </a:r>
            <a:r>
              <a:rPr lang="ko-KR" altLang="ko-KR" sz="2000" dirty="0"/>
              <a:t> 파일 위치</a:t>
            </a:r>
            <a:endParaRPr lang="en-US" sz="1979" dirty="0"/>
          </a:p>
        </p:txBody>
      </p:sp>
      <p:sp>
        <p:nvSpPr>
          <p:cNvPr id="327" name="Shape 18">
            <a:extLst>
              <a:ext uri="{FF2B5EF4-FFF2-40B4-BE49-F238E27FC236}">
                <a16:creationId xmlns:a16="http://schemas.microsoft.com/office/drawing/2014/main" id="{39F14BA1-1996-487B-A392-E1DFA7351644}"/>
              </a:ext>
            </a:extLst>
          </p:cNvPr>
          <p:cNvSpPr/>
          <p:nvPr/>
        </p:nvSpPr>
        <p:spPr>
          <a:xfrm>
            <a:off x="1005205" y="6313084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9" name="Text 19">
            <a:extLst>
              <a:ext uri="{FF2B5EF4-FFF2-40B4-BE49-F238E27FC236}">
                <a16:creationId xmlns:a16="http://schemas.microsoft.com/office/drawing/2014/main" id="{D6D4E605-BF61-DCB3-46CC-70D428A9018E}"/>
              </a:ext>
            </a:extLst>
          </p:cNvPr>
          <p:cNvSpPr txBox="1"/>
          <p:nvPr/>
        </p:nvSpPr>
        <p:spPr>
          <a:xfrm>
            <a:off x="1246454" y="6313084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 · messages</a:t>
            </a:r>
            <a:endParaRPr lang="en-US" sz="1979" dirty="0"/>
          </a:p>
        </p:txBody>
      </p:sp>
      <p:sp>
        <p:nvSpPr>
          <p:cNvPr id="331" name="Text 20">
            <a:extLst>
              <a:ext uri="{FF2B5EF4-FFF2-40B4-BE49-F238E27FC236}">
                <a16:creationId xmlns:a16="http://schemas.microsoft.com/office/drawing/2014/main" id="{32927B52-B1E6-E286-7839-8DD84A9026F7}"/>
              </a:ext>
            </a:extLst>
          </p:cNvPr>
          <p:cNvSpPr txBox="1"/>
          <p:nvPr/>
        </p:nvSpPr>
        <p:spPr>
          <a:xfrm>
            <a:off x="5267274" y="6313084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 err="1"/>
              <a:t>AI와</a:t>
            </a:r>
            <a:r>
              <a:rPr lang="ko-KR" altLang="ko-KR" sz="2000" dirty="0"/>
              <a:t> 주고받은 대화 기록</a:t>
            </a:r>
            <a:endParaRPr lang="en-US" sz="1979" dirty="0"/>
          </a:p>
        </p:txBody>
      </p:sp>
      <p:sp>
        <p:nvSpPr>
          <p:cNvPr id="333" name="Shape 21">
            <a:extLst>
              <a:ext uri="{FF2B5EF4-FFF2-40B4-BE49-F238E27FC236}">
                <a16:creationId xmlns:a16="http://schemas.microsoft.com/office/drawing/2014/main" id="{5DCADE55-022C-B9C9-B684-39CE61F5920C}"/>
              </a:ext>
            </a:extLst>
          </p:cNvPr>
          <p:cNvSpPr/>
          <p:nvPr/>
        </p:nvSpPr>
        <p:spPr>
          <a:xfrm>
            <a:off x="1005205" y="7197665"/>
            <a:ext cx="10856214" cy="7639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35" name="Text 22">
            <a:extLst>
              <a:ext uri="{FF2B5EF4-FFF2-40B4-BE49-F238E27FC236}">
                <a16:creationId xmlns:a16="http://schemas.microsoft.com/office/drawing/2014/main" id="{FC97DDD7-B4D1-E52C-3FE7-FCCFB7820DD1}"/>
              </a:ext>
            </a:extLst>
          </p:cNvPr>
          <p:cNvSpPr txBox="1"/>
          <p:nvPr/>
        </p:nvSpPr>
        <p:spPr>
          <a:xfrm>
            <a:off x="1246454" y="7197665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briefings</a:t>
            </a:r>
            <a:endParaRPr lang="en-US" sz="1979" dirty="0"/>
          </a:p>
        </p:txBody>
      </p:sp>
      <p:sp>
        <p:nvSpPr>
          <p:cNvPr id="337" name="Text 23">
            <a:extLst>
              <a:ext uri="{FF2B5EF4-FFF2-40B4-BE49-F238E27FC236}">
                <a16:creationId xmlns:a16="http://schemas.microsoft.com/office/drawing/2014/main" id="{8B6F8CE7-D206-9149-A70F-CB6AAE3382A8}"/>
              </a:ext>
            </a:extLst>
          </p:cNvPr>
          <p:cNvSpPr txBox="1"/>
          <p:nvPr/>
        </p:nvSpPr>
        <p:spPr>
          <a:xfrm>
            <a:off x="5267274" y="7197665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오늘의 브리핑 내용</a:t>
            </a:r>
            <a:endParaRPr lang="en-US" sz="1979" dirty="0"/>
          </a:p>
        </p:txBody>
      </p:sp>
      <p:sp>
        <p:nvSpPr>
          <p:cNvPr id="339" name="Shape 24">
            <a:extLst>
              <a:ext uri="{FF2B5EF4-FFF2-40B4-BE49-F238E27FC236}">
                <a16:creationId xmlns:a16="http://schemas.microsoft.com/office/drawing/2014/main" id="{620789B9-4CB4-39E4-918F-16A0B2E01099}"/>
              </a:ext>
            </a:extLst>
          </p:cNvPr>
          <p:cNvSpPr/>
          <p:nvPr/>
        </p:nvSpPr>
        <p:spPr>
          <a:xfrm>
            <a:off x="1005205" y="8082245"/>
            <a:ext cx="10856214" cy="1125830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41" name="Text 25">
            <a:extLst>
              <a:ext uri="{FF2B5EF4-FFF2-40B4-BE49-F238E27FC236}">
                <a16:creationId xmlns:a16="http://schemas.microsoft.com/office/drawing/2014/main" id="{933051EE-ED0C-2C0D-34C5-82AB1AD68C9F}"/>
              </a:ext>
            </a:extLst>
          </p:cNvPr>
          <p:cNvSpPr txBox="1"/>
          <p:nvPr/>
        </p:nvSpPr>
        <p:spPr>
          <a:xfrm>
            <a:off x="1246454" y="8082245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push_subscriptions · notification_preferences</a:t>
            </a:r>
            <a:endParaRPr lang="en-US" sz="1979" dirty="0"/>
          </a:p>
        </p:txBody>
      </p:sp>
      <p:sp>
        <p:nvSpPr>
          <p:cNvPr id="343" name="Text 26">
            <a:extLst>
              <a:ext uri="{FF2B5EF4-FFF2-40B4-BE49-F238E27FC236}">
                <a16:creationId xmlns:a16="http://schemas.microsoft.com/office/drawing/2014/main" id="{C1F643B7-8AEB-E9D3-C3BA-2CF6FCE495C6}"/>
              </a:ext>
            </a:extLst>
          </p:cNvPr>
          <p:cNvSpPr txBox="1"/>
          <p:nvPr/>
        </p:nvSpPr>
        <p:spPr>
          <a:xfrm>
            <a:off x="5267274" y="8082245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푸시 알림 및 알림 설정</a:t>
            </a:r>
            <a:endParaRPr lang="en-US" sz="1979" dirty="0"/>
          </a:p>
        </p:txBody>
      </p:sp>
      <p:sp>
        <p:nvSpPr>
          <p:cNvPr id="387" name="Google Shape;243;p11">
            <a:extLst>
              <a:ext uri="{FF2B5EF4-FFF2-40B4-BE49-F238E27FC236}">
                <a16:creationId xmlns:a16="http://schemas.microsoft.com/office/drawing/2014/main" id="{E8C915B0-89B9-2FC8-DA4A-7E8A696FC45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89" name="Google Shape;244;p11">
            <a:extLst>
              <a:ext uri="{FF2B5EF4-FFF2-40B4-BE49-F238E27FC236}">
                <a16:creationId xmlns:a16="http://schemas.microsoft.com/office/drawing/2014/main" id="{95E69BE1-5387-27E8-EF7C-6BA05E9A25BF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91" name="Shape 3">
            <a:extLst>
              <a:ext uri="{FF2B5EF4-FFF2-40B4-BE49-F238E27FC236}">
                <a16:creationId xmlns:a16="http://schemas.microsoft.com/office/drawing/2014/main" id="{B298DBDB-2A8D-6117-4059-2A734C77EE6E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C869634-EFFE-2F67-A272-95360849A8C1}"/>
              </a:ext>
            </a:extLst>
          </p:cNvPr>
          <p:cNvSpPr/>
          <p:nvPr/>
        </p:nvSpPr>
        <p:spPr>
          <a:xfrm>
            <a:off x="13047703" y="4780393"/>
            <a:ext cx="5444860" cy="3798967"/>
          </a:xfrm>
          <a:prstGeom prst="roundRect">
            <a:avLst>
              <a:gd name="adj" fmla="val 4410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pic>
        <p:nvPicPr>
          <p:cNvPr id="18" name="Image 1" descr="Lock">
            <a:extLst>
              <a:ext uri="{FF2B5EF4-FFF2-40B4-BE49-F238E27FC236}">
                <a16:creationId xmlns:a16="http://schemas.microsoft.com/office/drawing/2014/main" id="{34FD54E6-C875-719C-FC16-B0CC28995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2771" y="5115460"/>
            <a:ext cx="502603" cy="50260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FD7BFF53-8FF6-A8DA-71F2-9901FD2F625E}"/>
              </a:ext>
            </a:extLst>
          </p:cNvPr>
          <p:cNvSpPr/>
          <p:nvPr/>
        </p:nvSpPr>
        <p:spPr>
          <a:xfrm>
            <a:off x="13382772" y="5743714"/>
            <a:ext cx="4917965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보안</a:t>
            </a:r>
            <a:endParaRPr lang="en-US" sz="2474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63D1907-214D-0013-82C1-014FB1D8E4DA}"/>
              </a:ext>
            </a:extLst>
          </p:cNvPr>
          <p:cNvSpPr/>
          <p:nvPr/>
        </p:nvSpPr>
        <p:spPr>
          <a:xfrm>
            <a:off x="13382772" y="6246316"/>
            <a:ext cx="4917965" cy="1172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사진·영상은 Storage에 비공개 저장. 사용자가 영상을 볼 때만 </a:t>
            </a:r>
            <a:r>
              <a:rPr lang="en-US" sz="1979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1시간짜리 임시 링크</a:t>
            </a: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발급해 외부 공개 차단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3749538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05F0-C291-72D0-F1F5-E00FA15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1B2263B6-3110-541E-01FD-1FFE7FB2A7BD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7762AFD-9A8F-6C56-6827-58DBE0E0C364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838947-3758-3CC9-F86B-55F24AF2113B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0B54D44A-0E43-B6A6-7BEE-6D409F834E9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FEB8BD1-7814-2CA4-4767-B17FE9A6B931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4A678C66-8245-1659-E289-1FF4488E178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C8E098C6-6C2A-9354-2D6E-47A56C9F0AF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Server</a:t>
            </a:r>
            <a:endParaRPr lang="ko-KR" altLang="en-US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C056B3-FA15-7DE9-E828-F990043CD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7F1D5CE9-3F91-D8EC-1E28-7376A1012A8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0E45F80F-1A11-F303-4732-004DA4B3A861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0A8B9EC5-8757-E2A4-B72D-093271AC271B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CF84AC4A-CAD5-F6BA-16AF-4A21EEDC5031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73" name="Text 6">
            <a:extLst>
              <a:ext uri="{FF2B5EF4-FFF2-40B4-BE49-F238E27FC236}">
                <a16:creationId xmlns:a16="http://schemas.microsoft.com/office/drawing/2014/main" id="{C6008149-4E1D-E5F8-379C-40E202DCD183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94"/>
              </a:lnSpc>
            </a:pP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DB에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접근하지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않고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기능만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(Tool)로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하도록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</a:t>
            </a:r>
            <a:endParaRPr lang="en-US" altLang="ko-KR" sz="2638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E74D00-5C9C-2DD2-A23A-3C583AECEC79}"/>
              </a:ext>
            </a:extLst>
          </p:cNvPr>
          <p:cNvSpPr/>
          <p:nvPr/>
        </p:nvSpPr>
        <p:spPr>
          <a:xfrm>
            <a:off x="1340273" y="2923738"/>
            <a:ext cx="17946260" cy="51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94"/>
              </a:lnSpc>
            </a:pPr>
            <a:endParaRPr lang="en-US" sz="2638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C72840-D22F-F773-9413-79802E97AB2E}"/>
              </a:ext>
            </a:extLst>
          </p:cNvPr>
          <p:cNvSpPr/>
          <p:nvPr/>
        </p:nvSpPr>
        <p:spPr>
          <a:xfrm>
            <a:off x="1345509" y="3733105"/>
            <a:ext cx="10376647" cy="5895272"/>
          </a:xfrm>
          <a:prstGeom prst="roundRect">
            <a:avLst>
              <a:gd name="adj" fmla="val 275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9349382-EEFB-FFE3-69A1-EB8B55B1CBA7}"/>
              </a:ext>
            </a:extLst>
          </p:cNvPr>
          <p:cNvSpPr/>
          <p:nvPr/>
        </p:nvSpPr>
        <p:spPr>
          <a:xfrm>
            <a:off x="1685813" y="4073408"/>
            <a:ext cx="9986921" cy="443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66"/>
              </a:lnSpc>
            </a:pPr>
            <a:r>
              <a:rPr lang="en-US" sz="2638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11개</a:t>
            </a:r>
            <a:endParaRPr lang="en-US" sz="2638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35FC58A-431F-071E-0604-C90B2EEB32C3}"/>
              </a:ext>
            </a:extLst>
          </p:cNvPr>
          <p:cNvSpPr/>
          <p:nvPr/>
        </p:nvSpPr>
        <p:spPr>
          <a:xfrm>
            <a:off x="1685813" y="4663867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· 7개</a:t>
            </a:r>
            <a:endParaRPr lang="en-US" sz="1979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94A9EA3-E708-A57B-6CA6-FD2FAAE52D34}"/>
              </a:ext>
            </a:extLst>
          </p:cNvPr>
          <p:cNvSpPr/>
          <p:nvPr/>
        </p:nvSpPr>
        <p:spPr>
          <a:xfrm>
            <a:off x="168581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이벤트</a:t>
            </a:r>
            <a:endParaRPr lang="en-US" sz="1979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29B8C84-7E0C-5988-4616-64E56555298E}"/>
              </a:ext>
            </a:extLst>
          </p:cNvPr>
          <p:cNvSpPr/>
          <p:nvPr/>
        </p:nvSpPr>
        <p:spPr>
          <a:xfrm>
            <a:off x="3514781" y="5204100"/>
            <a:ext cx="195461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 이벤트</a:t>
            </a:r>
            <a:endParaRPr lang="en-US" sz="1979" dirty="0"/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915C4A7D-0036-A5E6-082F-C62EA948FE94}"/>
              </a:ext>
            </a:extLst>
          </p:cNvPr>
          <p:cNvSpPr/>
          <p:nvPr/>
        </p:nvSpPr>
        <p:spPr>
          <a:xfrm>
            <a:off x="559505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기록</a:t>
            </a:r>
            <a:endParaRPr lang="en-US" sz="1979" dirty="0"/>
          </a:p>
        </p:txBody>
      </p:sp>
      <p:sp>
        <p:nvSpPr>
          <p:cNvPr id="230" name="Text 9">
            <a:extLst>
              <a:ext uri="{FF2B5EF4-FFF2-40B4-BE49-F238E27FC236}">
                <a16:creationId xmlns:a16="http://schemas.microsoft.com/office/drawing/2014/main" id="{FE25461B-3C07-D039-D9FF-E4C1C0986F45}"/>
              </a:ext>
            </a:extLst>
          </p:cNvPr>
          <p:cNvSpPr/>
          <p:nvPr/>
        </p:nvSpPr>
        <p:spPr>
          <a:xfrm>
            <a:off x="7424021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이벤트</a:t>
            </a:r>
            <a:endParaRPr lang="en-US" sz="1979" dirty="0"/>
          </a:p>
        </p:txBody>
      </p:sp>
      <p:sp>
        <p:nvSpPr>
          <p:cNvPr id="234" name="Text 10">
            <a:extLst>
              <a:ext uri="{FF2B5EF4-FFF2-40B4-BE49-F238E27FC236}">
                <a16:creationId xmlns:a16="http://schemas.microsoft.com/office/drawing/2014/main" id="{0515A1EF-D8E2-D1A8-FCFF-6D3CF6729F06}"/>
              </a:ext>
            </a:extLst>
          </p:cNvPr>
          <p:cNvSpPr/>
          <p:nvPr/>
        </p:nvSpPr>
        <p:spPr>
          <a:xfrm>
            <a:off x="9252991" y="5204100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요약</a:t>
            </a:r>
            <a:endParaRPr lang="en-US" sz="1979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E6D0D989-13F5-ED83-F607-85842DB75852}"/>
              </a:ext>
            </a:extLst>
          </p:cNvPr>
          <p:cNvSpPr/>
          <p:nvPr/>
        </p:nvSpPr>
        <p:spPr>
          <a:xfrm>
            <a:off x="1685812" y="589092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요약</a:t>
            </a:r>
            <a:endParaRPr lang="en-US" sz="1979" dirty="0"/>
          </a:p>
        </p:txBody>
      </p:sp>
      <p:sp>
        <p:nvSpPr>
          <p:cNvPr id="244" name="Text 12">
            <a:extLst>
              <a:ext uri="{FF2B5EF4-FFF2-40B4-BE49-F238E27FC236}">
                <a16:creationId xmlns:a16="http://schemas.microsoft.com/office/drawing/2014/main" id="{0C7404A1-2910-F626-77D2-159193A43D0F}"/>
              </a:ext>
            </a:extLst>
          </p:cNvPr>
          <p:cNvSpPr/>
          <p:nvPr/>
        </p:nvSpPr>
        <p:spPr>
          <a:xfrm>
            <a:off x="3263480" y="5890924"/>
            <a:ext cx="254098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녹화·녹음 불러오기</a:t>
            </a:r>
            <a:endParaRPr lang="en-US" sz="1979" dirty="0"/>
          </a:p>
        </p:txBody>
      </p:sp>
      <p:sp>
        <p:nvSpPr>
          <p:cNvPr id="252" name="Text 13">
            <a:extLst>
              <a:ext uri="{FF2B5EF4-FFF2-40B4-BE49-F238E27FC236}">
                <a16:creationId xmlns:a16="http://schemas.microsoft.com/office/drawing/2014/main" id="{B2114D2E-B3DA-D689-C168-FF307D38C0DA}"/>
              </a:ext>
            </a:extLst>
          </p:cNvPr>
          <p:cNvSpPr/>
          <p:nvPr/>
        </p:nvSpPr>
        <p:spPr>
          <a:xfrm>
            <a:off x="1685813" y="6724341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 err="1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4개</a:t>
            </a:r>
            <a:endParaRPr lang="en-US" sz="1979" dirty="0"/>
          </a:p>
        </p:txBody>
      </p:sp>
      <p:sp>
        <p:nvSpPr>
          <p:cNvPr id="256" name="Text 14">
            <a:extLst>
              <a:ext uri="{FF2B5EF4-FFF2-40B4-BE49-F238E27FC236}">
                <a16:creationId xmlns:a16="http://schemas.microsoft.com/office/drawing/2014/main" id="{7B307A27-21D7-30CD-07A4-AD81D9643023}"/>
              </a:ext>
            </a:extLst>
          </p:cNvPr>
          <p:cNvSpPr/>
          <p:nvPr/>
        </p:nvSpPr>
        <p:spPr>
          <a:xfrm>
            <a:off x="1685811" y="7264574"/>
            <a:ext cx="3154269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상태</a:t>
            </a:r>
            <a:endParaRPr lang="en-US" sz="1979" dirty="0"/>
          </a:p>
        </p:txBody>
      </p:sp>
      <p:sp>
        <p:nvSpPr>
          <p:cNvPr id="260" name="Text 15">
            <a:extLst>
              <a:ext uri="{FF2B5EF4-FFF2-40B4-BE49-F238E27FC236}">
                <a16:creationId xmlns:a16="http://schemas.microsoft.com/office/drawing/2014/main" id="{0BC3D280-1568-F1B8-523C-529421529185}"/>
              </a:ext>
            </a:extLst>
          </p:cNvPr>
          <p:cNvSpPr/>
          <p:nvPr/>
        </p:nvSpPr>
        <p:spPr>
          <a:xfrm>
            <a:off x="49657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목록</a:t>
            </a:r>
            <a:endParaRPr lang="en-US" sz="1979" dirty="0"/>
          </a:p>
        </p:txBody>
      </p:sp>
      <p:sp>
        <p:nvSpPr>
          <p:cNvPr id="264" name="Text 16">
            <a:extLst>
              <a:ext uri="{FF2B5EF4-FFF2-40B4-BE49-F238E27FC236}">
                <a16:creationId xmlns:a16="http://schemas.microsoft.com/office/drawing/2014/main" id="{06021509-6CEE-7D08-2DE2-26E443BAA166}"/>
              </a:ext>
            </a:extLst>
          </p:cNvPr>
          <p:cNvSpPr/>
          <p:nvPr/>
        </p:nvSpPr>
        <p:spPr>
          <a:xfrm>
            <a:off x="6543404" y="7264574"/>
            <a:ext cx="2024481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화면 촬영</a:t>
            </a:r>
            <a:endParaRPr lang="en-US" sz="1979" dirty="0"/>
          </a:p>
        </p:txBody>
      </p:sp>
      <p:sp>
        <p:nvSpPr>
          <p:cNvPr id="268" name="Text 17">
            <a:extLst>
              <a:ext uri="{FF2B5EF4-FFF2-40B4-BE49-F238E27FC236}">
                <a16:creationId xmlns:a16="http://schemas.microsoft.com/office/drawing/2014/main" id="{69436337-88D0-8253-BF18-98F68BA14A66}"/>
              </a:ext>
            </a:extLst>
          </p:cNvPr>
          <p:cNvSpPr/>
          <p:nvPr/>
        </p:nvSpPr>
        <p:spPr>
          <a:xfrm>
            <a:off x="86935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캡처</a:t>
            </a:r>
            <a:endParaRPr lang="en-US" sz="1979" dirty="0"/>
          </a:p>
        </p:txBody>
      </p:sp>
      <p:sp>
        <p:nvSpPr>
          <p:cNvPr id="271" name="Shape 18">
            <a:extLst>
              <a:ext uri="{FF2B5EF4-FFF2-40B4-BE49-F238E27FC236}">
                <a16:creationId xmlns:a16="http://schemas.microsoft.com/office/drawing/2014/main" id="{BB55FA1B-EC5A-72A4-10C4-05EF71C3C5B5}"/>
              </a:ext>
            </a:extLst>
          </p:cNvPr>
          <p:cNvSpPr/>
          <p:nvPr/>
        </p:nvSpPr>
        <p:spPr>
          <a:xfrm>
            <a:off x="12062460" y="3727869"/>
            <a:ext cx="6701367" cy="1826023"/>
          </a:xfrm>
          <a:prstGeom prst="roundRect">
            <a:avLst>
              <a:gd name="adj" fmla="val 9175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74" name="Text 19">
            <a:extLst>
              <a:ext uri="{FF2B5EF4-FFF2-40B4-BE49-F238E27FC236}">
                <a16:creationId xmlns:a16="http://schemas.microsoft.com/office/drawing/2014/main" id="{BCFF2D8C-371B-427D-C90B-8622A54A7AC9}"/>
              </a:ext>
            </a:extLst>
          </p:cNvPr>
          <p:cNvSpPr/>
          <p:nvPr/>
        </p:nvSpPr>
        <p:spPr>
          <a:xfrm>
            <a:off x="12397528" y="4021054"/>
            <a:ext cx="6212167" cy="42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01"/>
              </a:lnSpc>
            </a:pPr>
            <a:r>
              <a:rPr lang="en-US" sz="2144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Model Context Protocol</a:t>
            </a:r>
            <a:endParaRPr lang="en-US" sz="2144" dirty="0"/>
          </a:p>
        </p:txBody>
      </p:sp>
      <p:sp>
        <p:nvSpPr>
          <p:cNvPr id="276" name="Text 20">
            <a:extLst>
              <a:ext uri="{FF2B5EF4-FFF2-40B4-BE49-F238E27FC236}">
                <a16:creationId xmlns:a16="http://schemas.microsoft.com/office/drawing/2014/main" id="{C9ADF833-CF90-5984-9EE6-FFCE6783F0B9}"/>
              </a:ext>
            </a:extLst>
          </p:cNvPr>
          <p:cNvSpPr/>
          <p:nvPr/>
        </p:nvSpPr>
        <p:spPr>
          <a:xfrm>
            <a:off x="12397528" y="4506804"/>
            <a:ext cx="6212167" cy="795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외부 데이터나 기능을 쓰기 위한 규칙 — 여러 AI 서비스에서 같은 방식으로 도구 사용 가능</a:t>
            </a:r>
            <a:endParaRPr lang="en-US" sz="1979" dirty="0"/>
          </a:p>
        </p:txBody>
      </p:sp>
      <p:sp>
        <p:nvSpPr>
          <p:cNvPr id="278" name="Text 21">
            <a:extLst>
              <a:ext uri="{FF2B5EF4-FFF2-40B4-BE49-F238E27FC236}">
                <a16:creationId xmlns:a16="http://schemas.microsoft.com/office/drawing/2014/main" id="{E874165D-0B05-8B04-06DC-F3099301725B}"/>
              </a:ext>
            </a:extLst>
          </p:cNvPr>
          <p:cNvSpPr/>
          <p:nvPr/>
        </p:nvSpPr>
        <p:spPr>
          <a:xfrm>
            <a:off x="12062460" y="5805194"/>
            <a:ext cx="690240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이유</a:t>
            </a:r>
            <a:endParaRPr lang="en-US" sz="2474" dirty="0"/>
          </a:p>
        </p:txBody>
      </p:sp>
      <p:pic>
        <p:nvPicPr>
          <p:cNvPr id="280" name="Image 0" descr="Wrench">
            <a:extLst>
              <a:ext uri="{FF2B5EF4-FFF2-40B4-BE49-F238E27FC236}">
                <a16:creationId xmlns:a16="http://schemas.microsoft.com/office/drawing/2014/main" id="{566FFCAB-638D-EE5F-B269-50F8F778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62460" y="6391563"/>
            <a:ext cx="376952" cy="376952"/>
          </a:xfrm>
          <a:prstGeom prst="rect">
            <a:avLst/>
          </a:prstGeom>
        </p:spPr>
      </p:pic>
      <p:sp>
        <p:nvSpPr>
          <p:cNvPr id="282" name="Text 22">
            <a:extLst>
              <a:ext uri="{FF2B5EF4-FFF2-40B4-BE49-F238E27FC236}">
                <a16:creationId xmlns:a16="http://schemas.microsoft.com/office/drawing/2014/main" id="{89A6970E-F3C8-A94F-992B-DE619BEEC379}"/>
              </a:ext>
            </a:extLst>
          </p:cNvPr>
          <p:cNvSpPr/>
          <p:nvPr/>
        </p:nvSpPr>
        <p:spPr>
          <a:xfrm>
            <a:off x="12606946" y="6397782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추가가 쉬움</a:t>
            </a:r>
            <a:endParaRPr lang="en-US" sz="1979" dirty="0"/>
          </a:p>
        </p:txBody>
      </p:sp>
      <p:pic>
        <p:nvPicPr>
          <p:cNvPr id="284" name="Image 1" descr="Lightbulb">
            <a:extLst>
              <a:ext uri="{FF2B5EF4-FFF2-40B4-BE49-F238E27FC236}">
                <a16:creationId xmlns:a16="http://schemas.microsoft.com/office/drawing/2014/main" id="{260C47F5-4E83-287D-B36A-9CBB2538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2460" y="7153811"/>
            <a:ext cx="376952" cy="376952"/>
          </a:xfrm>
          <a:prstGeom prst="rect">
            <a:avLst/>
          </a:prstGeom>
        </p:spPr>
      </p:pic>
      <p:sp>
        <p:nvSpPr>
          <p:cNvPr id="286" name="Text 23">
            <a:extLst>
              <a:ext uri="{FF2B5EF4-FFF2-40B4-BE49-F238E27FC236}">
                <a16:creationId xmlns:a16="http://schemas.microsoft.com/office/drawing/2014/main" id="{0FBA525D-C169-CF52-9E7D-6577D0780152}"/>
              </a:ext>
            </a:extLst>
          </p:cNvPr>
          <p:cNvSpPr/>
          <p:nvPr/>
        </p:nvSpPr>
        <p:spPr>
          <a:xfrm>
            <a:off x="12606946" y="6977933"/>
            <a:ext cx="6341587" cy="77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정한 질문이 아니라, AI가 질문을 분석해 도구를 선택</a:t>
            </a:r>
            <a:endParaRPr lang="en-US" sz="1979" dirty="0"/>
          </a:p>
        </p:txBody>
      </p:sp>
      <p:pic>
        <p:nvPicPr>
          <p:cNvPr id="288" name="Image 2" descr="Link">
            <a:extLst>
              <a:ext uri="{FF2B5EF4-FFF2-40B4-BE49-F238E27FC236}">
                <a16:creationId xmlns:a16="http://schemas.microsoft.com/office/drawing/2014/main" id="{700569F2-DB12-9404-9C80-7233D325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062460" y="7916060"/>
            <a:ext cx="376952" cy="376952"/>
          </a:xfrm>
          <a:prstGeom prst="rect">
            <a:avLst/>
          </a:prstGeom>
        </p:spPr>
      </p:pic>
      <p:sp>
        <p:nvSpPr>
          <p:cNvPr id="290" name="Text 24">
            <a:extLst>
              <a:ext uri="{FF2B5EF4-FFF2-40B4-BE49-F238E27FC236}">
                <a16:creationId xmlns:a16="http://schemas.microsoft.com/office/drawing/2014/main" id="{A9CA1E27-2280-E18E-3191-A2DC9524DCB4}"/>
              </a:ext>
            </a:extLst>
          </p:cNvPr>
          <p:cNvSpPr/>
          <p:nvPr/>
        </p:nvSpPr>
        <p:spPr>
          <a:xfrm>
            <a:off x="12606946" y="7922277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기능과 채팅 로직의 분리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550981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E08F-E0B5-70D6-A787-6CBB78C5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A89888D7-075E-9E06-86EF-0CD761CC8D2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68DE6071-5D94-4FC8-0C9E-870D3F3749E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8CC431D5-3750-113B-9184-CC3575972657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E4027E47-8580-1624-70B7-9BBCC059C621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FC3A6EC0-05FE-52A2-D93E-E991BE5C332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CA07A6-AD54-CF03-DC66-F28E127C2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A89D-4B66-8E58-F997-B8AAA495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26CD1387-7ED5-3FE7-5CD8-B2B614CB54B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9A877A18-6D40-5EC5-64F9-3033EDC80419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2F6F16B4-35CA-2FF8-4F74-36EB00D0B4BA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EE3B0FB-B3E8-B456-290D-88C5B999211A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3C7A6C0-AA2E-FCBC-10C0-66C5734F48E2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BFCDBE-297B-4BB0-E747-24D8A1093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DF46-30A0-1410-FD45-5493B620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CD28B9A1-778D-992E-B30C-3853345B91BF}"/>
              </a:ext>
            </a:extLst>
          </p:cNvPr>
          <p:cNvSpPr/>
          <p:nvPr/>
        </p:nvSpPr>
        <p:spPr>
          <a:xfrm>
            <a:off x="5241" y="-140724"/>
            <a:ext cx="20104100" cy="1145007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1ACB68CA-859A-364A-34A2-32F29A972CA9}"/>
              </a:ext>
            </a:extLst>
          </p:cNvPr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0C3EAB2C-0D40-9B6A-AC2C-84BBA4E115C1}"/>
              </a:ext>
            </a:extLst>
          </p:cNvPr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>
            <a:extLst>
              <a:ext uri="{FF2B5EF4-FFF2-40B4-BE49-F238E27FC236}">
                <a16:creationId xmlns:a16="http://schemas.microsoft.com/office/drawing/2014/main" id="{C13408EE-F4E8-1A44-8C17-D3F1FF043DDB}"/>
              </a:ext>
            </a:extLst>
          </p:cNvPr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0B28C466-4BBD-52DA-99F8-C52F2517501D}"/>
              </a:ext>
            </a:extLst>
          </p:cNvPr>
          <p:cNvSpPr txBox="1"/>
          <p:nvPr/>
        </p:nvSpPr>
        <p:spPr>
          <a:xfrm>
            <a:off x="15717484" y="711992"/>
            <a:ext cx="785346" cy="4308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강좌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AAA9F337-7103-3CD3-D541-394CB2FE4859}"/>
              </a:ext>
            </a:extLst>
          </p:cNvPr>
          <p:cNvSpPr txBox="1"/>
          <p:nvPr/>
        </p:nvSpPr>
        <p:spPr>
          <a:xfrm>
            <a:off x="15459765" y="1291640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담당교수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C591321-4E84-FB45-EC39-20EAB33ECCEA}"/>
              </a:ext>
            </a:extLst>
          </p:cNvPr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3B50A5-6634-EC7D-21A2-5247A80E1F57}"/>
              </a:ext>
            </a:extLst>
          </p:cNvPr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5" name="Google Shape;55;p1">
            <a:extLst>
              <a:ext uri="{FF2B5EF4-FFF2-40B4-BE49-F238E27FC236}">
                <a16:creationId xmlns:a16="http://schemas.microsoft.com/office/drawing/2014/main" id="{DE25FD11-AB3A-00E3-F0B7-509378E810D6}"/>
              </a:ext>
            </a:extLst>
          </p:cNvPr>
          <p:cNvSpPr txBox="1"/>
          <p:nvPr/>
        </p:nvSpPr>
        <p:spPr>
          <a:xfrm>
            <a:off x="15724546" y="1824301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조원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96E592DB-611B-3483-E58B-DEE476BF9653}"/>
              </a:ext>
            </a:extLst>
          </p:cNvPr>
          <p:cNvSpPr txBox="1"/>
          <p:nvPr/>
        </p:nvSpPr>
        <p:spPr>
          <a:xfrm>
            <a:off x="4176397" y="3422074"/>
            <a:ext cx="11751304" cy="34162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Q &amp;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감사합니다</a:t>
            </a: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4B5E45-B9C9-1D66-1839-8E341363F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4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YAMNet 실환경 정확성 평가</a:t>
            </a:r>
          </a:p>
        </p:txBody>
      </p:sp>
      <p:sp>
        <p:nvSpPr>
          <p:cNvPr id="6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7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9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0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20CF0-7E6E-4BC3-8DCC-6FF3834F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390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Pi 마이크 24클립 · 6개 소리 분류 · ESC-50 2,000클립으로 오경보 점검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C172F-3299-4434-9C38-F0894F3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4805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D7C74"/>
                </a:solidFill>
              </a:defRPr>
            </a:defPPr>
            <a:lvl1pPr>
              <a:defRPr sz="4200" b="1">
                <a:solidFill>
                  <a:srgbClr val="1D7C74"/>
                </a:solidFill>
              </a:defRPr>
            </a:lvl1pPr>
            <a:lvl2pPr>
              <a:defRPr sz="4200" b="1">
                <a:solidFill>
                  <a:srgbClr val="1D7C74"/>
                </a:solidFill>
              </a:defRPr>
            </a:lvl2pPr>
            <a:lvl3pPr>
              <a:defRPr sz="4200" b="1">
                <a:solidFill>
                  <a:srgbClr val="1D7C74"/>
                </a:solidFill>
              </a:defRPr>
            </a:lvl3pPr>
            <a:lvl4pPr>
              <a:defRPr sz="4200" b="1">
                <a:solidFill>
                  <a:srgbClr val="1D7C74"/>
                </a:solidFill>
              </a:defRPr>
            </a:lvl4pPr>
            <a:lvl5pPr>
              <a:defRPr sz="4200" b="1">
                <a:solidFill>
                  <a:srgbClr val="1D7C74"/>
                </a:solidFill>
              </a:defRPr>
            </a:lvl5pPr>
            <a:lvl6pPr>
              <a:defRPr sz="4200" b="1">
                <a:solidFill>
                  <a:srgbClr val="1D7C74"/>
                </a:solidFill>
              </a:defRPr>
            </a:lvl6pPr>
            <a:lvl7pPr>
              <a:defRPr sz="4200" b="1">
                <a:solidFill>
                  <a:srgbClr val="1D7C74"/>
                </a:solidFill>
              </a:defRPr>
            </a:lvl7pPr>
            <a:lvl8pPr>
              <a:defRPr sz="4200" b="1">
                <a:solidFill>
                  <a:srgbClr val="1D7C74"/>
                </a:solidFill>
              </a:defRPr>
            </a:lvl8pPr>
            <a:lvl9pPr>
              <a:defRPr sz="420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7C74"/>
                </a:solidFill>
              </a:defRPr>
            </a:pPr>
            <a:r>
              <a:rPr sz="4200" b="1">
                <a:solidFill>
                  <a:srgbClr val="1D7C74"/>
                </a:solidFill>
              </a:rPr>
              <a:t>평균 F1   0.510  →  0.610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7A133-CBF3-4D31-BD38-FB0E5C8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33A"/>
                </a:solidFill>
              </a:defRPr>
            </a:defPPr>
            <a:lvl1pPr>
              <a:defRPr sz="2100" b="0">
                <a:solidFill>
                  <a:srgbClr val="13233A"/>
                </a:solidFill>
              </a:defRPr>
            </a:lvl1pPr>
            <a:lvl2pPr>
              <a:defRPr sz="2100" b="0">
                <a:solidFill>
                  <a:srgbClr val="13233A"/>
                </a:solidFill>
              </a:defRPr>
            </a:lvl2pPr>
            <a:lvl3pPr>
              <a:defRPr sz="2100" b="0">
                <a:solidFill>
                  <a:srgbClr val="13233A"/>
                </a:solidFill>
              </a:defRPr>
            </a:lvl3pPr>
            <a:lvl4pPr>
              <a:defRPr sz="2100" b="0">
                <a:solidFill>
                  <a:srgbClr val="13233A"/>
                </a:solidFill>
              </a:defRPr>
            </a:lvl4pPr>
            <a:lvl5pPr>
              <a:defRPr sz="2100" b="0">
                <a:solidFill>
                  <a:srgbClr val="13233A"/>
                </a:solidFill>
              </a:defRPr>
            </a:lvl5pPr>
            <a:lvl6pPr>
              <a:defRPr sz="2100" b="0">
                <a:solidFill>
                  <a:srgbClr val="13233A"/>
                </a:solidFill>
              </a:defRPr>
            </a:lvl6pPr>
            <a:lvl7pPr>
              <a:defRPr sz="2100" b="0">
                <a:solidFill>
                  <a:srgbClr val="13233A"/>
                </a:solidFill>
              </a:defRPr>
            </a:lvl7pPr>
            <a:lvl8pPr>
              <a:defRPr sz="2100" b="0">
                <a:solidFill>
                  <a:srgbClr val="13233A"/>
                </a:solidFill>
              </a:defRPr>
            </a:lvl8pPr>
            <a:lvl9pPr>
              <a:defRPr sz="21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33A"/>
                </a:solidFill>
              </a:defRPr>
            </a:pPr>
            <a:r>
              <a:rPr sz="2100" b="0">
                <a:solidFill>
                  <a:srgbClr val="13233A"/>
                </a:solidFill>
              </a:rPr>
              <a:t>기존 설정과 음원 단위 교차검증 비교 · Precision·Recall은 교차검증 기준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09497-2F2C-428F-8D04-02D58D4650CA}"/>
              </a:ext>
            </a:extLst>
          </p:cNvPr>
          <p:cNvGraphicFramePr/>
          <p:nvPr/>
        </p:nvGraphicFramePr>
        <p:xfrm>
          <a:off xmlns:a="http://schemas.openxmlformats.org/drawingml/2006/main" x="3790950" y="5000625"/>
          <a:ext xmlns:a="http://schemas.openxmlformats.org/drawingml/2006/main" cx="13906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476500"/>
                <a:gridCol w="2190750"/>
                <a:gridCol w="2476500"/>
                <a:gridCol w="2667000"/>
              </a:tblGrid>
              <a:tr h="530679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소리 종류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기존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교차검증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경보음·사이렌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유리 파손·충격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아기 울음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비명·고함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초인종·노크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반려동물 소리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0.909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64B19-EEEE-4B63-914D-0318B05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89154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33A"/>
                </a:solidFill>
              </a:defRPr>
            </a:defPPr>
            <a:lvl1pPr>
              <a:defRPr sz="1800" b="0">
                <a:solidFill>
                  <a:srgbClr val="13233A"/>
                </a:solidFill>
              </a:defRPr>
            </a:lvl1pPr>
            <a:lvl2pPr>
              <a:defRPr sz="1800" b="0">
                <a:solidFill>
                  <a:srgbClr val="13233A"/>
                </a:solidFill>
              </a:defRPr>
            </a:lvl2pPr>
            <a:lvl3pPr>
              <a:defRPr sz="1800" b="0">
                <a:solidFill>
                  <a:srgbClr val="13233A"/>
                </a:solidFill>
              </a:defRPr>
            </a:lvl3pPr>
            <a:lvl4pPr>
              <a:defRPr sz="1800" b="0">
                <a:solidFill>
                  <a:srgbClr val="13233A"/>
                </a:solidFill>
              </a:defRPr>
            </a:lvl4pPr>
            <a:lvl5pPr>
              <a:defRPr sz="1800" b="0">
                <a:solidFill>
                  <a:srgbClr val="13233A"/>
                </a:solidFill>
              </a:defRPr>
            </a:lvl5pPr>
            <a:lvl6pPr>
              <a:defRPr sz="1800" b="0">
                <a:solidFill>
                  <a:srgbClr val="13233A"/>
                </a:solidFill>
              </a:defRPr>
            </a:lvl6pPr>
            <a:lvl7pPr>
              <a:defRPr sz="1800" b="0">
                <a:solidFill>
                  <a:srgbClr val="13233A"/>
                </a:solidFill>
              </a:defRPr>
            </a:lvl7pPr>
            <a:lvl8pPr>
              <a:defRPr sz="1800" b="0">
                <a:solidFill>
                  <a:srgbClr val="13233A"/>
                </a:solidFill>
              </a:defRPr>
            </a:lvl8pPr>
            <a:lvl9pPr>
              <a:defRPr sz="18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3233A"/>
                </a:solidFill>
              </a:defRPr>
            </a:pPr>
            <a:r>
              <a:rPr sz="1800" b="0">
                <a:solidFill>
                  <a:srgbClr val="13233A"/>
                </a:solidFill>
              </a:rPr>
              <a:t>Precision(정밀도): 감지한 것 중 정답 비율   Recall(재현율): 실제 소리 중 감지한 비율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640D9-6C78-4CAA-A35F-6A72645E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4107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3A26"/>
                </a:solidFill>
              </a:defRPr>
            </a:defPPr>
            <a:lvl1pPr>
              <a:defRPr sz="1800" b="0">
                <a:solidFill>
                  <a:srgbClr val="B83A26"/>
                </a:solidFill>
              </a:defRPr>
            </a:lvl1pPr>
            <a:lvl2pPr>
              <a:defRPr sz="1800" b="0">
                <a:solidFill>
                  <a:srgbClr val="B83A26"/>
                </a:solidFill>
              </a:defRPr>
            </a:lvl2pPr>
            <a:lvl3pPr>
              <a:defRPr sz="1800" b="0">
                <a:solidFill>
                  <a:srgbClr val="B83A26"/>
                </a:solidFill>
              </a:defRPr>
            </a:lvl3pPr>
            <a:lvl4pPr>
              <a:defRPr sz="1800" b="0">
                <a:solidFill>
                  <a:srgbClr val="B83A26"/>
                </a:solidFill>
              </a:defRPr>
            </a:lvl4pPr>
            <a:lvl5pPr>
              <a:defRPr sz="1800" b="0">
                <a:solidFill>
                  <a:srgbClr val="B83A26"/>
                </a:solidFill>
              </a:defRPr>
            </a:lvl5pPr>
            <a:lvl6pPr>
              <a:defRPr sz="1800" b="0">
                <a:solidFill>
                  <a:srgbClr val="B83A26"/>
                </a:solidFill>
              </a:defRPr>
            </a:lvl6pPr>
            <a:lvl7pPr>
              <a:defRPr sz="1800" b="0">
                <a:solidFill>
                  <a:srgbClr val="B83A26"/>
                </a:solidFill>
              </a:defRPr>
            </a:lvl7pPr>
            <a:lvl8pPr>
              <a:defRPr sz="1800" b="0">
                <a:solidFill>
                  <a:srgbClr val="B83A26"/>
                </a:solidFill>
              </a:defRPr>
            </a:lvl8pPr>
            <a:lvl9pPr>
              <a:defRPr sz="1800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3A26"/>
                </a:solidFill>
              </a:defRPr>
            </a:pPr>
            <a:r>
              <a:rPr sz="1800" b="0">
                <a:solidFill>
                  <a:srgbClr val="B83A26"/>
                </a:solidFill>
              </a:rPr>
              <a:t>F1: 정밀도·재현율의 조화평균(0~1)   한계: 동일 세션 24클립, 새 음원·날짜로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4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시중 홈캠과 HOME-TALK 비교</a:t>
            </a:r>
          </a:p>
        </p:txBody>
      </p:sp>
      <p:sp>
        <p:nvSpPr>
          <p:cNvPr id="6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7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9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0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56961-A6A0-426C-893B-200FAFC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98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D7C74"/>
                </a:solidFill>
              </a:defRPr>
            </a:defPPr>
            <a:lvl1pPr>
              <a:defRPr sz="3300" b="1">
                <a:solidFill>
                  <a:srgbClr val="1D7C74"/>
                </a:solidFill>
              </a:defRPr>
            </a:lvl1pPr>
            <a:lvl2pPr>
              <a:defRPr sz="3300" b="1">
                <a:solidFill>
                  <a:srgbClr val="1D7C74"/>
                </a:solidFill>
              </a:defRPr>
            </a:lvl2pPr>
            <a:lvl3pPr>
              <a:defRPr sz="3300" b="1">
                <a:solidFill>
                  <a:srgbClr val="1D7C74"/>
                </a:solidFill>
              </a:defRPr>
            </a:lvl3pPr>
            <a:lvl4pPr>
              <a:defRPr sz="3300" b="1">
                <a:solidFill>
                  <a:srgbClr val="1D7C74"/>
                </a:solidFill>
              </a:defRPr>
            </a:lvl4pPr>
            <a:lvl5pPr>
              <a:defRPr sz="3300" b="1">
                <a:solidFill>
                  <a:srgbClr val="1D7C74"/>
                </a:solidFill>
              </a:defRPr>
            </a:lvl5pPr>
            <a:lvl6pPr>
              <a:defRPr sz="3300" b="1">
                <a:solidFill>
                  <a:srgbClr val="1D7C74"/>
                </a:solidFill>
              </a:defRPr>
            </a:lvl6pPr>
            <a:lvl7pPr>
              <a:defRPr sz="3300" b="1">
                <a:solidFill>
                  <a:srgbClr val="1D7C74"/>
                </a:solidFill>
              </a:defRPr>
            </a:lvl7pPr>
            <a:lvl8pPr>
              <a:defRPr sz="3300" b="1">
                <a:solidFill>
                  <a:srgbClr val="1D7C74"/>
                </a:solidFill>
              </a:defRPr>
            </a:lvl8pPr>
            <a:lvl9pPr>
              <a:defRPr sz="330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D7C74"/>
                </a:solidFill>
              </a:defRPr>
            </a:pPr>
            <a:r>
              <a:rPr sz="3300" b="1">
                <a:solidFill>
                  <a:srgbClr val="1D7C74"/>
                </a:solidFill>
              </a:rPr>
              <a:t>질문으로 기록을 찾고, 하루의 변화를 브리핑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8A4E6-AAFF-4487-ADB0-6F561217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감지 기능에 대화형 조회와 요약을 연결한 보호자용 서비스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D3BB2-AE20-4216-804E-FADC2B8A5289}"/>
              </a:ext>
            </a:extLst>
          </p:cNvPr>
          <p:cNvGraphicFramePr/>
          <p:nvPr/>
        </p:nvGraphicFramePr>
        <p:xfrm>
          <a:off xmlns:a="http://schemas.openxmlformats.org/drawingml/2006/main" x="3790950" y="4171950"/>
          <a:ext xmlns:a="http://schemas.openxmlformats.org/drawingml/2006/main" cx="139065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333750"/>
                <a:gridCol w="3143250"/>
                <a:gridCol w="5334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비교 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Tapo C225 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eufy E220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HOME-TALK 개발 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영상 이벤트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사람·차량·반려동물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사람·반려동물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방문·택배·낙상/의심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소리 이벤트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울음·짖음·야옹</a:t>
                      </a:r>
                    </a:p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유리 파손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소리·울음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생활·위험 소리 6종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카메라 기록과 함께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알림·기록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감지 알림</a:t>
                      </a:r>
                    </a:p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로컬·클라우드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감지 알림</a:t>
                      </a:r>
                    </a:p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로컬·클라우드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위험 등급별 알림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이벤트·첨부 기록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기록에 자연어 질문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“오늘 방문 기록 알려줘”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질문에 맞는 기록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하루 자연어 브리핑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하루 이벤트 요약 생성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앱에서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66C4D-5EB9-414B-97CB-DC8C3AD9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0106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3233A"/>
                </a:solidFill>
              </a:defRPr>
            </a:defPPr>
            <a:lvl1pPr>
              <a:defRPr sz="1725" b="0">
                <a:solidFill>
                  <a:srgbClr val="13233A"/>
                </a:solidFill>
              </a:defRPr>
            </a:lvl1pPr>
            <a:lvl2pPr>
              <a:defRPr sz="1725" b="0">
                <a:solidFill>
                  <a:srgbClr val="13233A"/>
                </a:solidFill>
              </a:defRPr>
            </a:lvl2pPr>
            <a:lvl3pPr>
              <a:defRPr sz="1725" b="0">
                <a:solidFill>
                  <a:srgbClr val="13233A"/>
                </a:solidFill>
              </a:defRPr>
            </a:lvl3pPr>
            <a:lvl4pPr>
              <a:defRPr sz="1725" b="0">
                <a:solidFill>
                  <a:srgbClr val="13233A"/>
                </a:solidFill>
              </a:defRPr>
            </a:lvl4pPr>
            <a:lvl5pPr>
              <a:defRPr sz="1725" b="0">
                <a:solidFill>
                  <a:srgbClr val="13233A"/>
                </a:solidFill>
              </a:defRPr>
            </a:lvl5pPr>
            <a:lvl6pPr>
              <a:defRPr sz="1725" b="0">
                <a:solidFill>
                  <a:srgbClr val="13233A"/>
                </a:solidFill>
              </a:defRPr>
            </a:lvl6pPr>
            <a:lvl7pPr>
              <a:defRPr sz="1725" b="0">
                <a:solidFill>
                  <a:srgbClr val="13233A"/>
                </a:solidFill>
              </a:defRPr>
            </a:lvl7pPr>
            <a:lvl8pPr>
              <a:defRPr sz="1725" b="0">
                <a:solidFill>
                  <a:srgbClr val="13233A"/>
                </a:solidFill>
              </a:defRPr>
            </a:lvl8pPr>
            <a:lvl9pPr>
              <a:defRPr sz="1725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3233A"/>
                </a:solidFill>
              </a:defRPr>
            </a:pPr>
            <a:r>
              <a:rPr sz="1725" b="0">
                <a:solidFill>
                  <a:srgbClr val="13233A"/>
                </a:solidFill>
              </a:rPr>
              <a:t>공식 제품 자료 기준(2026.10.26) · 미기재는 미지원 단정이 아님 · 지역·버전에 따라 다를 수 있음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889D9-0557-45C0-B24F-6D79D9D7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477375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83A26"/>
                </a:solidFill>
              </a:defRPr>
            </a:defPPr>
            <a:lvl1pPr>
              <a:defRPr sz="1725" b="0">
                <a:solidFill>
                  <a:srgbClr val="B83A26"/>
                </a:solidFill>
              </a:defRPr>
            </a:lvl1pPr>
            <a:lvl2pPr>
              <a:defRPr sz="1725" b="0">
                <a:solidFill>
                  <a:srgbClr val="B83A26"/>
                </a:solidFill>
              </a:defRPr>
            </a:lvl2pPr>
            <a:lvl3pPr>
              <a:defRPr sz="1725" b="0">
                <a:solidFill>
                  <a:srgbClr val="B83A26"/>
                </a:solidFill>
              </a:defRPr>
            </a:lvl3pPr>
            <a:lvl4pPr>
              <a:defRPr sz="1725" b="0">
                <a:solidFill>
                  <a:srgbClr val="B83A26"/>
                </a:solidFill>
              </a:defRPr>
            </a:lvl4pPr>
            <a:lvl5pPr>
              <a:defRPr sz="1725" b="0">
                <a:solidFill>
                  <a:srgbClr val="B83A26"/>
                </a:solidFill>
              </a:defRPr>
            </a:lvl5pPr>
            <a:lvl6pPr>
              <a:defRPr sz="1725" b="0">
                <a:solidFill>
                  <a:srgbClr val="B83A26"/>
                </a:solidFill>
              </a:defRPr>
            </a:lvl6pPr>
            <a:lvl7pPr>
              <a:defRPr sz="1725" b="0">
                <a:solidFill>
                  <a:srgbClr val="B83A26"/>
                </a:solidFill>
              </a:defRPr>
            </a:lvl7pPr>
            <a:lvl8pPr>
              <a:defRPr sz="1725" b="0">
                <a:solidFill>
                  <a:srgbClr val="B83A26"/>
                </a:solidFill>
              </a:defRPr>
            </a:lvl8pPr>
            <a:lvl9pPr>
              <a:defRPr sz="1725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3A26"/>
                </a:solidFill>
              </a:defRPr>
            </a:pPr>
            <a:r>
              <a:rPr sz="1725" b="0">
                <a:solidFill>
                  <a:srgbClr val="B83A26"/>
                </a:solidFill>
              </a:rPr>
              <a:t>HOME-TALK은 개발 프로토타입이며, 상용 제품과 감지 성능을 직접 비교한 결과는 아님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4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시연 시나리오 예시</a:t>
            </a:r>
          </a:p>
        </p:txBody>
      </p:sp>
      <p:sp>
        <p:nvSpPr>
          <p:cNvPr id="6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7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9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0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A7CB4-EE4C-4E51-8379-0812FA17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98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D7C74"/>
                </a:solidFill>
              </a:defRPr>
            </a:defPPr>
            <a:lvl1pPr>
              <a:defRPr sz="3150" b="1">
                <a:solidFill>
                  <a:srgbClr val="1D7C74"/>
                </a:solidFill>
              </a:defRPr>
            </a:lvl1pPr>
            <a:lvl2pPr>
              <a:defRPr sz="3150" b="1">
                <a:solidFill>
                  <a:srgbClr val="1D7C74"/>
                </a:solidFill>
              </a:defRPr>
            </a:lvl2pPr>
            <a:lvl3pPr>
              <a:defRPr sz="3150" b="1">
                <a:solidFill>
                  <a:srgbClr val="1D7C74"/>
                </a:solidFill>
              </a:defRPr>
            </a:lvl3pPr>
            <a:lvl4pPr>
              <a:defRPr sz="3150" b="1">
                <a:solidFill>
                  <a:srgbClr val="1D7C74"/>
                </a:solidFill>
              </a:defRPr>
            </a:lvl4pPr>
            <a:lvl5pPr>
              <a:defRPr sz="3150" b="1">
                <a:solidFill>
                  <a:srgbClr val="1D7C74"/>
                </a:solidFill>
              </a:defRPr>
            </a:lvl5pPr>
            <a:lvl6pPr>
              <a:defRPr sz="3150" b="1">
                <a:solidFill>
                  <a:srgbClr val="1D7C74"/>
                </a:solidFill>
              </a:defRPr>
            </a:lvl6pPr>
            <a:lvl7pPr>
              <a:defRPr sz="3150" b="1">
                <a:solidFill>
                  <a:srgbClr val="1D7C74"/>
                </a:solidFill>
              </a:defRPr>
            </a:lvl7pPr>
            <a:lvl8pPr>
              <a:defRPr sz="3150" b="1">
                <a:solidFill>
                  <a:srgbClr val="1D7C74"/>
                </a:solidFill>
              </a:defRPr>
            </a:lvl8pPr>
            <a:lvl9pPr>
              <a:defRPr sz="315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D7C74"/>
                </a:solidFill>
              </a:defRPr>
            </a:pPr>
            <a:r>
              <a:rPr sz="3150" b="1">
                <a:solidFill>
                  <a:srgbClr val="1D7C74"/>
                </a:solidFill>
              </a:rPr>
              <a:t>보호자가 외출한 동안, 집의 변화를 확인하는 과정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9322D-50A0-4896-BCB2-9F2C29E6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현관 모드의 방문·초인종 이벤트로 감지부터 브리핑까지 시연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B0403-937A-4E74-8B84-4AC74AA1730E}"/>
              </a:ext>
            </a:extLst>
          </p:cNvPr>
          <p:cNvGraphicFramePr/>
          <p:nvPr/>
        </p:nvGraphicFramePr>
        <p:xfrm>
          <a:off xmlns:a="http://schemas.openxmlformats.org/drawingml/2006/main" x="3790950" y="4171950"/>
          <a:ext xmlns:a="http://schemas.openxmlformats.org/drawingml/2006/main" cx="139065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905500"/>
                <a:gridCol w="5810250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</a:rPr>
                        <a:t>시연 행동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</a:rPr>
                        <a:t>앱에서 확인할 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01  준비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로그인 후 현관 모드 선택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카메라·마이크 연결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현관 모드와 기기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02  이벤트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방문자가 지정 구역에 머무름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초인종 소리 재생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방문·소리 이벤트가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기록에 추가되는 과정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03  기록 확인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이벤트 목록에서 해당 기록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시간·종류·연결된 첨부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04  대화형 조회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“오늘 방문 기록 알려줘” 질문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저장된 방문 기록을 바탕으로 답변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05  하루 요약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홈에서 브리핑 생성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현재 화면 보기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하루 요약과 현재 집 사진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7D349-5D72-4F81-87FB-D90DF9ED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020175"/>
            <a:ext cx="1419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33A"/>
                </a:solidFill>
              </a:defRPr>
            </a:defPPr>
            <a:lvl1pPr>
              <a:defRPr sz="1800" b="0">
                <a:solidFill>
                  <a:srgbClr val="13233A"/>
                </a:solidFill>
              </a:defRPr>
            </a:lvl1pPr>
            <a:lvl2pPr>
              <a:defRPr sz="1800" b="0">
                <a:solidFill>
                  <a:srgbClr val="13233A"/>
                </a:solidFill>
              </a:defRPr>
            </a:lvl2pPr>
            <a:lvl3pPr>
              <a:defRPr sz="1800" b="0">
                <a:solidFill>
                  <a:srgbClr val="13233A"/>
                </a:solidFill>
              </a:defRPr>
            </a:lvl3pPr>
            <a:lvl4pPr>
              <a:defRPr sz="1800" b="0">
                <a:solidFill>
                  <a:srgbClr val="13233A"/>
                </a:solidFill>
              </a:defRPr>
            </a:lvl4pPr>
            <a:lvl5pPr>
              <a:defRPr sz="1800" b="0">
                <a:solidFill>
                  <a:srgbClr val="13233A"/>
                </a:solidFill>
              </a:defRPr>
            </a:lvl5pPr>
            <a:lvl6pPr>
              <a:defRPr sz="1800" b="0">
                <a:solidFill>
                  <a:srgbClr val="13233A"/>
                </a:solidFill>
              </a:defRPr>
            </a:lvl6pPr>
            <a:lvl7pPr>
              <a:defRPr sz="1800" b="0">
                <a:solidFill>
                  <a:srgbClr val="13233A"/>
                </a:solidFill>
              </a:defRPr>
            </a:lvl7pPr>
            <a:lvl8pPr>
              <a:defRPr sz="1800" b="0">
                <a:solidFill>
                  <a:srgbClr val="13233A"/>
                </a:solidFill>
              </a:defRPr>
            </a:lvl8pPr>
            <a:lvl9pPr>
              <a:defRPr sz="18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3233A"/>
                </a:solidFill>
              </a:defRPr>
            </a:pPr>
            <a:r>
              <a:rPr sz="1800" b="0">
                <a:solidFill>
                  <a:srgbClr val="13233A"/>
                </a:solidFill>
              </a:rPr>
              <a:t>위험 알림 예시: 검증한 경보음 재생 후 알림 확인(거실 모드·알림 권한 사전 설정)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B0BC4-B08F-4A16-BE59-1755FF32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505950"/>
            <a:ext cx="1419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3A26"/>
                </a:solidFill>
              </a:defRPr>
            </a:defPPr>
            <a:lvl1pPr>
              <a:defRPr sz="1800" b="0">
                <a:solidFill>
                  <a:srgbClr val="B83A26"/>
                </a:solidFill>
              </a:defRPr>
            </a:lvl1pPr>
            <a:lvl2pPr>
              <a:defRPr sz="1800" b="0">
                <a:solidFill>
                  <a:srgbClr val="B83A26"/>
                </a:solidFill>
              </a:defRPr>
            </a:lvl2pPr>
            <a:lvl3pPr>
              <a:defRPr sz="1800" b="0">
                <a:solidFill>
                  <a:srgbClr val="B83A26"/>
                </a:solidFill>
              </a:defRPr>
            </a:lvl3pPr>
            <a:lvl4pPr>
              <a:defRPr sz="1800" b="0">
                <a:solidFill>
                  <a:srgbClr val="B83A26"/>
                </a:solidFill>
              </a:defRPr>
            </a:lvl4pPr>
            <a:lvl5pPr>
              <a:defRPr sz="1800" b="0">
                <a:solidFill>
                  <a:srgbClr val="B83A26"/>
                </a:solidFill>
              </a:defRPr>
            </a:lvl5pPr>
            <a:lvl6pPr>
              <a:defRPr sz="1800" b="0">
                <a:solidFill>
                  <a:srgbClr val="B83A26"/>
                </a:solidFill>
              </a:defRPr>
            </a:lvl6pPr>
            <a:lvl7pPr>
              <a:defRPr sz="1800" b="0">
                <a:solidFill>
                  <a:srgbClr val="B83A26"/>
                </a:solidFill>
              </a:defRPr>
            </a:lvl7pPr>
            <a:lvl8pPr>
              <a:defRPr sz="1800" b="0">
                <a:solidFill>
                  <a:srgbClr val="B83A26"/>
                </a:solidFill>
              </a:defRPr>
            </a:lvl8pPr>
            <a:lvl9pPr>
              <a:defRPr sz="1800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3A26"/>
                </a:solidFill>
              </a:defRPr>
            </a:pPr>
            <a:r>
              <a:rPr sz="1800" b="0">
                <a:solidFill>
                  <a:srgbClr val="B83A26"/>
                </a:solidFill>
              </a:rPr>
              <a:t>모드 반영·이벤트 저장을 확인한 뒤 다음 단계 진행 · 사람의 신원 식별을 의미하지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5349</TotalTime>
  <Words>1131</Words>
  <Application>Microsoft Office PowerPoint</Application>
  <PresentationFormat>사용자 지정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HY견고딕</vt:lpstr>
      <vt:lpstr>KoPubWorld바탕체 Bold</vt:lpstr>
      <vt:lpstr>KoPubWorld바탕체 Medium</vt:lpstr>
      <vt:lpstr>Noto Sans KR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양소희</cp:lastModifiedBy>
  <cp:revision>238</cp:revision>
  <dcterms:created xsi:type="dcterms:W3CDTF">2022-04-18T01:28:53Z</dcterms:created>
  <dcterms:modified xsi:type="dcterms:W3CDTF">2026-10-22T12:45:46Z</dcterms:modified>
  <cp:version/>
</cp:coreProperties>
</file>