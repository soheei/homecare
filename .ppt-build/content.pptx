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bd3cb2661844b4" /><Relationship Type="http://schemas.openxmlformats.org/officeDocument/2006/relationships/extended-properties" Target="/docProps/app.xml" Id="R6f11103d5c3c48d5" /><Relationship Type="http://schemas.openxmlformats.org/officeDocument/2006/relationships/officeDocument" Target="/ppt/presentation.xml" Id="R79dc2f4f88f84b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58dad368734f04"/>
  </p:sldMasterIdLst>
  <p:notesMasterIdLst>
    <p:notesMasterId xmlns:r="http://schemas.openxmlformats.org/officeDocument/2006/relationships" r:id="R7a3a3183eb0b46d1"/>
  </p:notesMasterIdLst>
  <p:sldIdLst>
    <p:sldId xmlns:r="http://schemas.openxmlformats.org/officeDocument/2006/relationships" id="256" r:id="R1e5b1b58d5424f27"/>
  </p:sldIdLst>
  <p:sldSz cx="20104100" cy="113093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037638d360437d" /><Relationship Type="http://schemas.openxmlformats.org/officeDocument/2006/relationships/slideMaster" Target="/ppt/slideMasters/slideMaster1.xml" Id="R6558dad368734f04" /><Relationship Type="http://schemas.openxmlformats.org/officeDocument/2006/relationships/notesMaster" Target="/ppt/notesMasters/notesMaster1.xml" Id="R7a3a3183eb0b46d1" /><Relationship Type="http://schemas.openxmlformats.org/officeDocument/2006/relationships/presProps" Target="/ppt/presProps.xml" Id="R6ad8c211943548dc" /><Relationship Type="http://schemas.openxmlformats.org/officeDocument/2006/relationships/tableStyles" Target="/ppt/tableStyles.xml" Id="R605335448eac4a04" /><Relationship Type="http://schemas.openxmlformats.org/officeDocument/2006/relationships/slide" Target="/ppt/slides/slide1.xml" Id="R1e5b1b58d5424f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b5969464a544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cc691cd0ce4d44" /><Relationship Type="http://schemas.openxmlformats.org/officeDocument/2006/relationships/notesMaster" Target="/ppt/notesMasters/notesMaster1.xml" Id="Rd76bdbd29b484e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b86ef9827f47a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e15342d57546d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5cfb5cf9364d1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dc314d17e1473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9996ca5df3441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749c90f7f140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6D6C629-4654-4922-B23A-B1FECA2EB3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10410" y="4272421"/>
            <a:ext cx="16083280" cy="16335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9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BD3E392-CCB2-4A73-9460-2439CD715B4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015615" y="6220143"/>
            <a:ext cx="14072870" cy="12565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F140F4E-3641-4649-97E2-4A17A619E4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10410" y="4712229"/>
            <a:ext cx="16083280" cy="18848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92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92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92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92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92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92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92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92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92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92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8165581-C215-4E42-BBB1-4BF0753388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30856" y="879616"/>
            <a:ext cx="17842389" cy="138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EABBBAA-ABF3-41B2-843B-01801BE8A6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30856" y="3141486"/>
            <a:ext cx="17842389" cy="7036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76952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79554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382157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884759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387362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889964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392567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895169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397772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C95DC92-E61D-41B0-BDAD-555E81FF49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30856" y="879616"/>
            <a:ext cx="17842389" cy="138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FF7043B-97CB-4161-A8A6-DD4C68663C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30856" y="3141486"/>
            <a:ext cx="8292941" cy="7036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76952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79554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382157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884759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387362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889964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392567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895169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397772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05DE8A2-12EC-4649-8C44-8E7419F57FA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0680303" y="3141486"/>
            <a:ext cx="8292941" cy="7036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76952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79554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382157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884759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387362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889964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392567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895169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397772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E94439F-DBB5-44D5-B4A3-4C1417A60F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30856" y="879616"/>
            <a:ext cx="17842389" cy="138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E2EE010-00BA-4AA4-951F-0735F242B4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30856" y="3141486"/>
            <a:ext cx="8292941" cy="7036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76952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79554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382157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884759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387362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889964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392567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895169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397772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533965cddc455a" /><Relationship Type="http://schemas.openxmlformats.org/officeDocument/2006/relationships/slideLayout" Target="/ppt/slideLayouts/slideLayout1.xml" Id="Rd85e671c8ba84642" /><Relationship Type="http://schemas.openxmlformats.org/officeDocument/2006/relationships/slideLayout" Target="/ppt/slideLayouts/slideLayout2.xml" Id="R4c97eca762f74ffa" /><Relationship Type="http://schemas.openxmlformats.org/officeDocument/2006/relationships/slideLayout" Target="/ppt/slideLayouts/slideLayout3.xml" Id="R5a557caf97d24c10" /><Relationship Type="http://schemas.openxmlformats.org/officeDocument/2006/relationships/slideLayout" Target="/ppt/slideLayouts/slideLayout4.xml" Id="R41dfe15768374a43" /><Relationship Type="http://schemas.openxmlformats.org/officeDocument/2006/relationships/slideLayout" Target="/ppt/slideLayouts/slideLayout5.xml" Id="R7bbc49f1a9484ec7" /><Relationship Type="http://schemas.openxmlformats.org/officeDocument/2006/relationships/slideLayout" Target="/ppt/slideLayouts/slideLayout6.xml" Id="R4978bb591a1541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5e671c8ba84642"/>
    <p:sldLayoutId xmlns:r="http://schemas.openxmlformats.org/officeDocument/2006/relationships" id="2147483650" r:id="R4c97eca762f74ffa"/>
    <p:sldLayoutId xmlns:r="http://schemas.openxmlformats.org/officeDocument/2006/relationships" id="2147483651" r:id="R5a557caf97d24c10"/>
    <p:sldLayoutId xmlns:r="http://schemas.openxmlformats.org/officeDocument/2006/relationships" id="2147483652" r:id="R41dfe15768374a43"/>
    <p:sldLayoutId xmlns:r="http://schemas.openxmlformats.org/officeDocument/2006/relationships" id="2147483653" r:id="R7bbc49f1a9484ec7"/>
    <p:sldLayoutId xmlns:r="http://schemas.openxmlformats.org/officeDocument/2006/relationships" id="2147483654" r:id="R4978bb591a1541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5654b171e74ede" /><Relationship Type="http://schemas.openxmlformats.org/officeDocument/2006/relationships/notesSlide" Target="/ppt/notesSlides/notesSlide1.xml" Id="R501bc2d8fc7c470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7985B1-C59B-40C6-8623-F09A83AC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762250"/>
            <a:ext cx="1390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3233A"/>
                </a:solidFill>
              </a:defRPr>
            </a:defPPr>
            <a:lvl1pPr>
              <a:defRPr sz="2250" b="0">
                <a:solidFill>
                  <a:srgbClr val="13233A"/>
                </a:solidFill>
              </a:defRPr>
            </a:lvl1pPr>
            <a:lvl2pPr>
              <a:defRPr sz="2250" b="0">
                <a:solidFill>
                  <a:srgbClr val="13233A"/>
                </a:solidFill>
              </a:defRPr>
            </a:lvl2pPr>
            <a:lvl3pPr>
              <a:defRPr sz="2250" b="0">
                <a:solidFill>
                  <a:srgbClr val="13233A"/>
                </a:solidFill>
              </a:defRPr>
            </a:lvl3pPr>
            <a:lvl4pPr>
              <a:defRPr sz="2250" b="0">
                <a:solidFill>
                  <a:srgbClr val="13233A"/>
                </a:solidFill>
              </a:defRPr>
            </a:lvl4pPr>
            <a:lvl5pPr>
              <a:defRPr sz="2250" b="0">
                <a:solidFill>
                  <a:srgbClr val="13233A"/>
                </a:solidFill>
              </a:defRPr>
            </a:lvl5pPr>
            <a:lvl6pPr>
              <a:defRPr sz="2250" b="0">
                <a:solidFill>
                  <a:srgbClr val="13233A"/>
                </a:solidFill>
              </a:defRPr>
            </a:lvl6pPr>
            <a:lvl7pPr>
              <a:defRPr sz="2250" b="0">
                <a:solidFill>
                  <a:srgbClr val="13233A"/>
                </a:solidFill>
              </a:defRPr>
            </a:lvl7pPr>
            <a:lvl8pPr>
              <a:defRPr sz="2250" b="0">
                <a:solidFill>
                  <a:srgbClr val="13233A"/>
                </a:solidFill>
              </a:defRPr>
            </a:lvl8pPr>
            <a:lvl9pPr>
              <a:defRPr sz="2250" b="0">
                <a:solidFill>
                  <a:srgbClr val="13233A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3233A"/>
                </a:solidFill>
              </a:defRPr>
            </a:pPr>
            <a:r>
              <a:rPr sz="2250" b="0">
                <a:solidFill>
                  <a:srgbClr val="13233A"/>
                </a:solidFill>
              </a:rPr>
              <a:t>Pi 마이크 24클립 · 6개 소리 분류 · ESC-50 2,000클립으로 오경보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5F6C18-6ED0-4543-959D-2CF99B96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448050"/>
            <a:ext cx="1381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1D7C74"/>
                </a:solidFill>
              </a:defRPr>
            </a:defPPr>
            <a:lvl1pPr>
              <a:defRPr sz="4200" b="1">
                <a:solidFill>
                  <a:srgbClr val="1D7C74"/>
                </a:solidFill>
              </a:defRPr>
            </a:lvl1pPr>
            <a:lvl2pPr>
              <a:defRPr sz="4200" b="1">
                <a:solidFill>
                  <a:srgbClr val="1D7C74"/>
                </a:solidFill>
              </a:defRPr>
            </a:lvl2pPr>
            <a:lvl3pPr>
              <a:defRPr sz="4200" b="1">
                <a:solidFill>
                  <a:srgbClr val="1D7C74"/>
                </a:solidFill>
              </a:defRPr>
            </a:lvl3pPr>
            <a:lvl4pPr>
              <a:defRPr sz="4200" b="1">
                <a:solidFill>
                  <a:srgbClr val="1D7C74"/>
                </a:solidFill>
              </a:defRPr>
            </a:lvl4pPr>
            <a:lvl5pPr>
              <a:defRPr sz="4200" b="1">
                <a:solidFill>
                  <a:srgbClr val="1D7C74"/>
                </a:solidFill>
              </a:defRPr>
            </a:lvl5pPr>
            <a:lvl6pPr>
              <a:defRPr sz="4200" b="1">
                <a:solidFill>
                  <a:srgbClr val="1D7C74"/>
                </a:solidFill>
              </a:defRPr>
            </a:lvl6pPr>
            <a:lvl7pPr>
              <a:defRPr sz="4200" b="1">
                <a:solidFill>
                  <a:srgbClr val="1D7C74"/>
                </a:solidFill>
              </a:defRPr>
            </a:lvl7pPr>
            <a:lvl8pPr>
              <a:defRPr sz="4200" b="1">
                <a:solidFill>
                  <a:srgbClr val="1D7C74"/>
                </a:solidFill>
              </a:defRPr>
            </a:lvl8pPr>
            <a:lvl9pPr>
              <a:defRPr sz="4200" b="1">
                <a:solidFill>
                  <a:srgbClr val="1D7C74"/>
                </a:solidFill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1D7C74"/>
                </a:solidFill>
              </a:defRPr>
            </a:pPr>
            <a:r>
              <a:rPr sz="4200" b="1">
                <a:solidFill>
                  <a:srgbClr val="1D7C74"/>
                </a:solidFill>
              </a:rPr>
              <a:t>평균 F1   0.510  →  0.610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BE1070-BE50-4DF7-BEA6-71AE8FE4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26720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3233A"/>
                </a:solidFill>
              </a:defRPr>
            </a:defPPr>
            <a:lvl1pPr>
              <a:defRPr sz="2400" b="0">
                <a:solidFill>
                  <a:srgbClr val="13233A"/>
                </a:solidFill>
              </a:defRPr>
            </a:lvl1pPr>
            <a:lvl2pPr>
              <a:defRPr sz="2400" b="0">
                <a:solidFill>
                  <a:srgbClr val="13233A"/>
                </a:solidFill>
              </a:defRPr>
            </a:lvl2pPr>
            <a:lvl3pPr>
              <a:defRPr sz="2400" b="0">
                <a:solidFill>
                  <a:srgbClr val="13233A"/>
                </a:solidFill>
              </a:defRPr>
            </a:lvl3pPr>
            <a:lvl4pPr>
              <a:defRPr sz="2400" b="0">
                <a:solidFill>
                  <a:srgbClr val="13233A"/>
                </a:solidFill>
              </a:defRPr>
            </a:lvl4pPr>
            <a:lvl5pPr>
              <a:defRPr sz="2400" b="0">
                <a:solidFill>
                  <a:srgbClr val="13233A"/>
                </a:solidFill>
              </a:defRPr>
            </a:lvl5pPr>
            <a:lvl6pPr>
              <a:defRPr sz="2400" b="0">
                <a:solidFill>
                  <a:srgbClr val="13233A"/>
                </a:solidFill>
              </a:defRPr>
            </a:lvl6pPr>
            <a:lvl7pPr>
              <a:defRPr sz="2400" b="0">
                <a:solidFill>
                  <a:srgbClr val="13233A"/>
                </a:solidFill>
              </a:defRPr>
            </a:lvl7pPr>
            <a:lvl8pPr>
              <a:defRPr sz="2400" b="0">
                <a:solidFill>
                  <a:srgbClr val="13233A"/>
                </a:solidFill>
              </a:defRPr>
            </a:lvl8pPr>
            <a:lvl9pPr>
              <a:defRPr sz="2400" b="0">
                <a:solidFill>
                  <a:srgbClr val="13233A"/>
                </a:solidFill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3233A"/>
                </a:solidFill>
              </a:defRPr>
            </a:pPr>
            <a:r>
              <a:rPr sz="2400" b="0">
                <a:solidFill>
                  <a:srgbClr val="13233A"/>
                </a:solidFill>
              </a:rPr>
              <a:t>기존 설정 대비 음원 단위 교차검증 결과  +0.100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57417C-CF32-4488-985B-7F3F2E89B400}"/>
              </a:ext>
            </a:extLst>
          </p:cNvPr>
          <p:cNvGraphicFramePr/>
          <p:nvPr/>
        </p:nvGraphicFramePr>
        <p:xfrm>
          <a:off xmlns:a="http://schemas.openxmlformats.org/drawingml/2006/main" x="3790950" y="5000625"/>
          <a:ext xmlns:a="http://schemas.openxmlformats.org/drawingml/2006/main" cx="139065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67250"/>
                <a:gridCol w="2714625"/>
                <a:gridCol w="3048000"/>
                <a:gridCol w="3476625"/>
              </a:tblGrid>
              <a:tr h="530679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</a:rPr>
                        <a:t>소리 종류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C2B5"/>
                      </a:solidFill>
                    </a:lnL>
                    <a:lnR w="9525">
                      <a:solidFill>
                        <a:srgbClr val="C8C2B5"/>
                      </a:solidFill>
                    </a:lnR>
                    <a:lnT w="9525">
                      <a:solidFill>
                        <a:srgbClr val="C8C2B5"/>
                      </a:solidFill>
                    </a:lnT>
                    <a:lnB w="9525">
                      <a:solidFill>
                        <a:srgbClr val="C8C2B5"/>
                      </a:solidFill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</a:rPr>
                        <a:t>F1 기존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T w="9525">
                      <a:solidFill>
                        <a:srgbClr val="C8C2B5"/>
                      </a:solidFill>
                    </a:lnT>
                    <a:lnB w="9525">
                      <a:solidFill>
                        <a:srgbClr val="C8C2B5"/>
                      </a:solidFill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</a:rPr>
                        <a:t>F1 교차검증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T w="9525">
                      <a:solidFill>
                        <a:srgbClr val="C8C2B5"/>
                      </a:solidFill>
                    </a:lnT>
                    <a:lnB w="9525">
                      <a:solidFill>
                        <a:srgbClr val="C8C2B5"/>
                      </a:solidFill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</a:rPr>
                        <a:t>교차검증 검출률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T w="9525">
                      <a:solidFill>
                        <a:srgbClr val="C8C2B5"/>
                      </a:solidFill>
                    </a:lnT>
                    <a:lnB w="9525">
                      <a:solidFill>
                        <a:srgbClr val="C8C2B5"/>
                      </a:solidFill>
                    </a:lnB>
                    <a:solidFill>
                      <a:srgbClr val="13233A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경보음·사이렌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C2B5"/>
                      </a:solidFill>
                    </a:lnL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0.400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13233A"/>
                          </a:solidFill>
                        </a:rPr>
                        <a:t>0.400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33.3% (1/3)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유리 파손·충격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C2B5"/>
                      </a:solidFill>
                    </a:lnL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0.500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13233A"/>
                          </a:solidFill>
                        </a:rPr>
                        <a:t>0.800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66.7% (2/3)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아기 울음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C2B5"/>
                      </a:solidFill>
                    </a:lnL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0.750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13233A"/>
                          </a:solidFill>
                        </a:rPr>
                        <a:t>0.857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100% (3/3)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B83A26"/>
                          </a:solidFill>
                        </a:rPr>
                        <a:t>비명·고함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C2B5"/>
                      </a:solidFill>
                    </a:lnL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B83A26"/>
                          </a:solidFill>
                        </a:rPr>
                        <a:t>0.000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B83A26"/>
                          </a:solidFill>
                        </a:rPr>
                        <a:t>0.000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B83A26"/>
                          </a:solidFill>
                        </a:rPr>
                        <a:t>0% (0/3)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초인종·노크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C2B5"/>
                      </a:solidFill>
                    </a:lnL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0.500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13233A"/>
                          </a:solidFill>
                        </a:rPr>
                        <a:t>0.600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50.0% (3/6)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반려동물 소리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C2B5"/>
                      </a:solidFill>
                    </a:lnL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0.909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13233A"/>
                          </a:solidFill>
                        </a:rPr>
                        <a:t>1.000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100% (6/6)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F8D1D8-2DA3-413A-B4C7-E7667C54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8953500"/>
            <a:ext cx="1419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3233A"/>
                </a:solidFill>
              </a:defRPr>
            </a:defPPr>
            <a:lvl1pPr>
              <a:defRPr sz="1800" b="0">
                <a:solidFill>
                  <a:srgbClr val="13233A"/>
                </a:solidFill>
              </a:defRPr>
            </a:lvl1pPr>
            <a:lvl2pPr>
              <a:defRPr sz="1800" b="0">
                <a:solidFill>
                  <a:srgbClr val="13233A"/>
                </a:solidFill>
              </a:defRPr>
            </a:lvl2pPr>
            <a:lvl3pPr>
              <a:defRPr sz="1800" b="0">
                <a:solidFill>
                  <a:srgbClr val="13233A"/>
                </a:solidFill>
              </a:defRPr>
            </a:lvl3pPr>
            <a:lvl4pPr>
              <a:defRPr sz="1800" b="0">
                <a:solidFill>
                  <a:srgbClr val="13233A"/>
                </a:solidFill>
              </a:defRPr>
            </a:lvl4pPr>
            <a:lvl5pPr>
              <a:defRPr sz="1800" b="0">
                <a:solidFill>
                  <a:srgbClr val="13233A"/>
                </a:solidFill>
              </a:defRPr>
            </a:lvl5pPr>
            <a:lvl6pPr>
              <a:defRPr sz="1800" b="0">
                <a:solidFill>
                  <a:srgbClr val="13233A"/>
                </a:solidFill>
              </a:defRPr>
            </a:lvl6pPr>
            <a:lvl7pPr>
              <a:defRPr sz="1800" b="0">
                <a:solidFill>
                  <a:srgbClr val="13233A"/>
                </a:solidFill>
              </a:defRPr>
            </a:lvl7pPr>
            <a:lvl8pPr>
              <a:defRPr sz="1800" b="0">
                <a:solidFill>
                  <a:srgbClr val="13233A"/>
                </a:solidFill>
              </a:defRPr>
            </a:lvl8pPr>
            <a:lvl9pPr>
              <a:defRPr sz="1800" b="0">
                <a:solidFill>
                  <a:srgbClr val="13233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3233A"/>
                </a:solidFill>
              </a:defRPr>
            </a:pPr>
            <a:r>
              <a:rPr sz="1800" b="0">
                <a:solidFill>
                  <a:srgbClr val="13233A"/>
                </a:solidFill>
              </a:rPr>
              <a:t>F1: 오경보와 놓침을 함께 평가하는 점수(0~1)   검출률: 실제 소리 중 감지한 비율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95F574-6C92-460A-BD85-F73746F8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9467850"/>
            <a:ext cx="1419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B83A26"/>
                </a:solidFill>
              </a:defRPr>
            </a:defPPr>
            <a:lvl1pPr>
              <a:defRPr sz="1800" b="0">
                <a:solidFill>
                  <a:srgbClr val="B83A26"/>
                </a:solidFill>
              </a:defRPr>
            </a:lvl1pPr>
            <a:lvl2pPr>
              <a:defRPr sz="1800" b="0">
                <a:solidFill>
                  <a:srgbClr val="B83A26"/>
                </a:solidFill>
              </a:defRPr>
            </a:lvl2pPr>
            <a:lvl3pPr>
              <a:defRPr sz="1800" b="0">
                <a:solidFill>
                  <a:srgbClr val="B83A26"/>
                </a:solidFill>
              </a:defRPr>
            </a:lvl3pPr>
            <a:lvl4pPr>
              <a:defRPr sz="1800" b="0">
                <a:solidFill>
                  <a:srgbClr val="B83A26"/>
                </a:solidFill>
              </a:defRPr>
            </a:lvl4pPr>
            <a:lvl5pPr>
              <a:defRPr sz="1800" b="0">
                <a:solidFill>
                  <a:srgbClr val="B83A26"/>
                </a:solidFill>
              </a:defRPr>
            </a:lvl5pPr>
            <a:lvl6pPr>
              <a:defRPr sz="1800" b="0">
                <a:solidFill>
                  <a:srgbClr val="B83A26"/>
                </a:solidFill>
              </a:defRPr>
            </a:lvl6pPr>
            <a:lvl7pPr>
              <a:defRPr sz="1800" b="0">
                <a:solidFill>
                  <a:srgbClr val="B83A26"/>
                </a:solidFill>
              </a:defRPr>
            </a:lvl7pPr>
            <a:lvl8pPr>
              <a:defRPr sz="1800" b="0">
                <a:solidFill>
                  <a:srgbClr val="B83A26"/>
                </a:solidFill>
              </a:defRPr>
            </a:lvl8pPr>
            <a:lvl9pPr>
              <a:defRPr sz="1800" b="0">
                <a:solidFill>
                  <a:srgbClr val="B83A2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B83A26"/>
                </a:solidFill>
              </a:defRPr>
            </a:pPr>
            <a:r>
              <a:rPr sz="1800" b="0">
                <a:solidFill>
                  <a:srgbClr val="B83A26"/>
                </a:solidFill>
              </a:rPr>
              <a:t>한계: 같은 날·장소의 소규모 표본. 다른 날·새 음원 검증과 장시간 배경 녹음 필요</a:t>
            </a:r>
          </a:p>
        </p:txBody>
      </p:sp>
    </p:spTree>
    <p:extLst>
      <p:ext uri="{BB962C8B-B14F-4D97-AF65-F5344CB8AC3E}">
        <p14:creationId xmlns:p14="http://schemas.microsoft.com/office/powerpoint/2010/main" val="5265574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2026-10-26T00:13:01.9580000Z</dcterms:created>
  <dcterms:modified xsi:type="dcterms:W3CDTF">2026-10-26T00:13:01.9580000Z</dcterms:modified>
</coreProperties>
</file>