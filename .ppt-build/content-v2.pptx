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b6b667bd5f74202" /><Relationship Type="http://schemas.openxmlformats.org/officeDocument/2006/relationships/extended-properties" Target="/docProps/app.xml" Id="R1782efffa2eb4170" /><Relationship Type="http://schemas.openxmlformats.org/officeDocument/2006/relationships/officeDocument" Target="/ppt/presentation.xml" Id="R432fb2a326d14dc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ee73be292fc4357"/>
  </p:sldMasterIdLst>
  <p:notesMasterIdLst>
    <p:notesMasterId xmlns:r="http://schemas.openxmlformats.org/officeDocument/2006/relationships" r:id="Rab430cde1c1046b0"/>
  </p:notesMasterIdLst>
  <p:sldIdLst>
    <p:sldId xmlns:r="http://schemas.openxmlformats.org/officeDocument/2006/relationships" id="256" r:id="Rce6c12f823b24c28"/>
    <p:sldId xmlns:r="http://schemas.openxmlformats.org/officeDocument/2006/relationships" id="257" r:id="Rfa51930c8c5d4e4f"/>
    <p:sldId xmlns:r="http://schemas.openxmlformats.org/officeDocument/2006/relationships" id="258" r:id="Re7104eb8c16b4afd"/>
  </p:sldIdLst>
  <p:sldSz cx="20104100" cy="113093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a354a3238784810" /><Relationship Type="http://schemas.openxmlformats.org/officeDocument/2006/relationships/slideMaster" Target="/ppt/slideMasters/slideMaster1.xml" Id="R6ee73be292fc4357" /><Relationship Type="http://schemas.openxmlformats.org/officeDocument/2006/relationships/notesMaster" Target="/ppt/notesMasters/notesMaster1.xml" Id="Rab430cde1c1046b0" /><Relationship Type="http://schemas.openxmlformats.org/officeDocument/2006/relationships/presProps" Target="/ppt/presProps.xml" Id="R8af1ee88a03f47ac" /><Relationship Type="http://schemas.openxmlformats.org/officeDocument/2006/relationships/tableStyles" Target="/ppt/tableStyles.xml" Id="R1b9969390cc647e7" /><Relationship Type="http://schemas.openxmlformats.org/officeDocument/2006/relationships/slide" Target="/ppt/slides/slide1.xml" Id="Rce6c12f823b24c28" /><Relationship Type="http://schemas.openxmlformats.org/officeDocument/2006/relationships/slide" Target="/ppt/slides/slide2.xml" Id="Rfa51930c8c5d4e4f" /><Relationship Type="http://schemas.openxmlformats.org/officeDocument/2006/relationships/slide" Target="/ppt/slides/slide3.xml" Id="Re7104eb8c16b4af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3ad09cee2594db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f69e14b583f464a" /><Relationship Type="http://schemas.openxmlformats.org/officeDocument/2006/relationships/notesMaster" Target="/ppt/notesMasters/notesMaster1.xml" Id="R1c94dd5d300a43f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5fd4f66876d4ecb" /><Relationship Type="http://schemas.openxmlformats.org/officeDocument/2006/relationships/notesMaster" Target="/ppt/notesMasters/notesMaster1.xml" Id="Ra3b771101e3641d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b8030ffa7d84833" /><Relationship Type="http://schemas.openxmlformats.org/officeDocument/2006/relationships/notesMaster" Target="/ppt/notesMasters/notesMaster1.xml" Id="R5e8d110ffa94469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yamnet/yamnet_realworld_eval.ipynb 저장 실행 결과 셀 16, 24, 47. 기존 macro F1 0.510, 자체평가 0.699, 음원 단위 교차검증 0.610. Precision 및 Recall은 셀 24의 교차검증 값. 음원 하나를 통째로 제외하고 나머지로 설정을 선택한 뒤 제외한 음원을 평가. 자체평가 점수는 선택 데이터 재사용으로 낙관적이므로 주지표에 사용하지 않음. 비명·고함은 예측 양성 0건으로 노트북의 zero-division 처리에 따라 Precision 0 표시. 동일 날·장소·마이크의 개발 표본이며 장시간 배경 소음과 운영 성능은 검증 안 됨. 규칙 및 임계값의 운영 반영을 의미하지 않음.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비교 기준일: 2026-10-26. 비교 대상은 명시한 두 모델의 공식 자료이며 전체 시장에서의 독점적 우위를 뜻하지 않음. Tapo C225 V2 공식 사양: https://www.tapo.com/us/product/tapo-c225-security-camera/v2/1-pack/specs/ (사람·차량·반려동물, 울음·야옹·짖음·유리 파손, 로컬 microSD 및 유료 Tapo Care, 시스템 알림). eufy E220 공식 제품 페이지: https://www.eufy.com/products/t8410121 (사람·반려동물·오디오·울음 감지, 알림, microSD·선택 클라우드). 자연어로 과거 이벤트를 질의하는 기능과 하루 자연어 브리핑은 위 모델 자료에서 확인되지 않아 미기재로 표시. 스마트 스피커의 음성 제어와 기록에 대한 자연어 질의는 구분. HOME-TALK 근거: web/src/screens/HomeScreen.jsx, web/src/context/AppDataContext.jsx, web/src/lib/api.js, src/mcp/tools/event.tools.js, src/mcp/tools/camera.tools.js, vision/ 및 yamnet/ 평가 기록. 영상과 소리는 개별 감지 후 이벤트로 통합하며 하나의 다중모달 모델이 공동 추론한다고 주장하지 않음. 소리 6종은 구현 범위이며 모두 높은 검출률을 보장하지 않음(비명·고함 교차검증 0). 운영 기기·배포 종단 간 동작은 본 문서 편집 중 실행하지 않음.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시연 예시이며 실제 실행 결과나 고정 지연시간을 보장하지 않음. 사용 흐름은 현재 웹 코드의 현관/거실 모드, 이벤트 목록, 자연어 채팅, 홈 브리핑, 현재 화면 촬영 기능 기준. 시연 전 로그인·네트워크·장치 하트비트·브라우저 알림 허용·구독과 해당 모드 반영을 확인. 설정 변경의 엣지 반영은 하트비트에 따르므로 확정된 초 단위 지연을 제시하지 않음. 현관 모드에서 방문과 초인종을 먼저 시연하고, 위험 알림은 거실 모드에서 별도 검증한 경보음으로 선택 시연. 노트북 경보음 교차검증 Recall이 0.333이므로 아무 음원으로 성공을 가정하지 않음. 방문자의 이름/가족 여부 등 신원 식별을 시연하지 않음. 새 데이터가 서버에 저장된 뒤 질의·브리핑 생성. 실패 시 실제 상태를 설명하며 사전 저장 기록을 사용하면 그 사실을 밝힘. 출처: web/src/screens/HomeScreen.jsx, web/src/lib/api.js, web/src/context/AppDataContext.jsx, src/mcp/tools/event.tools.js, src/mcp/tools/camera.tools.js.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600fb3f830465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d804b9f0f2487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7b138a9ca5492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85c13ed4c4424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dc8abfe67d4a4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66e4e8d102443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70AF804-756E-4073-B482-A7B14E2943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010410" y="4272421"/>
            <a:ext cx="16083280" cy="16335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791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91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91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91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91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91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91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91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91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91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5066977-6A6E-44A5-9D0B-07417596157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015615" y="6220143"/>
            <a:ext cx="14072870" cy="12565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4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E07869B-3EBC-4352-AD2A-42DB3FD0F1C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010410" y="4712229"/>
            <a:ext cx="16083280" cy="18848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92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92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92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92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92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92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92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92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92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92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B907423-1C72-423A-B6BC-BD96D7188B5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30856" y="879616"/>
            <a:ext cx="17842389" cy="13822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5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EDA6A5F-C97A-47C6-AE83-B78C416195C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130856" y="3141486"/>
            <a:ext cx="17842389" cy="70369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71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76952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71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79554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71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382157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71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884759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71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387362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71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889964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71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392567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71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895169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71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397772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71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D2C4AA0-063D-40F0-8BB1-04AF6E9BB5D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30856" y="879616"/>
            <a:ext cx="17842389" cy="13822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5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411C09E-6F49-4EA9-8E43-70A2C6C2B94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130856" y="3141486"/>
            <a:ext cx="8292941" cy="70369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4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76952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4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79554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4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382157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4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884759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4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387362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4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889964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4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392567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4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895169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4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397772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4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611D56E-4C7B-4621-B9CC-2147378F2C6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0680303" y="3141486"/>
            <a:ext cx="8292941" cy="70369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4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76952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4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79554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4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382157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4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884759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4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387362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4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889964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4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392567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4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895169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4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397772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4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37E3854-636F-419E-BF44-5ADDF8324C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30856" y="879616"/>
            <a:ext cx="17842389" cy="13822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5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E272638-BDE3-4EC9-8BD0-38FB239DA21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130856" y="3141486"/>
            <a:ext cx="8292941" cy="70369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71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76952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71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79554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71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382157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71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884759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71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387362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71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889964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71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392567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71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895169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71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397772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71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4cde3666a764fb0" /><Relationship Type="http://schemas.openxmlformats.org/officeDocument/2006/relationships/slideLayout" Target="/ppt/slideLayouts/slideLayout1.xml" Id="Rf3ef4dfe19284321" /><Relationship Type="http://schemas.openxmlformats.org/officeDocument/2006/relationships/slideLayout" Target="/ppt/slideLayouts/slideLayout2.xml" Id="R351f209243a646fc" /><Relationship Type="http://schemas.openxmlformats.org/officeDocument/2006/relationships/slideLayout" Target="/ppt/slideLayouts/slideLayout3.xml" Id="R78e9ee9fd07b4a03" /><Relationship Type="http://schemas.openxmlformats.org/officeDocument/2006/relationships/slideLayout" Target="/ppt/slideLayouts/slideLayout4.xml" Id="Rf1c3fc0e65cf444e" /><Relationship Type="http://schemas.openxmlformats.org/officeDocument/2006/relationships/slideLayout" Target="/ppt/slideLayouts/slideLayout5.xml" Id="Rd9b519cb3d9444d2" /><Relationship Type="http://schemas.openxmlformats.org/officeDocument/2006/relationships/slideLayout" Target="/ppt/slideLayouts/slideLayout6.xml" Id="Rf8af043609e7430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3ef4dfe19284321"/>
    <p:sldLayoutId xmlns:r="http://schemas.openxmlformats.org/officeDocument/2006/relationships" id="2147483650" r:id="R351f209243a646fc"/>
    <p:sldLayoutId xmlns:r="http://schemas.openxmlformats.org/officeDocument/2006/relationships" id="2147483651" r:id="R78e9ee9fd07b4a03"/>
    <p:sldLayoutId xmlns:r="http://schemas.openxmlformats.org/officeDocument/2006/relationships" id="2147483652" r:id="Rf1c3fc0e65cf444e"/>
    <p:sldLayoutId xmlns:r="http://schemas.openxmlformats.org/officeDocument/2006/relationships" id="2147483653" r:id="Rd9b519cb3d9444d2"/>
    <p:sldLayoutId xmlns:r="http://schemas.openxmlformats.org/officeDocument/2006/relationships" id="2147483654" r:id="Rf8af043609e7430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c01e37b8b94e88" /><Relationship Type="http://schemas.openxmlformats.org/officeDocument/2006/relationships/notesSlide" Target="/ppt/notesSlides/notesSlide1.xml" Id="Re88b22715ced4c6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9e4e9923834dc9" /><Relationship Type="http://schemas.openxmlformats.org/officeDocument/2006/relationships/notesSlide" Target="/ppt/notesSlides/notesSlide2.xml" Id="R71ec6e2012a043e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36abbd75e441b7" /><Relationship Type="http://schemas.openxmlformats.org/officeDocument/2006/relationships/notesSlide" Target="/ppt/notesSlides/notesSlide3.xml" Id="R9ab44ac9c2a5411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520CF0-7E6E-4BC3-8DCC-6FF3834F0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762250"/>
            <a:ext cx="1390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3233A"/>
                </a:solidFill>
              </a:defRPr>
            </a:defPPr>
            <a:lvl1pPr>
              <a:defRPr sz="2250" b="0">
                <a:solidFill>
                  <a:srgbClr val="13233A"/>
                </a:solidFill>
              </a:defRPr>
            </a:lvl1pPr>
            <a:lvl2pPr>
              <a:defRPr sz="2250" b="0">
                <a:solidFill>
                  <a:srgbClr val="13233A"/>
                </a:solidFill>
              </a:defRPr>
            </a:lvl2pPr>
            <a:lvl3pPr>
              <a:defRPr sz="2250" b="0">
                <a:solidFill>
                  <a:srgbClr val="13233A"/>
                </a:solidFill>
              </a:defRPr>
            </a:lvl3pPr>
            <a:lvl4pPr>
              <a:defRPr sz="2250" b="0">
                <a:solidFill>
                  <a:srgbClr val="13233A"/>
                </a:solidFill>
              </a:defRPr>
            </a:lvl4pPr>
            <a:lvl5pPr>
              <a:defRPr sz="2250" b="0">
                <a:solidFill>
                  <a:srgbClr val="13233A"/>
                </a:solidFill>
              </a:defRPr>
            </a:lvl5pPr>
            <a:lvl6pPr>
              <a:defRPr sz="2250" b="0">
                <a:solidFill>
                  <a:srgbClr val="13233A"/>
                </a:solidFill>
              </a:defRPr>
            </a:lvl6pPr>
            <a:lvl7pPr>
              <a:defRPr sz="2250" b="0">
                <a:solidFill>
                  <a:srgbClr val="13233A"/>
                </a:solidFill>
              </a:defRPr>
            </a:lvl7pPr>
            <a:lvl8pPr>
              <a:defRPr sz="2250" b="0">
                <a:solidFill>
                  <a:srgbClr val="13233A"/>
                </a:solidFill>
              </a:defRPr>
            </a:lvl8pPr>
            <a:lvl9pPr>
              <a:defRPr sz="2250" b="0">
                <a:solidFill>
                  <a:srgbClr val="13233A"/>
                </a:solidFill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3233A"/>
                </a:solidFill>
              </a:defRPr>
            </a:pPr>
            <a:r>
              <a:rPr sz="2250" b="0">
                <a:solidFill>
                  <a:srgbClr val="13233A"/>
                </a:solidFill>
              </a:rPr>
              <a:t>Pi 마이크 24클립 · 6개 소리 분류 · ESC-50 2,000클립으로 오경보 점검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CC172F-3299-4434-9C38-F0894F3D6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448050"/>
            <a:ext cx="1381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200" b="1">
                <a:solidFill>
                  <a:srgbClr val="1D7C74"/>
                </a:solidFill>
              </a:defRPr>
            </a:defPPr>
            <a:lvl1pPr>
              <a:defRPr sz="4200" b="1">
                <a:solidFill>
                  <a:srgbClr val="1D7C74"/>
                </a:solidFill>
              </a:defRPr>
            </a:lvl1pPr>
            <a:lvl2pPr>
              <a:defRPr sz="4200" b="1">
                <a:solidFill>
                  <a:srgbClr val="1D7C74"/>
                </a:solidFill>
              </a:defRPr>
            </a:lvl2pPr>
            <a:lvl3pPr>
              <a:defRPr sz="4200" b="1">
                <a:solidFill>
                  <a:srgbClr val="1D7C74"/>
                </a:solidFill>
              </a:defRPr>
            </a:lvl3pPr>
            <a:lvl4pPr>
              <a:defRPr sz="4200" b="1">
                <a:solidFill>
                  <a:srgbClr val="1D7C74"/>
                </a:solidFill>
              </a:defRPr>
            </a:lvl4pPr>
            <a:lvl5pPr>
              <a:defRPr sz="4200" b="1">
                <a:solidFill>
                  <a:srgbClr val="1D7C74"/>
                </a:solidFill>
              </a:defRPr>
            </a:lvl5pPr>
            <a:lvl6pPr>
              <a:defRPr sz="4200" b="1">
                <a:solidFill>
                  <a:srgbClr val="1D7C74"/>
                </a:solidFill>
              </a:defRPr>
            </a:lvl6pPr>
            <a:lvl7pPr>
              <a:defRPr sz="4200" b="1">
                <a:solidFill>
                  <a:srgbClr val="1D7C74"/>
                </a:solidFill>
              </a:defRPr>
            </a:lvl7pPr>
            <a:lvl8pPr>
              <a:defRPr sz="4200" b="1">
                <a:solidFill>
                  <a:srgbClr val="1D7C74"/>
                </a:solidFill>
              </a:defRPr>
            </a:lvl8pPr>
            <a:lvl9pPr>
              <a:defRPr sz="4200" b="1">
                <a:solidFill>
                  <a:srgbClr val="1D7C74"/>
                </a:solidFill>
              </a:defRPr>
            </a:lvl9pPr>
          </a:lstStyle>
          <a:p xmlns:a="http://schemas.openxmlformats.org/drawingml/2006/main">
            <a:pPr>
              <a:defRPr sz="4200" b="1">
                <a:solidFill>
                  <a:srgbClr val="1D7C74"/>
                </a:solidFill>
              </a:defRPr>
            </a:pPr>
            <a:r>
              <a:rPr sz="4200" b="1">
                <a:solidFill>
                  <a:srgbClr val="1D7C74"/>
                </a:solidFill>
              </a:rPr>
              <a:t>평균 F1   0.510  →  0.610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77A133-CBF3-4D31-BD38-FB0E5C890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267200"/>
            <a:ext cx="1409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3233A"/>
                </a:solidFill>
              </a:defRPr>
            </a:defPPr>
            <a:lvl1pPr>
              <a:defRPr sz="2100" b="0">
                <a:solidFill>
                  <a:srgbClr val="13233A"/>
                </a:solidFill>
              </a:defRPr>
            </a:lvl1pPr>
            <a:lvl2pPr>
              <a:defRPr sz="2100" b="0">
                <a:solidFill>
                  <a:srgbClr val="13233A"/>
                </a:solidFill>
              </a:defRPr>
            </a:lvl2pPr>
            <a:lvl3pPr>
              <a:defRPr sz="2100" b="0">
                <a:solidFill>
                  <a:srgbClr val="13233A"/>
                </a:solidFill>
              </a:defRPr>
            </a:lvl3pPr>
            <a:lvl4pPr>
              <a:defRPr sz="2100" b="0">
                <a:solidFill>
                  <a:srgbClr val="13233A"/>
                </a:solidFill>
              </a:defRPr>
            </a:lvl4pPr>
            <a:lvl5pPr>
              <a:defRPr sz="2100" b="0">
                <a:solidFill>
                  <a:srgbClr val="13233A"/>
                </a:solidFill>
              </a:defRPr>
            </a:lvl5pPr>
            <a:lvl6pPr>
              <a:defRPr sz="2100" b="0">
                <a:solidFill>
                  <a:srgbClr val="13233A"/>
                </a:solidFill>
              </a:defRPr>
            </a:lvl6pPr>
            <a:lvl7pPr>
              <a:defRPr sz="2100" b="0">
                <a:solidFill>
                  <a:srgbClr val="13233A"/>
                </a:solidFill>
              </a:defRPr>
            </a:lvl7pPr>
            <a:lvl8pPr>
              <a:defRPr sz="2100" b="0">
                <a:solidFill>
                  <a:srgbClr val="13233A"/>
                </a:solidFill>
              </a:defRPr>
            </a:lvl8pPr>
            <a:lvl9pPr>
              <a:defRPr sz="2100" b="0">
                <a:solidFill>
                  <a:srgbClr val="13233A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3233A"/>
                </a:solidFill>
              </a:defRPr>
            </a:pPr>
            <a:r>
              <a:rPr sz="2100" b="0">
                <a:solidFill>
                  <a:srgbClr val="13233A"/>
                </a:solidFill>
              </a:rPr>
              <a:t>기존 설정과 음원 단위 교차검증 비교 · Precision·Recall은 교차검증 기준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609497-2F2C-428F-8D04-02D58D4650CA}"/>
              </a:ext>
            </a:extLst>
          </p:cNvPr>
          <p:cNvGraphicFramePr/>
          <p:nvPr/>
        </p:nvGraphicFramePr>
        <p:xfrm>
          <a:off xmlns:a="http://schemas.openxmlformats.org/drawingml/2006/main" x="3790950" y="5000625"/>
          <a:ext xmlns:a="http://schemas.openxmlformats.org/drawingml/2006/main" cx="139065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95750"/>
                <a:gridCol w="2476500"/>
                <a:gridCol w="2190750"/>
                <a:gridCol w="2476500"/>
                <a:gridCol w="2667000"/>
              </a:tblGrid>
              <a:tr h="530679">
                <a:tc>
                  <a:txBody>
                    <a:bodyPr/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</a:rPr>
                        <a:t>소리 종류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8C2B5"/>
                      </a:solidFill>
                    </a:lnL>
                    <a:lnR w="9525">
                      <a:solidFill>
                        <a:srgbClr val="C8C2B5"/>
                      </a:solidFill>
                    </a:lnR>
                    <a:lnT w="9525">
                      <a:solidFill>
                        <a:srgbClr val="C8C2B5"/>
                      </a:solidFill>
                    </a:lnT>
                    <a:lnB w="9525">
                      <a:solidFill>
                        <a:srgbClr val="C8C2B5"/>
                      </a:solidFill>
                    </a:lnB>
                    <a:solidFill>
                      <a:srgbClr val="1323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</a:rPr>
                        <a:t>Precision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C2B5"/>
                      </a:solidFill>
                    </a:lnR>
                    <a:lnT w="9525">
                      <a:solidFill>
                        <a:srgbClr val="C8C2B5"/>
                      </a:solidFill>
                    </a:lnT>
                    <a:lnB w="9525">
                      <a:solidFill>
                        <a:srgbClr val="C8C2B5"/>
                      </a:solidFill>
                    </a:lnB>
                    <a:solidFill>
                      <a:srgbClr val="1323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</a:rPr>
                        <a:t>Recall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C2B5"/>
                      </a:solidFill>
                    </a:lnR>
                    <a:lnT w="9525">
                      <a:solidFill>
                        <a:srgbClr val="C8C2B5"/>
                      </a:solidFill>
                    </a:lnT>
                    <a:lnB w="9525">
                      <a:solidFill>
                        <a:srgbClr val="C8C2B5"/>
                      </a:solidFill>
                    </a:lnB>
                    <a:solidFill>
                      <a:srgbClr val="1323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</a:rPr>
                        <a:t>F1 기존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C2B5"/>
                      </a:solidFill>
                    </a:lnR>
                    <a:lnT w="9525">
                      <a:solidFill>
                        <a:srgbClr val="C8C2B5"/>
                      </a:solidFill>
                    </a:lnT>
                    <a:lnB w="9525">
                      <a:solidFill>
                        <a:srgbClr val="C8C2B5"/>
                      </a:solidFill>
                    </a:lnB>
                    <a:solidFill>
                      <a:srgbClr val="1323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</a:rPr>
                        <a:t>F1 교차검증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C2B5"/>
                      </a:solidFill>
                    </a:lnR>
                    <a:lnT w="9525">
                      <a:solidFill>
                        <a:srgbClr val="C8C2B5"/>
                      </a:solidFill>
                    </a:lnT>
                    <a:lnB w="9525">
                      <a:solidFill>
                        <a:srgbClr val="C8C2B5"/>
                      </a:solidFill>
                    </a:lnB>
                    <a:solidFill>
                      <a:srgbClr val="13233A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3233A"/>
                          </a:solidFill>
                        </a:rPr>
                        <a:t>경보음·사이렌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8C2B5"/>
                      </a:solidFill>
                    </a:lnL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3233A"/>
                          </a:solidFill>
                        </a:rPr>
                        <a:t>0.500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3233A"/>
                          </a:solidFill>
                        </a:rPr>
                        <a:t>0.333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3233A"/>
                          </a:solidFill>
                        </a:rPr>
                        <a:t>0.400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1">
                          <a:solidFill>
                            <a:srgbClr val="13233A"/>
                          </a:solidFill>
                        </a:rPr>
                        <a:t>0.400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E3F0EE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3233A"/>
                          </a:solidFill>
                        </a:rPr>
                        <a:t>유리 파손·충격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8C2B5"/>
                      </a:solidFill>
                    </a:lnL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3233A"/>
                          </a:solidFill>
                        </a:rPr>
                        <a:t>1.000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3233A"/>
                          </a:solidFill>
                        </a:rPr>
                        <a:t>0.667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3233A"/>
                          </a:solidFill>
                        </a:rPr>
                        <a:t>0.500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1">
                          <a:solidFill>
                            <a:srgbClr val="13233A"/>
                          </a:solidFill>
                        </a:rPr>
                        <a:t>0.800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E3F0EE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3233A"/>
                          </a:solidFill>
                        </a:rPr>
                        <a:t>아기 울음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8C2B5"/>
                      </a:solidFill>
                    </a:lnL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3233A"/>
                          </a:solidFill>
                        </a:rPr>
                        <a:t>0.750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3233A"/>
                          </a:solidFill>
                        </a:rPr>
                        <a:t>1.000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3233A"/>
                          </a:solidFill>
                        </a:rPr>
                        <a:t>0.750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1">
                          <a:solidFill>
                            <a:srgbClr val="13233A"/>
                          </a:solidFill>
                        </a:rPr>
                        <a:t>0.857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E3F0EE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B83A26"/>
                          </a:solidFill>
                        </a:rPr>
                        <a:t>비명·고함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8C2B5"/>
                      </a:solidFill>
                    </a:lnL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B83A26"/>
                          </a:solidFill>
                        </a:rPr>
                        <a:t>0.000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B83A26"/>
                          </a:solidFill>
                        </a:rPr>
                        <a:t>0.000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B83A26"/>
                          </a:solidFill>
                        </a:rPr>
                        <a:t>0.000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1">
                          <a:solidFill>
                            <a:srgbClr val="B83A26"/>
                          </a:solidFill>
                        </a:rPr>
                        <a:t>0.000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E3F0EE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3233A"/>
                          </a:solidFill>
                        </a:rPr>
                        <a:t>초인종·노크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8C2B5"/>
                      </a:solidFill>
                    </a:lnL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3233A"/>
                          </a:solidFill>
                        </a:rPr>
                        <a:t>0.750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3233A"/>
                          </a:solidFill>
                        </a:rPr>
                        <a:t>0.500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3233A"/>
                          </a:solidFill>
                        </a:rPr>
                        <a:t>0.500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1">
                          <a:solidFill>
                            <a:srgbClr val="13233A"/>
                          </a:solidFill>
                        </a:rPr>
                        <a:t>0.600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E3F0EE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3233A"/>
                          </a:solidFill>
                        </a:rPr>
                        <a:t>반려동물 소리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8C2B5"/>
                      </a:solidFill>
                    </a:lnL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3233A"/>
                          </a:solidFill>
                        </a:rPr>
                        <a:t>1.000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3233A"/>
                          </a:solidFill>
                        </a:rPr>
                        <a:t>1.000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3233A"/>
                          </a:solidFill>
                        </a:rPr>
                        <a:t>0.909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1">
                          <a:solidFill>
                            <a:srgbClr val="13233A"/>
                          </a:solidFill>
                        </a:rPr>
                        <a:t>1.000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E3F0EE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E64B19-EEEE-4B63-914D-0318B0538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8915400"/>
            <a:ext cx="14192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3233A"/>
                </a:solidFill>
              </a:defRPr>
            </a:defPPr>
            <a:lvl1pPr>
              <a:defRPr sz="1800" b="0">
                <a:solidFill>
                  <a:srgbClr val="13233A"/>
                </a:solidFill>
              </a:defRPr>
            </a:lvl1pPr>
            <a:lvl2pPr>
              <a:defRPr sz="1800" b="0">
                <a:solidFill>
                  <a:srgbClr val="13233A"/>
                </a:solidFill>
              </a:defRPr>
            </a:lvl2pPr>
            <a:lvl3pPr>
              <a:defRPr sz="1800" b="0">
                <a:solidFill>
                  <a:srgbClr val="13233A"/>
                </a:solidFill>
              </a:defRPr>
            </a:lvl3pPr>
            <a:lvl4pPr>
              <a:defRPr sz="1800" b="0">
                <a:solidFill>
                  <a:srgbClr val="13233A"/>
                </a:solidFill>
              </a:defRPr>
            </a:lvl4pPr>
            <a:lvl5pPr>
              <a:defRPr sz="1800" b="0">
                <a:solidFill>
                  <a:srgbClr val="13233A"/>
                </a:solidFill>
              </a:defRPr>
            </a:lvl5pPr>
            <a:lvl6pPr>
              <a:defRPr sz="1800" b="0">
                <a:solidFill>
                  <a:srgbClr val="13233A"/>
                </a:solidFill>
              </a:defRPr>
            </a:lvl6pPr>
            <a:lvl7pPr>
              <a:defRPr sz="1800" b="0">
                <a:solidFill>
                  <a:srgbClr val="13233A"/>
                </a:solidFill>
              </a:defRPr>
            </a:lvl7pPr>
            <a:lvl8pPr>
              <a:defRPr sz="1800" b="0">
                <a:solidFill>
                  <a:srgbClr val="13233A"/>
                </a:solidFill>
              </a:defRPr>
            </a:lvl8pPr>
            <a:lvl9pPr>
              <a:defRPr sz="1800" b="0">
                <a:solidFill>
                  <a:srgbClr val="13233A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3233A"/>
                </a:solidFill>
              </a:defRPr>
            </a:pPr>
            <a:r>
              <a:rPr sz="1800" b="0">
                <a:solidFill>
                  <a:srgbClr val="13233A"/>
                </a:solidFill>
              </a:rPr>
              <a:t>Precision(정밀도): 감지한 것 중 정답 비율   Recall(재현율): 실제 소리 중 감지한 비율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3640D9-6C78-4CAA-A35F-6A72645E5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9410700"/>
            <a:ext cx="14192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B83A26"/>
                </a:solidFill>
              </a:defRPr>
            </a:defPPr>
            <a:lvl1pPr>
              <a:defRPr sz="1800" b="0">
                <a:solidFill>
                  <a:srgbClr val="B83A26"/>
                </a:solidFill>
              </a:defRPr>
            </a:lvl1pPr>
            <a:lvl2pPr>
              <a:defRPr sz="1800" b="0">
                <a:solidFill>
                  <a:srgbClr val="B83A26"/>
                </a:solidFill>
              </a:defRPr>
            </a:lvl2pPr>
            <a:lvl3pPr>
              <a:defRPr sz="1800" b="0">
                <a:solidFill>
                  <a:srgbClr val="B83A26"/>
                </a:solidFill>
              </a:defRPr>
            </a:lvl3pPr>
            <a:lvl4pPr>
              <a:defRPr sz="1800" b="0">
                <a:solidFill>
                  <a:srgbClr val="B83A26"/>
                </a:solidFill>
              </a:defRPr>
            </a:lvl4pPr>
            <a:lvl5pPr>
              <a:defRPr sz="1800" b="0">
                <a:solidFill>
                  <a:srgbClr val="B83A26"/>
                </a:solidFill>
              </a:defRPr>
            </a:lvl5pPr>
            <a:lvl6pPr>
              <a:defRPr sz="1800" b="0">
                <a:solidFill>
                  <a:srgbClr val="B83A26"/>
                </a:solidFill>
              </a:defRPr>
            </a:lvl6pPr>
            <a:lvl7pPr>
              <a:defRPr sz="1800" b="0">
                <a:solidFill>
                  <a:srgbClr val="B83A26"/>
                </a:solidFill>
              </a:defRPr>
            </a:lvl7pPr>
            <a:lvl8pPr>
              <a:defRPr sz="1800" b="0">
                <a:solidFill>
                  <a:srgbClr val="B83A26"/>
                </a:solidFill>
              </a:defRPr>
            </a:lvl8pPr>
            <a:lvl9pPr>
              <a:defRPr sz="1800" b="0">
                <a:solidFill>
                  <a:srgbClr val="B83A26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B83A26"/>
                </a:solidFill>
              </a:defRPr>
            </a:pPr>
            <a:r>
              <a:rPr sz="1800" b="0">
                <a:solidFill>
                  <a:srgbClr val="B83A26"/>
                </a:solidFill>
              </a:rPr>
              <a:t>F1: 정밀도·재현율의 조화평균(0~1)   한계: 동일 세션 24클립, 새 음원·날짜로 검증 필요</a:t>
            </a:r>
          </a:p>
        </p:txBody>
      </p:sp>
    </p:spTree>
    <p:extLst>
      <p:ext uri="{BB962C8B-B14F-4D97-AF65-F5344CB8AC3E}">
        <p14:creationId xmlns:p14="http://schemas.microsoft.com/office/powerpoint/2010/main" val="24642128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C56961-A6A0-426C-893B-200FAFCF3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809875"/>
            <a:ext cx="1400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D7C74"/>
                </a:solidFill>
              </a:defRPr>
            </a:defPPr>
            <a:lvl1pPr>
              <a:defRPr sz="3300" b="1">
                <a:solidFill>
                  <a:srgbClr val="1D7C74"/>
                </a:solidFill>
              </a:defRPr>
            </a:lvl1pPr>
            <a:lvl2pPr>
              <a:defRPr sz="3300" b="1">
                <a:solidFill>
                  <a:srgbClr val="1D7C74"/>
                </a:solidFill>
              </a:defRPr>
            </a:lvl2pPr>
            <a:lvl3pPr>
              <a:defRPr sz="3300" b="1">
                <a:solidFill>
                  <a:srgbClr val="1D7C74"/>
                </a:solidFill>
              </a:defRPr>
            </a:lvl3pPr>
            <a:lvl4pPr>
              <a:defRPr sz="3300" b="1">
                <a:solidFill>
                  <a:srgbClr val="1D7C74"/>
                </a:solidFill>
              </a:defRPr>
            </a:lvl4pPr>
            <a:lvl5pPr>
              <a:defRPr sz="3300" b="1">
                <a:solidFill>
                  <a:srgbClr val="1D7C74"/>
                </a:solidFill>
              </a:defRPr>
            </a:lvl5pPr>
            <a:lvl6pPr>
              <a:defRPr sz="3300" b="1">
                <a:solidFill>
                  <a:srgbClr val="1D7C74"/>
                </a:solidFill>
              </a:defRPr>
            </a:lvl6pPr>
            <a:lvl7pPr>
              <a:defRPr sz="3300" b="1">
                <a:solidFill>
                  <a:srgbClr val="1D7C74"/>
                </a:solidFill>
              </a:defRPr>
            </a:lvl7pPr>
            <a:lvl8pPr>
              <a:defRPr sz="3300" b="1">
                <a:solidFill>
                  <a:srgbClr val="1D7C74"/>
                </a:solidFill>
              </a:defRPr>
            </a:lvl8pPr>
            <a:lvl9pPr>
              <a:defRPr sz="3300" b="1">
                <a:solidFill>
                  <a:srgbClr val="1D7C74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D7C74"/>
                </a:solidFill>
              </a:defRPr>
            </a:pPr>
            <a:r>
              <a:rPr sz="3300" b="1">
                <a:solidFill>
                  <a:srgbClr val="1D7C74"/>
                </a:solidFill>
              </a:rPr>
              <a:t>질문으로 기록을 찾고, 하루의 변화를 브리핑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B8A4E6-AAFF-4487-ADB0-6F5612174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505200"/>
            <a:ext cx="1400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3233A"/>
                </a:solidFill>
              </a:defRPr>
            </a:defPPr>
            <a:lvl1pPr>
              <a:defRPr sz="2250" b="0">
                <a:solidFill>
                  <a:srgbClr val="13233A"/>
                </a:solidFill>
              </a:defRPr>
            </a:lvl1pPr>
            <a:lvl2pPr>
              <a:defRPr sz="2250" b="0">
                <a:solidFill>
                  <a:srgbClr val="13233A"/>
                </a:solidFill>
              </a:defRPr>
            </a:lvl2pPr>
            <a:lvl3pPr>
              <a:defRPr sz="2250" b="0">
                <a:solidFill>
                  <a:srgbClr val="13233A"/>
                </a:solidFill>
              </a:defRPr>
            </a:lvl3pPr>
            <a:lvl4pPr>
              <a:defRPr sz="2250" b="0">
                <a:solidFill>
                  <a:srgbClr val="13233A"/>
                </a:solidFill>
              </a:defRPr>
            </a:lvl4pPr>
            <a:lvl5pPr>
              <a:defRPr sz="2250" b="0">
                <a:solidFill>
                  <a:srgbClr val="13233A"/>
                </a:solidFill>
              </a:defRPr>
            </a:lvl5pPr>
            <a:lvl6pPr>
              <a:defRPr sz="2250" b="0">
                <a:solidFill>
                  <a:srgbClr val="13233A"/>
                </a:solidFill>
              </a:defRPr>
            </a:lvl6pPr>
            <a:lvl7pPr>
              <a:defRPr sz="2250" b="0">
                <a:solidFill>
                  <a:srgbClr val="13233A"/>
                </a:solidFill>
              </a:defRPr>
            </a:lvl7pPr>
            <a:lvl8pPr>
              <a:defRPr sz="2250" b="0">
                <a:solidFill>
                  <a:srgbClr val="13233A"/>
                </a:solidFill>
              </a:defRPr>
            </a:lvl8pPr>
            <a:lvl9pPr>
              <a:defRPr sz="2250" b="0">
                <a:solidFill>
                  <a:srgbClr val="13233A"/>
                </a:solidFill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3233A"/>
                </a:solidFill>
              </a:defRPr>
            </a:pPr>
            <a:r>
              <a:rPr sz="2250" b="0">
                <a:solidFill>
                  <a:srgbClr val="13233A"/>
                </a:solidFill>
              </a:rPr>
              <a:t>감지 기능에 대화형 조회와 요약을 연결한 보호자용 서비스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1D3BB2-AE20-4216-804E-FADC2B8A5289}"/>
              </a:ext>
            </a:extLst>
          </p:cNvPr>
          <p:cNvGraphicFramePr/>
          <p:nvPr/>
        </p:nvGraphicFramePr>
        <p:xfrm>
          <a:off xmlns:a="http://schemas.openxmlformats.org/drawingml/2006/main" x="3790950" y="4171950"/>
          <a:ext xmlns:a="http://schemas.openxmlformats.org/drawingml/2006/main" cx="13906500" cy="4572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3333750"/>
                <a:gridCol w="3143250"/>
                <a:gridCol w="5334000"/>
              </a:tblGrid>
              <a:tr h="76200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</a:rPr>
                        <a:t>비교 항목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8C2B5"/>
                      </a:solidFill>
                    </a:lnL>
                    <a:lnR w="9525">
                      <a:solidFill>
                        <a:srgbClr val="C8C2B5"/>
                      </a:solidFill>
                    </a:lnR>
                    <a:lnT w="9525">
                      <a:solidFill>
                        <a:srgbClr val="C8C2B5"/>
                      </a:solidFill>
                    </a:lnT>
                    <a:lnB w="9525">
                      <a:solidFill>
                        <a:srgbClr val="C8C2B5"/>
                      </a:solidFill>
                    </a:lnB>
                    <a:solidFill>
                      <a:srgbClr val="1323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</a:rPr>
                        <a:t>Tapo C225 V2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C2B5"/>
                      </a:solidFill>
                    </a:lnR>
                    <a:lnT w="9525">
                      <a:solidFill>
                        <a:srgbClr val="C8C2B5"/>
                      </a:solidFill>
                    </a:lnT>
                    <a:lnB w="9525">
                      <a:solidFill>
                        <a:srgbClr val="C8C2B5"/>
                      </a:solidFill>
                    </a:lnB>
                    <a:solidFill>
                      <a:srgbClr val="1323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</a:rPr>
                        <a:t>eufy E220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C2B5"/>
                      </a:solidFill>
                    </a:lnR>
                    <a:lnT w="9525">
                      <a:solidFill>
                        <a:srgbClr val="C8C2B5"/>
                      </a:solidFill>
                    </a:lnT>
                    <a:lnB w="9525">
                      <a:solidFill>
                        <a:srgbClr val="C8C2B5"/>
                      </a:solidFill>
                    </a:lnB>
                    <a:solidFill>
                      <a:srgbClr val="1323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</a:rPr>
                        <a:t>HOME-TALK 개발 앱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C2B5"/>
                      </a:solidFill>
                    </a:lnR>
                    <a:lnT w="9525">
                      <a:solidFill>
                        <a:srgbClr val="C8C2B5"/>
                      </a:solidFill>
                    </a:lnT>
                    <a:lnB w="9525">
                      <a:solidFill>
                        <a:srgbClr val="C8C2B5"/>
                      </a:solidFill>
                    </a:lnB>
                    <a:solidFill>
                      <a:srgbClr val="13233A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3233A"/>
                          </a:solidFill>
                        </a:rPr>
                        <a:t>영상 이벤트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8C2B5"/>
                      </a:solidFill>
                    </a:lnL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3233A"/>
                          </a:solidFill>
                        </a:rPr>
                        <a:t>사람·차량·반려동물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3233A"/>
                          </a:solidFill>
                        </a:rPr>
                        <a:t>사람·반려동물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3233A"/>
                          </a:solidFill>
                        </a:rPr>
                        <a:t>방문·택배·낙상/의심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E3F0EE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3233A"/>
                          </a:solidFill>
                        </a:rPr>
                        <a:t>소리 이벤트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8C2B5"/>
                      </a:solidFill>
                    </a:lnL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3233A"/>
                          </a:solidFill>
                        </a:rPr>
                        <a:t>울음·짖음·야옹</a:t>
                      </a:r>
                    </a:p>
                    <a:p>
                      <a:r>
                        <a:rPr sz="2025" b="0">
                          <a:solidFill>
                            <a:srgbClr val="13233A"/>
                          </a:solidFill>
                        </a:rPr>
                        <a:t>유리 파손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3233A"/>
                          </a:solidFill>
                        </a:rPr>
                        <a:t>소리·울음 감지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3233A"/>
                          </a:solidFill>
                        </a:rPr>
                        <a:t>생활·위험 소리 6종</a:t>
                      </a:r>
                    </a:p>
                    <a:p>
                      <a:r>
                        <a:rPr sz="2025" b="1">
                          <a:solidFill>
                            <a:srgbClr val="13233A"/>
                          </a:solidFill>
                        </a:rPr>
                        <a:t>카메라 기록과 함께 조회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E3F0EE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3233A"/>
                          </a:solidFill>
                        </a:rPr>
                        <a:t>알림·기록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8C2B5"/>
                      </a:solidFill>
                    </a:lnL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3233A"/>
                          </a:solidFill>
                        </a:rPr>
                        <a:t>감지 알림</a:t>
                      </a:r>
                    </a:p>
                    <a:p>
                      <a:r>
                        <a:rPr sz="2025" b="0">
                          <a:solidFill>
                            <a:srgbClr val="13233A"/>
                          </a:solidFill>
                        </a:rPr>
                        <a:t>로컬·클라우드 저장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3233A"/>
                          </a:solidFill>
                        </a:rPr>
                        <a:t>감지 알림</a:t>
                      </a:r>
                    </a:p>
                    <a:p>
                      <a:r>
                        <a:rPr sz="2025" b="0">
                          <a:solidFill>
                            <a:srgbClr val="13233A"/>
                          </a:solidFill>
                        </a:rPr>
                        <a:t>로컬·클라우드 저장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3233A"/>
                          </a:solidFill>
                        </a:rPr>
                        <a:t>위험 등급별 알림</a:t>
                      </a:r>
                    </a:p>
                    <a:p>
                      <a:r>
                        <a:rPr sz="2025" b="1">
                          <a:solidFill>
                            <a:srgbClr val="13233A"/>
                          </a:solidFill>
                        </a:rPr>
                        <a:t>이벤트·첨부 기록 조회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E3F0EE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3233A"/>
                          </a:solidFill>
                        </a:rPr>
                        <a:t>기록에 자연어 질문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8C2B5"/>
                      </a:solidFill>
                    </a:lnL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3233A"/>
                          </a:solidFill>
                        </a:rPr>
                        <a:t>공식 자료 미기재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3233A"/>
                          </a:solidFill>
                        </a:rPr>
                        <a:t>공식 자료 미기재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3233A"/>
                          </a:solidFill>
                        </a:rPr>
                        <a:t>“오늘 방문 기록 알려줘”</a:t>
                      </a:r>
                    </a:p>
                    <a:p>
                      <a:r>
                        <a:rPr sz="2025" b="1">
                          <a:solidFill>
                            <a:srgbClr val="13233A"/>
                          </a:solidFill>
                        </a:rPr>
                        <a:t>질문에 맞는 기록 조회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E3F0EE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3233A"/>
                          </a:solidFill>
                        </a:rPr>
                        <a:t>하루 자연어 브리핑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8C2B5"/>
                      </a:solidFill>
                    </a:lnL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3233A"/>
                          </a:solidFill>
                        </a:rPr>
                        <a:t>공식 자료 미기재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3233A"/>
                          </a:solidFill>
                        </a:rPr>
                        <a:t>공식 자료 미기재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3233A"/>
                          </a:solidFill>
                        </a:rPr>
                        <a:t>하루 이벤트 요약 생성</a:t>
                      </a:r>
                    </a:p>
                    <a:p>
                      <a:r>
                        <a:rPr sz="2025" b="1">
                          <a:solidFill>
                            <a:srgbClr val="13233A"/>
                          </a:solidFill>
                        </a:rPr>
                        <a:t>앱에서 확인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E3F0EE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066C4D-5EB9-414B-97CB-DC8C3AD92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9010650"/>
            <a:ext cx="1419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3233A"/>
                </a:solidFill>
              </a:defRPr>
            </a:defPPr>
            <a:lvl1pPr>
              <a:defRPr sz="1725" b="0">
                <a:solidFill>
                  <a:srgbClr val="13233A"/>
                </a:solidFill>
              </a:defRPr>
            </a:lvl1pPr>
            <a:lvl2pPr>
              <a:defRPr sz="1725" b="0">
                <a:solidFill>
                  <a:srgbClr val="13233A"/>
                </a:solidFill>
              </a:defRPr>
            </a:lvl2pPr>
            <a:lvl3pPr>
              <a:defRPr sz="1725" b="0">
                <a:solidFill>
                  <a:srgbClr val="13233A"/>
                </a:solidFill>
              </a:defRPr>
            </a:lvl3pPr>
            <a:lvl4pPr>
              <a:defRPr sz="1725" b="0">
                <a:solidFill>
                  <a:srgbClr val="13233A"/>
                </a:solidFill>
              </a:defRPr>
            </a:lvl4pPr>
            <a:lvl5pPr>
              <a:defRPr sz="1725" b="0">
                <a:solidFill>
                  <a:srgbClr val="13233A"/>
                </a:solidFill>
              </a:defRPr>
            </a:lvl5pPr>
            <a:lvl6pPr>
              <a:defRPr sz="1725" b="0">
                <a:solidFill>
                  <a:srgbClr val="13233A"/>
                </a:solidFill>
              </a:defRPr>
            </a:lvl6pPr>
            <a:lvl7pPr>
              <a:defRPr sz="1725" b="0">
                <a:solidFill>
                  <a:srgbClr val="13233A"/>
                </a:solidFill>
              </a:defRPr>
            </a:lvl7pPr>
            <a:lvl8pPr>
              <a:defRPr sz="1725" b="0">
                <a:solidFill>
                  <a:srgbClr val="13233A"/>
                </a:solidFill>
              </a:defRPr>
            </a:lvl8pPr>
            <a:lvl9pPr>
              <a:defRPr sz="1725" b="0">
                <a:solidFill>
                  <a:srgbClr val="13233A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3233A"/>
                </a:solidFill>
              </a:defRPr>
            </a:pPr>
            <a:r>
              <a:rPr sz="1725" b="0">
                <a:solidFill>
                  <a:srgbClr val="13233A"/>
                </a:solidFill>
              </a:rPr>
              <a:t>공식 제품 자료 기준(2026.10.26) · 미기재는 미지원 단정이 아님 · 지역·버전에 따라 다를 수 있음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E889D9-0557-45C0-B24F-6D79D9D74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9477375"/>
            <a:ext cx="1419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B83A26"/>
                </a:solidFill>
              </a:defRPr>
            </a:defPPr>
            <a:lvl1pPr>
              <a:defRPr sz="1725" b="0">
                <a:solidFill>
                  <a:srgbClr val="B83A26"/>
                </a:solidFill>
              </a:defRPr>
            </a:lvl1pPr>
            <a:lvl2pPr>
              <a:defRPr sz="1725" b="0">
                <a:solidFill>
                  <a:srgbClr val="B83A26"/>
                </a:solidFill>
              </a:defRPr>
            </a:lvl2pPr>
            <a:lvl3pPr>
              <a:defRPr sz="1725" b="0">
                <a:solidFill>
                  <a:srgbClr val="B83A26"/>
                </a:solidFill>
              </a:defRPr>
            </a:lvl3pPr>
            <a:lvl4pPr>
              <a:defRPr sz="1725" b="0">
                <a:solidFill>
                  <a:srgbClr val="B83A26"/>
                </a:solidFill>
              </a:defRPr>
            </a:lvl4pPr>
            <a:lvl5pPr>
              <a:defRPr sz="1725" b="0">
                <a:solidFill>
                  <a:srgbClr val="B83A26"/>
                </a:solidFill>
              </a:defRPr>
            </a:lvl5pPr>
            <a:lvl6pPr>
              <a:defRPr sz="1725" b="0">
                <a:solidFill>
                  <a:srgbClr val="B83A26"/>
                </a:solidFill>
              </a:defRPr>
            </a:lvl6pPr>
            <a:lvl7pPr>
              <a:defRPr sz="1725" b="0">
                <a:solidFill>
                  <a:srgbClr val="B83A26"/>
                </a:solidFill>
              </a:defRPr>
            </a:lvl7pPr>
            <a:lvl8pPr>
              <a:defRPr sz="1725" b="0">
                <a:solidFill>
                  <a:srgbClr val="B83A26"/>
                </a:solidFill>
              </a:defRPr>
            </a:lvl8pPr>
            <a:lvl9pPr>
              <a:defRPr sz="1725" b="0">
                <a:solidFill>
                  <a:srgbClr val="B83A26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B83A26"/>
                </a:solidFill>
              </a:defRPr>
            </a:pPr>
            <a:r>
              <a:rPr sz="1725" b="0">
                <a:solidFill>
                  <a:srgbClr val="B83A26"/>
                </a:solidFill>
              </a:rPr>
              <a:t>HOME-TALK은 개발 프로토타입이며, 상용 제품과 감지 성능을 직접 비교한 결과는 아님</a:t>
            </a:r>
          </a:p>
        </p:txBody>
      </p:sp>
    </p:spTree>
    <p:extLst>
      <p:ext uri="{BB962C8B-B14F-4D97-AF65-F5344CB8AC3E}">
        <p14:creationId xmlns:p14="http://schemas.microsoft.com/office/powerpoint/2010/main" val="208033739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7A7CB4-EE4C-4E51-8379-0812FA17C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809875"/>
            <a:ext cx="1400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D7C74"/>
                </a:solidFill>
              </a:defRPr>
            </a:defPPr>
            <a:lvl1pPr>
              <a:defRPr sz="3150" b="1">
                <a:solidFill>
                  <a:srgbClr val="1D7C74"/>
                </a:solidFill>
              </a:defRPr>
            </a:lvl1pPr>
            <a:lvl2pPr>
              <a:defRPr sz="3150" b="1">
                <a:solidFill>
                  <a:srgbClr val="1D7C74"/>
                </a:solidFill>
              </a:defRPr>
            </a:lvl2pPr>
            <a:lvl3pPr>
              <a:defRPr sz="3150" b="1">
                <a:solidFill>
                  <a:srgbClr val="1D7C74"/>
                </a:solidFill>
              </a:defRPr>
            </a:lvl3pPr>
            <a:lvl4pPr>
              <a:defRPr sz="3150" b="1">
                <a:solidFill>
                  <a:srgbClr val="1D7C74"/>
                </a:solidFill>
              </a:defRPr>
            </a:lvl4pPr>
            <a:lvl5pPr>
              <a:defRPr sz="3150" b="1">
                <a:solidFill>
                  <a:srgbClr val="1D7C74"/>
                </a:solidFill>
              </a:defRPr>
            </a:lvl5pPr>
            <a:lvl6pPr>
              <a:defRPr sz="3150" b="1">
                <a:solidFill>
                  <a:srgbClr val="1D7C74"/>
                </a:solidFill>
              </a:defRPr>
            </a:lvl6pPr>
            <a:lvl7pPr>
              <a:defRPr sz="3150" b="1">
                <a:solidFill>
                  <a:srgbClr val="1D7C74"/>
                </a:solidFill>
              </a:defRPr>
            </a:lvl7pPr>
            <a:lvl8pPr>
              <a:defRPr sz="3150" b="1">
                <a:solidFill>
                  <a:srgbClr val="1D7C74"/>
                </a:solidFill>
              </a:defRPr>
            </a:lvl8pPr>
            <a:lvl9pPr>
              <a:defRPr sz="3150" b="1">
                <a:solidFill>
                  <a:srgbClr val="1D7C74"/>
                </a:solidFill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D7C74"/>
                </a:solidFill>
              </a:defRPr>
            </a:pPr>
            <a:r>
              <a:rPr sz="3150" b="1">
                <a:solidFill>
                  <a:srgbClr val="1D7C74"/>
                </a:solidFill>
              </a:rPr>
              <a:t>보호자가 외출한 동안, 집의 변화를 확인하는 과정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89322D-50A0-4896-BCB2-9F2C29E61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505200"/>
            <a:ext cx="1400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3233A"/>
                </a:solidFill>
              </a:defRPr>
            </a:defPPr>
            <a:lvl1pPr>
              <a:defRPr sz="2250" b="0">
                <a:solidFill>
                  <a:srgbClr val="13233A"/>
                </a:solidFill>
              </a:defRPr>
            </a:lvl1pPr>
            <a:lvl2pPr>
              <a:defRPr sz="2250" b="0">
                <a:solidFill>
                  <a:srgbClr val="13233A"/>
                </a:solidFill>
              </a:defRPr>
            </a:lvl2pPr>
            <a:lvl3pPr>
              <a:defRPr sz="2250" b="0">
                <a:solidFill>
                  <a:srgbClr val="13233A"/>
                </a:solidFill>
              </a:defRPr>
            </a:lvl3pPr>
            <a:lvl4pPr>
              <a:defRPr sz="2250" b="0">
                <a:solidFill>
                  <a:srgbClr val="13233A"/>
                </a:solidFill>
              </a:defRPr>
            </a:lvl4pPr>
            <a:lvl5pPr>
              <a:defRPr sz="2250" b="0">
                <a:solidFill>
                  <a:srgbClr val="13233A"/>
                </a:solidFill>
              </a:defRPr>
            </a:lvl5pPr>
            <a:lvl6pPr>
              <a:defRPr sz="2250" b="0">
                <a:solidFill>
                  <a:srgbClr val="13233A"/>
                </a:solidFill>
              </a:defRPr>
            </a:lvl6pPr>
            <a:lvl7pPr>
              <a:defRPr sz="2250" b="0">
                <a:solidFill>
                  <a:srgbClr val="13233A"/>
                </a:solidFill>
              </a:defRPr>
            </a:lvl7pPr>
            <a:lvl8pPr>
              <a:defRPr sz="2250" b="0">
                <a:solidFill>
                  <a:srgbClr val="13233A"/>
                </a:solidFill>
              </a:defRPr>
            </a:lvl8pPr>
            <a:lvl9pPr>
              <a:defRPr sz="2250" b="0">
                <a:solidFill>
                  <a:srgbClr val="13233A"/>
                </a:solidFill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3233A"/>
                </a:solidFill>
              </a:defRPr>
            </a:pPr>
            <a:r>
              <a:rPr sz="2250" b="0">
                <a:solidFill>
                  <a:srgbClr val="13233A"/>
                </a:solidFill>
              </a:rPr>
              <a:t>현관 모드의 방문·초인종 이벤트로 감지부터 브리핑까지 시연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BB0403-937A-4E74-8B84-4AC74AA1730E}"/>
              </a:ext>
            </a:extLst>
          </p:cNvPr>
          <p:cNvGraphicFramePr/>
          <p:nvPr/>
        </p:nvGraphicFramePr>
        <p:xfrm>
          <a:off xmlns:a="http://schemas.openxmlformats.org/drawingml/2006/main" x="3790950" y="4171950"/>
          <a:ext xmlns:a="http://schemas.openxmlformats.org/drawingml/2006/main" cx="13906500" cy="4572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5905500"/>
                <a:gridCol w="5810250"/>
              </a:tblGrid>
              <a:tr h="76200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</a:rPr>
                        <a:t>순서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8C2B5"/>
                      </a:solidFill>
                    </a:lnL>
                    <a:lnR w="9525">
                      <a:solidFill>
                        <a:srgbClr val="C8C2B5"/>
                      </a:solidFill>
                    </a:lnR>
                    <a:lnT w="9525">
                      <a:solidFill>
                        <a:srgbClr val="C8C2B5"/>
                      </a:solidFill>
                    </a:lnT>
                    <a:lnB w="9525">
                      <a:solidFill>
                        <a:srgbClr val="C8C2B5"/>
                      </a:solidFill>
                    </a:lnB>
                    <a:solidFill>
                      <a:srgbClr val="1323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</a:rPr>
                        <a:t>시연 행동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C2B5"/>
                      </a:solidFill>
                    </a:lnR>
                    <a:lnT w="9525">
                      <a:solidFill>
                        <a:srgbClr val="C8C2B5"/>
                      </a:solidFill>
                    </a:lnT>
                    <a:lnB w="9525">
                      <a:solidFill>
                        <a:srgbClr val="C8C2B5"/>
                      </a:solidFill>
                    </a:lnB>
                    <a:solidFill>
                      <a:srgbClr val="1323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</a:rPr>
                        <a:t>앱에서 확인할 내용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C2B5"/>
                      </a:solidFill>
                    </a:lnR>
                    <a:lnT w="9525">
                      <a:solidFill>
                        <a:srgbClr val="C8C2B5"/>
                      </a:solidFill>
                    </a:lnT>
                    <a:lnB w="9525">
                      <a:solidFill>
                        <a:srgbClr val="C8C2B5"/>
                      </a:solidFill>
                    </a:lnB>
                    <a:solidFill>
                      <a:srgbClr val="13233A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3233A"/>
                          </a:solidFill>
                        </a:rPr>
                        <a:t>01  준비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8C2B5"/>
                      </a:solidFill>
                    </a:lnL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3233A"/>
                          </a:solidFill>
                        </a:rPr>
                        <a:t>로그인 후 현관 모드 선택</a:t>
                      </a:r>
                    </a:p>
                    <a:p>
                      <a:r>
                        <a:rPr sz="2175" b="0">
                          <a:solidFill>
                            <a:srgbClr val="13233A"/>
                          </a:solidFill>
                        </a:rPr>
                        <a:t>카메라·마이크 연결 확인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3233A"/>
                          </a:solidFill>
                        </a:rPr>
                        <a:t>현관 모드와 기기 상태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FDFCF9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3233A"/>
                          </a:solidFill>
                        </a:rPr>
                        <a:t>02  이벤트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8C2B5"/>
                      </a:solidFill>
                    </a:lnL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3233A"/>
                          </a:solidFill>
                        </a:rPr>
                        <a:t>방문자가 지정 구역에 머무름</a:t>
                      </a:r>
                    </a:p>
                    <a:p>
                      <a:r>
                        <a:rPr sz="2175" b="0">
                          <a:solidFill>
                            <a:srgbClr val="13233A"/>
                          </a:solidFill>
                        </a:rPr>
                        <a:t>초인종 소리 재생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3233A"/>
                          </a:solidFill>
                        </a:rPr>
                        <a:t>방문·소리 이벤트가</a:t>
                      </a:r>
                    </a:p>
                    <a:p>
                      <a:r>
                        <a:rPr sz="2175" b="0">
                          <a:solidFill>
                            <a:srgbClr val="13233A"/>
                          </a:solidFill>
                        </a:rPr>
                        <a:t>기록에 추가되는 과정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F4F1EA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3233A"/>
                          </a:solidFill>
                        </a:rPr>
                        <a:t>03  기록 확인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8C2B5"/>
                      </a:solidFill>
                    </a:lnL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3233A"/>
                          </a:solidFill>
                        </a:rPr>
                        <a:t>이벤트 목록에서 해당 기록 선택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3233A"/>
                          </a:solidFill>
                        </a:rPr>
                        <a:t>시간·종류·연결된 첨부 확인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FDFCF9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3233A"/>
                          </a:solidFill>
                        </a:rPr>
                        <a:t>04  대화형 조회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8C2B5"/>
                      </a:solidFill>
                    </a:lnL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3233A"/>
                          </a:solidFill>
                        </a:rPr>
                        <a:t>“오늘 방문 기록 알려줘” 질문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3233A"/>
                          </a:solidFill>
                        </a:rPr>
                        <a:t>저장된 방문 기록을 바탕으로 답변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F4F1EA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3233A"/>
                          </a:solidFill>
                        </a:rPr>
                        <a:t>05  하루 요약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8C2B5"/>
                      </a:solidFill>
                    </a:lnL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3233A"/>
                          </a:solidFill>
                        </a:rPr>
                        <a:t>홈에서 브리핑 생성</a:t>
                      </a:r>
                    </a:p>
                    <a:p>
                      <a:r>
                        <a:rPr sz="2175" b="0">
                          <a:solidFill>
                            <a:srgbClr val="13233A"/>
                          </a:solidFill>
                        </a:rPr>
                        <a:t>현재 화면 보기 선택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3233A"/>
                          </a:solidFill>
                        </a:rPr>
                        <a:t>하루 요약과 현재 집 사진 확인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FDFCF9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07D349-5D72-4F81-87FB-D90DF9ED7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9020175"/>
            <a:ext cx="1419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3233A"/>
                </a:solidFill>
              </a:defRPr>
            </a:defPPr>
            <a:lvl1pPr>
              <a:defRPr sz="1800" b="0">
                <a:solidFill>
                  <a:srgbClr val="13233A"/>
                </a:solidFill>
              </a:defRPr>
            </a:lvl1pPr>
            <a:lvl2pPr>
              <a:defRPr sz="1800" b="0">
                <a:solidFill>
                  <a:srgbClr val="13233A"/>
                </a:solidFill>
              </a:defRPr>
            </a:lvl2pPr>
            <a:lvl3pPr>
              <a:defRPr sz="1800" b="0">
                <a:solidFill>
                  <a:srgbClr val="13233A"/>
                </a:solidFill>
              </a:defRPr>
            </a:lvl3pPr>
            <a:lvl4pPr>
              <a:defRPr sz="1800" b="0">
                <a:solidFill>
                  <a:srgbClr val="13233A"/>
                </a:solidFill>
              </a:defRPr>
            </a:lvl4pPr>
            <a:lvl5pPr>
              <a:defRPr sz="1800" b="0">
                <a:solidFill>
                  <a:srgbClr val="13233A"/>
                </a:solidFill>
              </a:defRPr>
            </a:lvl5pPr>
            <a:lvl6pPr>
              <a:defRPr sz="1800" b="0">
                <a:solidFill>
                  <a:srgbClr val="13233A"/>
                </a:solidFill>
              </a:defRPr>
            </a:lvl6pPr>
            <a:lvl7pPr>
              <a:defRPr sz="1800" b="0">
                <a:solidFill>
                  <a:srgbClr val="13233A"/>
                </a:solidFill>
              </a:defRPr>
            </a:lvl7pPr>
            <a:lvl8pPr>
              <a:defRPr sz="1800" b="0">
                <a:solidFill>
                  <a:srgbClr val="13233A"/>
                </a:solidFill>
              </a:defRPr>
            </a:lvl8pPr>
            <a:lvl9pPr>
              <a:defRPr sz="1800" b="0">
                <a:solidFill>
                  <a:srgbClr val="13233A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3233A"/>
                </a:solidFill>
              </a:defRPr>
            </a:pPr>
            <a:r>
              <a:rPr sz="1800" b="0">
                <a:solidFill>
                  <a:srgbClr val="13233A"/>
                </a:solidFill>
              </a:rPr>
              <a:t>위험 알림 예시: 검증한 경보음 재생 후 알림 확인(거실 모드·알림 권한 사전 설정)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7B0BC4-B08F-4A16-BE59-1755FF323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9505950"/>
            <a:ext cx="1419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B83A26"/>
                </a:solidFill>
              </a:defRPr>
            </a:defPPr>
            <a:lvl1pPr>
              <a:defRPr sz="1800" b="0">
                <a:solidFill>
                  <a:srgbClr val="B83A26"/>
                </a:solidFill>
              </a:defRPr>
            </a:lvl1pPr>
            <a:lvl2pPr>
              <a:defRPr sz="1800" b="0">
                <a:solidFill>
                  <a:srgbClr val="B83A26"/>
                </a:solidFill>
              </a:defRPr>
            </a:lvl2pPr>
            <a:lvl3pPr>
              <a:defRPr sz="1800" b="0">
                <a:solidFill>
                  <a:srgbClr val="B83A26"/>
                </a:solidFill>
              </a:defRPr>
            </a:lvl3pPr>
            <a:lvl4pPr>
              <a:defRPr sz="1800" b="0">
                <a:solidFill>
                  <a:srgbClr val="B83A26"/>
                </a:solidFill>
              </a:defRPr>
            </a:lvl4pPr>
            <a:lvl5pPr>
              <a:defRPr sz="1800" b="0">
                <a:solidFill>
                  <a:srgbClr val="B83A26"/>
                </a:solidFill>
              </a:defRPr>
            </a:lvl5pPr>
            <a:lvl6pPr>
              <a:defRPr sz="1800" b="0">
                <a:solidFill>
                  <a:srgbClr val="B83A26"/>
                </a:solidFill>
              </a:defRPr>
            </a:lvl6pPr>
            <a:lvl7pPr>
              <a:defRPr sz="1800" b="0">
                <a:solidFill>
                  <a:srgbClr val="B83A26"/>
                </a:solidFill>
              </a:defRPr>
            </a:lvl7pPr>
            <a:lvl8pPr>
              <a:defRPr sz="1800" b="0">
                <a:solidFill>
                  <a:srgbClr val="B83A26"/>
                </a:solidFill>
              </a:defRPr>
            </a:lvl8pPr>
            <a:lvl9pPr>
              <a:defRPr sz="1800" b="0">
                <a:solidFill>
                  <a:srgbClr val="B83A26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B83A26"/>
                </a:solidFill>
              </a:defRPr>
            </a:pPr>
            <a:r>
              <a:rPr sz="1800" b="0">
                <a:solidFill>
                  <a:srgbClr val="B83A26"/>
                </a:solidFill>
              </a:rPr>
              <a:t>모드 반영·이벤트 저장을 확인한 뒤 다음 단계 진행 · 사람의 신원 식별을 의미하지 않음</a:t>
            </a:r>
          </a:p>
        </p:txBody>
      </p:sp>
    </p:spTree>
    <p:extLst>
      <p:ext uri="{BB962C8B-B14F-4D97-AF65-F5344CB8AC3E}">
        <p14:creationId xmlns:p14="http://schemas.microsoft.com/office/powerpoint/2010/main" val="5033945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2026-10-26T00:28:13.8570000Z</dcterms:created>
  <dcterms:modified xsi:type="dcterms:W3CDTF">2026-10-26T00:28:13.8570000Z</dcterms:modified>
</coreProperties>
</file>